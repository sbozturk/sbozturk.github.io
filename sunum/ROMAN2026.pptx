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46"/>
    <p:restoredTop sz="94610"/>
  </p:normalViewPr>
  <p:slideViewPr>
    <p:cSldViewPr snapToGrid="0" snapToObjects="1">
      <p:cViewPr varScale="1">
        <p:scale>
          <a:sx n="226" d="100"/>
          <a:sy n="2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LLM-only (text)</c:v>
                </c:pt>
              </c:strCache>
            </c:strRef>
          </c:tx>
          <c:spPr>
            <a:solidFill>
              <a:srgbClr val="B0BEC8"/>
            </a:solidFill>
            <a:effectLst/>
          </c:spPr>
          <c:invertIfNegative val="0"/>
          <c:dLbls>
            <c:numFmt formatCode="0.0&quot;%&quot;" sourceLinked="0"/>
            <c:spPr>
              <a:noFill/>
              <a:ln>
                <a:noFill/>
              </a:ln>
              <a:effectLst/>
            </c:spPr>
            <c:txPr>
              <a:bodyPr/>
              <a:lstStyle/>
              <a:p>
                <a:pPr>
                  <a:defRPr sz="1200" b="0" i="0" u="none" strike="noStrike">
                    <a:solidFill>
                      <a:srgbClr val="0E1C2B"/>
                    </a:solidFill>
                    <a:latin typeface="Calibri"/>
                  </a:defRPr>
                </a:pPr>
                <a:endParaRPr lang="en-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Feasibility</c:v>
                </c:pt>
                <c:pt idx="1">
                  <c:v>Success</c:v>
                </c:pt>
                <c:pt idx="2">
                  <c:v>Replanning</c:v>
                </c:pt>
              </c:strCache>
            </c:strRef>
          </c:cat>
          <c:val>
            <c:numRef>
              <c:f>Sheet1!$B$2:$B$4</c:f>
              <c:numCache>
                <c:formatCode>General</c:formatCode>
                <c:ptCount val="3"/>
                <c:pt idx="0">
                  <c:v>8</c:v>
                </c:pt>
                <c:pt idx="1">
                  <c:v>12</c:v>
                </c:pt>
                <c:pt idx="2">
                  <c:v>17</c:v>
                </c:pt>
              </c:numCache>
            </c:numRef>
          </c:val>
          <c:extLst>
            <c:ext xmlns:c16="http://schemas.microsoft.com/office/drawing/2014/chart" uri="{C3380CC4-5D6E-409C-BE32-E72D297353CC}">
              <c16:uniqueId val="{00000000-B6E8-784B-A9E1-79EA7ED0AA91}"/>
            </c:ext>
          </c:extLst>
        </c:ser>
        <c:ser>
          <c:idx val="1"/>
          <c:order val="1"/>
          <c:tx>
            <c:strRef>
              <c:f>Sheet1!$C$1</c:f>
              <c:strCache>
                <c:ptCount val="1"/>
                <c:pt idx="0">
                  <c:v>Ontology-grounded</c:v>
                </c:pt>
              </c:strCache>
            </c:strRef>
          </c:tx>
          <c:spPr>
            <a:solidFill>
              <a:srgbClr val="1C7293"/>
            </a:solidFill>
            <a:effectLst/>
          </c:spPr>
          <c:invertIfNegative val="0"/>
          <c:dLbls>
            <c:numFmt formatCode="0.0&quot;%&quot;" sourceLinked="0"/>
            <c:spPr>
              <a:noFill/>
              <a:ln>
                <a:noFill/>
              </a:ln>
              <a:effectLst/>
            </c:spPr>
            <c:txPr>
              <a:bodyPr/>
              <a:lstStyle/>
              <a:p>
                <a:pPr>
                  <a:defRPr sz="1200" b="0" i="0" u="none" strike="noStrike">
                    <a:solidFill>
                      <a:srgbClr val="0E1C2B"/>
                    </a:solidFill>
                    <a:latin typeface="Calibri"/>
                  </a:defRPr>
                </a:pPr>
                <a:endParaRPr lang="en-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Feasibility</c:v>
                </c:pt>
                <c:pt idx="1">
                  <c:v>Success</c:v>
                </c:pt>
                <c:pt idx="2">
                  <c:v>Replanning</c:v>
                </c:pt>
              </c:strCache>
            </c:strRef>
          </c:cat>
          <c:val>
            <c:numRef>
              <c:f>Sheet1!$C$2:$C$4</c:f>
              <c:numCache>
                <c:formatCode>General</c:formatCode>
                <c:ptCount val="3"/>
                <c:pt idx="0">
                  <c:v>44</c:v>
                </c:pt>
                <c:pt idx="1">
                  <c:v>64</c:v>
                </c:pt>
                <c:pt idx="2">
                  <c:v>73.3</c:v>
                </c:pt>
              </c:numCache>
            </c:numRef>
          </c:val>
          <c:extLst>
            <c:ext xmlns:c16="http://schemas.microsoft.com/office/drawing/2014/chart" uri="{C3380CC4-5D6E-409C-BE32-E72D297353CC}">
              <c16:uniqueId val="{00000001-B6E8-784B-A9E1-79EA7ED0AA91}"/>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5DEE4"/>
            </a:solidFill>
            <a:prstDash val="solid"/>
            <a:round/>
          </a:ln>
        </c:spPr>
        <c:txPr>
          <a:bodyPr/>
          <a:lstStyle/>
          <a:p>
            <a:pPr>
              <a:defRPr sz="1300" b="1" i="0" u="none" strike="noStrike">
                <a:solidFill>
                  <a:srgbClr val="0E1C2B"/>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12700" cap="flat">
              <a:solidFill>
                <a:srgbClr val="E4EAEE"/>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5A6B7A"/>
                </a:solidFill>
                <a:latin typeface="Calibri"/>
              </a:defRPr>
            </a:pPr>
            <a:endParaRPr lang="en-US"/>
          </a:p>
        </c:txPr>
        <c:crossAx val="2094734554"/>
        <c:crosses val="autoZero"/>
        <c:crossBetween val="between"/>
        <c:majorUnit val="25"/>
      </c:valAx>
      <c:spPr>
        <a:noFill/>
        <a:ln>
          <a:noFill/>
        </a:ln>
        <a:effectLst/>
      </c:spPr>
    </c:plotArea>
    <c:legend>
      <c:legendPos val="t"/>
      <c:overlay val="0"/>
      <c:txPr>
        <a:bodyPr/>
        <a:lstStyle/>
        <a:p>
          <a:pPr>
            <a:defRPr sz="1200">
              <a:solidFill>
                <a:srgbClr val="0E1C2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LLM-only (text)</c:v>
                </c:pt>
              </c:strCache>
            </c:strRef>
          </c:tx>
          <c:spPr>
            <a:solidFill>
              <a:srgbClr val="B0BEC8"/>
            </a:solidFill>
            <a:effectLst/>
          </c:spPr>
          <c:invertIfNegative val="0"/>
          <c:dLbls>
            <c:numFmt formatCode="0&quot;%&quot;" sourceLinked="0"/>
            <c:spPr>
              <a:noFill/>
              <a:ln>
                <a:noFill/>
              </a:ln>
              <a:effectLst/>
            </c:spPr>
            <c:txPr>
              <a:bodyPr/>
              <a:lstStyle/>
              <a:p>
                <a:pPr>
                  <a:defRPr sz="1200" b="0" i="0" u="none" strike="noStrike">
                    <a:solidFill>
                      <a:srgbClr val="0E1C2B"/>
                    </a:solidFill>
                    <a:latin typeface="Calibri"/>
                  </a:defRPr>
                </a:pPr>
                <a:endParaRPr lang="en-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Object moved</c:v>
                </c:pt>
                <c:pt idx="1">
                  <c:v>Grasp failure</c:v>
                </c:pt>
                <c:pt idx="2">
                  <c:v>Blocked object</c:v>
                </c:pt>
                <c:pt idx="3">
                  <c:v>Clear table (nominal)</c:v>
                </c:pt>
              </c:strCache>
            </c:strRef>
          </c:cat>
          <c:val>
            <c:numRef>
              <c:f>Sheet1!$B$2:$B$5</c:f>
              <c:numCache>
                <c:formatCode>General</c:formatCode>
                <c:ptCount val="4"/>
                <c:pt idx="0">
                  <c:v>20</c:v>
                </c:pt>
                <c:pt idx="1">
                  <c:v>20</c:v>
                </c:pt>
                <c:pt idx="2">
                  <c:v>40</c:v>
                </c:pt>
                <c:pt idx="3">
                  <c:v>40</c:v>
                </c:pt>
              </c:numCache>
            </c:numRef>
          </c:val>
          <c:extLst>
            <c:ext xmlns:c16="http://schemas.microsoft.com/office/drawing/2014/chart" uri="{C3380CC4-5D6E-409C-BE32-E72D297353CC}">
              <c16:uniqueId val="{00000000-B1B0-864F-8B20-B23C3B587373}"/>
            </c:ext>
          </c:extLst>
        </c:ser>
        <c:ser>
          <c:idx val="1"/>
          <c:order val="1"/>
          <c:tx>
            <c:strRef>
              <c:f>Sheet1!$C$1</c:f>
              <c:strCache>
                <c:ptCount val="1"/>
                <c:pt idx="0">
                  <c:v>Ontology-grounded</c:v>
                </c:pt>
              </c:strCache>
            </c:strRef>
          </c:tx>
          <c:spPr>
            <a:solidFill>
              <a:srgbClr val="1C7293"/>
            </a:solidFill>
            <a:effectLst/>
          </c:spPr>
          <c:invertIfNegative val="0"/>
          <c:dLbls>
            <c:numFmt formatCode="0&quot;%&quot;" sourceLinked="0"/>
            <c:spPr>
              <a:noFill/>
              <a:ln>
                <a:noFill/>
              </a:ln>
              <a:effectLst/>
            </c:spPr>
            <c:txPr>
              <a:bodyPr/>
              <a:lstStyle/>
              <a:p>
                <a:pPr>
                  <a:defRPr sz="1200" b="0" i="0" u="none" strike="noStrike">
                    <a:solidFill>
                      <a:srgbClr val="0E1C2B"/>
                    </a:solidFill>
                    <a:latin typeface="Calibri"/>
                  </a:defRPr>
                </a:pPr>
                <a:endParaRPr lang="en-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Object moved</c:v>
                </c:pt>
                <c:pt idx="1">
                  <c:v>Grasp failure</c:v>
                </c:pt>
                <c:pt idx="2">
                  <c:v>Blocked object</c:v>
                </c:pt>
                <c:pt idx="3">
                  <c:v>Clear table (nominal)</c:v>
                </c:pt>
              </c:strCache>
            </c:strRef>
          </c:cat>
          <c:val>
            <c:numRef>
              <c:f>Sheet1!$C$2:$C$5</c:f>
              <c:numCache>
                <c:formatCode>General</c:formatCode>
                <c:ptCount val="4"/>
                <c:pt idx="0">
                  <c:v>60</c:v>
                </c:pt>
                <c:pt idx="1">
                  <c:v>80</c:v>
                </c:pt>
                <c:pt idx="2">
                  <c:v>80</c:v>
                </c:pt>
                <c:pt idx="3">
                  <c:v>100</c:v>
                </c:pt>
              </c:numCache>
            </c:numRef>
          </c:val>
          <c:extLst>
            <c:ext xmlns:c16="http://schemas.microsoft.com/office/drawing/2014/chart" uri="{C3380CC4-5D6E-409C-BE32-E72D297353CC}">
              <c16:uniqueId val="{00000001-B1B0-864F-8B20-B23C3B587373}"/>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D5DEE4"/>
            </a:solidFill>
            <a:prstDash val="solid"/>
            <a:round/>
          </a:ln>
        </c:spPr>
        <c:txPr>
          <a:bodyPr/>
          <a:lstStyle/>
          <a:p>
            <a:pPr>
              <a:defRPr sz="1250" b="1" i="0" u="none" strike="noStrike">
                <a:solidFill>
                  <a:srgbClr val="0E1C2B"/>
                </a:solidFill>
                <a:latin typeface="Calibri"/>
              </a:defRPr>
            </a:pPr>
            <a:endParaRPr lang="en-US"/>
          </a:p>
        </c:txPr>
        <c:crossAx val="2094734552"/>
        <c:crosses val="autoZero"/>
        <c:auto val="1"/>
        <c:lblAlgn val="ctr"/>
        <c:lblOffset val="100"/>
        <c:noMultiLvlLbl val="1"/>
      </c:catAx>
      <c:valAx>
        <c:axId val="2094734552"/>
        <c:scaling>
          <c:orientation val="minMax"/>
          <c:max val="110"/>
          <c:min val="0"/>
        </c:scaling>
        <c:delete val="0"/>
        <c:axPos val="b"/>
        <c:majorGridlines>
          <c:spPr>
            <a:ln w="12700" cap="flat">
              <a:solidFill>
                <a:srgbClr val="E4EAEE"/>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100" b="0" i="0" u="none" strike="noStrike">
                <a:solidFill>
                  <a:srgbClr val="5A6B7A"/>
                </a:solidFill>
                <a:latin typeface="Calibri"/>
              </a:defRPr>
            </a:pPr>
            <a:endParaRPr lang="en-US"/>
          </a:p>
        </c:txPr>
        <c:crossAx val="2094734554"/>
        <c:crosses val="autoZero"/>
        <c:crossBetween val="between"/>
        <c:majorUnit val="25"/>
      </c:valAx>
      <c:spPr>
        <a:noFill/>
        <a:ln>
          <a:noFill/>
        </a:ln>
        <a:effectLst/>
      </c:spPr>
    </c:plotArea>
    <c:legend>
      <c:legendPos val="t"/>
      <c:overlay val="0"/>
      <c:txPr>
        <a:bodyPr/>
        <a:lstStyle/>
        <a:p>
          <a:pPr>
            <a:defRPr sz="1200">
              <a:solidFill>
                <a:srgbClr val="0E1C2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521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[ 0:00 - 0:40 ]   TITLE
Good morning. My name is Satuk Bugrahan Ozturk, from Ataturk University. This is joint work with Ozyegin University and the University of Osaka.
Today I will talk about task planning for a robot that clears a table.
Our claim is short. When a language model planner is tied to a symbolic world model, and that model is updated during execution, both plan quality and failure recovery improve substantially.
Let me start with why that is harder than it sounds.
(Adjust the name to whoever presents.)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[ 0:40 - 1:35 ]   MOTIVATION
Robots that work in shared spaces need a language interface. A user should be able to say: clear the table. And the robot should turn that into a sequence of meaningful actions.
The hard part is not the sentence. It is everything the sentence does not say.
The robot needs to know which objects are on the table right now. It needs to know what is stacked on what, because support relations decide what can be picked first. And it needs to know whether the scene still matches the instruction, because the world keeps moving while the plan is executed.
So a plan that reads well as text can be infeasible the moment the arm starts moving.
(Slow down here. Everything later depends on this gap.)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[ 1:35 - 2:25 ]   PROBLEM
Let me be concrete. Three things break a text-only planner.
First, the scene description is static. The world state enters the prompt once, and then it sits outside the execution loop. By the second action it is already stale.
Second, there is no feasibility check. Nothing prevents the model from proposing an action that violates the physical preconditions of the scene.
Third, there is no recovery path. In manipulation, one failed pick invalidates everything after it.
Scene graphs and knowledge graphs do improve grounding. But that representation usually stays only loosely connected to execution.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[ 2:25 - 3:15 ]   RELATED WORK
Related work falls into three groups.
The first uses language models as task planners, translating an instruction into a symbolic action sequence.
The second improves grounding through perception, mostly with scene graphs as the intermediate representation.
The third combines language models with explicit knowledge, such as ontologies and knowledge graphs.
The closest work is Li and colleagues, who use object ontology knowledge for service-robot planning. Our difference is when the knowledge is used. We query the grounded state again every time a skill fails, so relations and target assignments are reused beyond the first planning request.
(If you are behind schedule: skip the three groups, start from Li and colleagues.)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[ 3:15 - 4:00 ]   CONTRIBUTION
Our contribution has three parts.
First, an ontology-grounded state. Planning runs over a state built from ontology queries and simulator observations, never over free text alone.
Second, symbolic validation with bounded repair. Every plan is checked before a single motor command is issued.
Third, failure-triggered replanning. When a skill fails, the state is reconstructed and only the remaining task is replanned.
The contribution is the integration of the three. We evaluate the complete configuration against a text-only baseline.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[ 4:00 - 4:55 ]   ARCHITECTURE
This is the architecture. Please follow it from left to right.
On the left are the grounding sources: the instruction, the ontology world model, and the simulator observations. These are merged into a single grounded state, S t.
In the middle, the language model produces a symbolic plan from that state, and a validator accepts or rejects it.
On the right, each validated action is mapped to a predefined manipulation skill and executed.
The important part is the dashed line at the bottom. After every action, and especially after every failure, the state is rebuilt and fed back into planning.
(Pause two seconds when the slide appears, before you speak.)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[ 4:55 - 5:45 ]   ONTOLOGY WORLD MODEL
Let me start with the world model.
The ontology stores object categories, poses, spatial relations, and target assignments. The simulator gives us geometry. The ontology gives us the semantics we need to interpret that geometry in relation to the task.
Support relations are expressed with onTopOf assertions. That is what separates removable tableware, supporting surfaces, and objects that are temporarily blocked.
Each category is linked to a default storage target, so the planner does not treat all objects the same way.
And it is not read-only. After every action, pose and support relations are rewritten. This ontology was defined manually for this domain.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[ 5:45 - 6:35 ]   GROUNDED STATE
Now the state itself.
At any time step it has four elements. O t are the task-relevant objects. R t are the symbolic relations among them. H t says whether the robot is holding something. L t lists the available targets.
For every object we keep a record: category, position, orientation, symbolic location, support relation, and a boolean for whether something blocks it.
One practical point. We never send the complete ontology to the model. A larger ontology would need task-conditioned queries, so that only relevant knowledge enters the prompt.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[ 6:35 - 7:25 ]   PLANNING AND VALIDATION
The planner receives the instruction, the grounded state, and the permitted actions: pick, place, and move home. It returns JSON.
In the grounded configuration it returns ordered object-target pairs, which we expand into pick and place actions.
Before anything executes, the plan is validated. We check that it is not empty and uses permitted actions only, that every object and target is known, and that the holding state is respected: no pick while already holding, no place with an empty hand.
Invalid plans go back to the model with the errors, at most twice.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[ 7:25 - 8:15 ]   CLOSED-LOOP EXECUTION
Execution is closed-loop. After each action we evaluate the outcome and update the world model.
Every skill returns a success flag and an error description. A pick fails if the object is unavailable, if the robot already holds something, if an onTopOf relation blocks it, or if grasp verification fails. A place fails on an empty hand, the wrong object, an unknown target, or a failed placement check.
On failure we reconstruct the state and replan only the remaining task.
One point to note: no extra prompt tells the model that something went wrong. It finds out through state reconstruction.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[ 8:15 - 9:05 ]   EXPERIMENTAL SETUP
Now the evaluation.
We use a Kuka LBR iiwa arm in PyBullet, with a dining table, a storage area, and four objects: a plate, a cup, a fork, and an apple container.
The model is Qwen two point five, three billion parameters, served locally through Ollama.
That small model is a deliberate choice. The weaker the planner, the more the world representation has to carry, so the effect of grounding is easier to see.
Twelve scenarios, five repetitions, two methods: one hundred and twenty trials. The instruction was fixed throughout.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[ 9:05 - 9:35 ]   WHAT IS COMPARED
We compare two configurations.
The baseline receives a simplified textual summary and generates the complete action sequence. The proposed method receives table-related objects with their ontology-derived targets.
Everything else is shared: the same model, validator, skills, and replanning mechanism.
We measure feasibility, task success, recovery on disturbed trials, and planning time.
(Fast slide. Do not read the formulas.)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[ 9:35 - 10:30 ]   AGGREGATE RESULTS
These are the aggregate results.
Feasibility of the initial plan goes from eight percent to forty-four percent.
Task success goes from twelve to sixty-four percent.
And recovery on disturbed trials goes from seventeen to seventy-three percent. That is the largest gap, and it is the one the design aims at.
Planning time drops from sixty-five and a half seconds to fifteen point two. I want to be careful here. The two configurations produce different output formats, so this should be read as a property of the pipeline, not as an isolated effect of ontology access.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[ 10:30 - 11:20 ]   PER-SCENARIO RESULTS
Here is the same comparison per scenario, five trials each.
Under nominal conditions the proposed method clears the table in all five trials, against forty percent for the baseline.
When an object is blocked, eighty against forty. Support relations tell the planner what has to come off first.
Under grasp failure, eighty against twenty. Reconstructing the state lets the system retry, instead of continuing a plan that is already dead.
When an object is moved, sixty against twenty. This is the hardest case, because the planner has to reinterpret a scene that changed spatially.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[ 11:20 - 12:00 ]   DISCUSSION AND LIMITATIONS
So what do these numbers show, and what do they not.
They support two things. The coupling between planning and world state produces the improvement, not the ontology as a static knowledge source. And recovery happens without any extra cue to the model.
The limitations are clear. Feasibility is still forty-four percent: better than the baseline, but not solved. Spatially changed scenes remain the hardest case. And we cover a single task family with a fixed instruction.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[ 12:00 - 12:35 ]   CONCLUSION
To summarise. We plan from a grounded representation rather than from text, we validate before execution, and we revise that representation during execution.
Against a text-only baseline, this produced more feasible plans, higher task success, and clearly better recovery under disturbances.
Next: richer interaction settings, more household tasks, and a comparison between VLM-based grounding and the symbolic grounding used here.
Thank you. I am happy to take questions.
(Advance to the final slide, then stop talking.)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BACKUP. Every answer is written out. Read it, then stop - do not keep adding.
Q: Why such a small model, Qwen two point five with three billion parameters?
A: It runs locally and keeps the loop fast, and it makes the effect of grounding easier to measure. The pipeline is model-agnostic, and a stronger backend would most likely lift both configurations.
Q: Isn't the baseline too weak? Eight percent feasibility seems very low.
A: Both configurations use the same validator, the same skills and the same replanning mechanism. The baseline is weak precisely because a textual summary gives the planner no reliable way to respect support relations or the holding state.
Q: Why is feasibility still only forty-four percent?
A: Most of the remaining failures come from grasp verification, and from scenes whose spatial context changed after planning. That is exactly the case we flag as remaining work.
Q: Doesn't the ontology simply encode the answer?
A: The ontology encodes types, poses, support relations, and default storage targets. The ordering of the actions, the feasibility reasoning, and the recovery are still produced by the planner.
Q: How does this scale beyond table clearing?
A: The ontology was defined manually for this domain, so extending it requires new classes, relations, targets and constraints. For a larger ontology we would need task-conditioned queries, so that only the relevant knowledge enters the prompt.
Q: Why is the proposed method faster?
A: Because the two configurations produce different output formats. That is why we report the gain at the pipeline level, and not as an isolated effect of ontology access.
Q: Have you run this on a real robot?
A: Not yet. The evaluation is in simulation, in PyBullet. The skill interface is designed so that the symbolic layer stays unchanged when the skills are replaced.
Q: How were the disturbances injected?
A: After the initial plan had already been generated, during execution. Differences between the ontology and the simulator are recorded, but they do not trigger replanning by themselves. Only a skill-reported failure does.
Q: Did you test ambiguous instructions?
A: Not systematically. The conditions I reported today use a fixed instruction, and handling ambiguity is future work.
If you do not know the answer: "That is a good question, and we have not tested that. I would be happy to discuss it afterwards."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2B"/>
        </a:solidFill>
        <a:effectLst/>
      </p:bgPr>
    </p:bg>
    <p:spTree>
      <p:nvGrpSpPr>
        <p:cNvPr id="1" name=""/>
        <p:cNvGrpSpPr/>
        <p:nvPr/>
      </p:nvGrpSpPr>
      <p:grpSpPr>
        <a:xfrm>
          <a:off x="0" y="0"/>
          <a:ext cx="0" cy="0"/>
          <a:chOff x="0" y="0"/>
          <a:chExt cx="0" cy="0"/>
        </a:xfrm>
      </p:grpSpPr>
      <p:sp>
        <p:nvSpPr>
          <p:cNvPr id="2" name="Shape 0"/>
          <p:cNvSpPr/>
          <p:nvPr/>
        </p:nvSpPr>
        <p:spPr>
          <a:xfrm>
            <a:off x="9052560" y="-1920240"/>
            <a:ext cx="5669280" cy="5669280"/>
          </a:xfrm>
          <a:prstGeom prst="ellipse">
            <a:avLst/>
          </a:prstGeom>
          <a:solidFill>
            <a:srgbClr val="1C7293">
              <a:alpha val="22000"/>
            </a:srgbClr>
          </a:solidFill>
          <a:ln w="12700">
            <a:solidFill>
              <a:srgbClr val="1C7293">
                <a:alpha val="0"/>
              </a:srgbClr>
            </a:solidFill>
            <a:prstDash val="solid"/>
          </a:ln>
        </p:spPr>
      </p:sp>
      <p:sp>
        <p:nvSpPr>
          <p:cNvPr id="3" name="Shape 1"/>
          <p:cNvSpPr/>
          <p:nvPr/>
        </p:nvSpPr>
        <p:spPr>
          <a:xfrm>
            <a:off x="10607040" y="4023360"/>
            <a:ext cx="3108960" cy="3108960"/>
          </a:xfrm>
          <a:prstGeom prst="ellipse">
            <a:avLst/>
          </a:prstGeom>
          <a:solidFill>
            <a:srgbClr val="F2A65A">
              <a:alpha val="14000"/>
            </a:srgbClr>
          </a:solidFill>
          <a:ln w="12700">
            <a:solidFill>
              <a:srgbClr val="F2A65A">
                <a:alpha val="0"/>
              </a:srgbClr>
            </a:solidFill>
            <a:prstDash val="solid"/>
          </a:ln>
        </p:spPr>
      </p:sp>
      <p:sp>
        <p:nvSpPr>
          <p:cNvPr id="4" name="Text 2"/>
          <p:cNvSpPr/>
          <p:nvPr/>
        </p:nvSpPr>
        <p:spPr>
          <a:xfrm>
            <a:off x="658368" y="1024128"/>
            <a:ext cx="10872216" cy="274320"/>
          </a:xfrm>
          <a:prstGeom prst="rect">
            <a:avLst/>
          </a:prstGeom>
          <a:noFill/>
          <a:ln/>
        </p:spPr>
        <p:txBody>
          <a:bodyPr wrap="square" lIns="0" tIns="0" rIns="0" bIns="0" rtlCol="0" anchor="ctr"/>
          <a:lstStyle/>
          <a:p>
            <a:pPr marL="0" indent="0">
              <a:buNone/>
            </a:pPr>
            <a:r>
              <a:rPr lang="en-US" sz="1200" b="1" kern="0" spc="250" dirty="0">
                <a:solidFill>
                  <a:srgbClr val="F2A65A"/>
                </a:solidFill>
                <a:latin typeface="Calibri" pitchFamily="34" charset="0"/>
                <a:ea typeface="Calibri" pitchFamily="34" charset="-122"/>
                <a:cs typeface="Calibri" pitchFamily="34" charset="-120"/>
              </a:rPr>
              <a:t>IEEE RO-MAN 2026  ·  ORAL PRESENTATION</a:t>
            </a:r>
            <a:endParaRPr lang="en-US" sz="1200" dirty="0"/>
          </a:p>
        </p:txBody>
      </p:sp>
      <p:sp>
        <p:nvSpPr>
          <p:cNvPr id="5" name="Text 3"/>
          <p:cNvSpPr/>
          <p:nvPr/>
        </p:nvSpPr>
        <p:spPr>
          <a:xfrm>
            <a:off x="658368" y="1517904"/>
            <a:ext cx="10058400" cy="1737360"/>
          </a:xfrm>
          <a:prstGeom prst="rect">
            <a:avLst/>
          </a:prstGeom>
          <a:noFill/>
          <a:ln/>
        </p:spPr>
        <p:txBody>
          <a:bodyPr wrap="square" lIns="0" tIns="0" rIns="0" bIns="0" rtlCol="0" anchor="t"/>
          <a:lstStyle/>
          <a:p>
            <a:pPr marL="0" indent="0">
              <a:lnSpc>
                <a:spcPts val="4600"/>
              </a:lnSpc>
              <a:buNone/>
            </a:pPr>
            <a:r>
              <a:rPr lang="en-US" sz="3800" b="1" dirty="0">
                <a:solidFill>
                  <a:srgbClr val="FFFFFF"/>
                </a:solidFill>
                <a:latin typeface="Cambria" pitchFamily="34" charset="0"/>
                <a:ea typeface="Cambria" pitchFamily="34" charset="-122"/>
                <a:cs typeface="Cambria" pitchFamily="34" charset="-120"/>
              </a:rPr>
              <a:t>Ontology-Grounded LLM Planning</a:t>
            </a:r>
            <a:endParaRPr lang="en-US" sz="3800" dirty="0"/>
          </a:p>
          <a:p>
            <a:pPr marL="0" indent="0">
              <a:lnSpc>
                <a:spcPts val="4600"/>
              </a:lnSpc>
              <a:buNone/>
            </a:pPr>
            <a:r>
              <a:rPr lang="en-US" sz="3800" b="1" dirty="0">
                <a:solidFill>
                  <a:srgbClr val="FFFFFF"/>
                </a:solidFill>
                <a:latin typeface="Cambria" pitchFamily="34" charset="0"/>
                <a:ea typeface="Cambria" pitchFamily="34" charset="-122"/>
                <a:cs typeface="Cambria" pitchFamily="34" charset="-120"/>
              </a:rPr>
              <a:t>for Robust Table-Clearing Robot Manipulation</a:t>
            </a:r>
            <a:endParaRPr lang="en-US" sz="3800" dirty="0"/>
          </a:p>
        </p:txBody>
      </p:sp>
      <p:sp>
        <p:nvSpPr>
          <p:cNvPr id="6" name="Text 4"/>
          <p:cNvSpPr/>
          <p:nvPr/>
        </p:nvSpPr>
        <p:spPr>
          <a:xfrm>
            <a:off x="658368" y="3310128"/>
            <a:ext cx="9509760" cy="365760"/>
          </a:xfrm>
          <a:prstGeom prst="rect">
            <a:avLst/>
          </a:prstGeom>
          <a:noFill/>
          <a:ln/>
        </p:spPr>
        <p:txBody>
          <a:bodyPr wrap="square" lIns="0" tIns="0" rIns="0" bIns="0" rtlCol="0" anchor="ctr"/>
          <a:lstStyle/>
          <a:p>
            <a:pPr marL="0" indent="0">
              <a:buNone/>
            </a:pPr>
            <a:r>
              <a:rPr lang="en-US" sz="1600" i="1" dirty="0">
                <a:solidFill>
                  <a:srgbClr val="E3EEF3"/>
                </a:solidFill>
                <a:latin typeface="Calibri" pitchFamily="34" charset="0"/>
                <a:ea typeface="Calibri" pitchFamily="34" charset="-122"/>
                <a:cs typeface="Calibri" pitchFamily="34" charset="-120"/>
              </a:rPr>
              <a:t>Planning over a grounded world model instead of free text</a:t>
            </a:r>
            <a:endParaRPr lang="en-US" sz="1600" dirty="0"/>
          </a:p>
        </p:txBody>
      </p:sp>
      <p:sp>
        <p:nvSpPr>
          <p:cNvPr id="7" name="Text 5"/>
          <p:cNvSpPr/>
          <p:nvPr/>
        </p:nvSpPr>
        <p:spPr>
          <a:xfrm>
            <a:off x="658368" y="4224528"/>
            <a:ext cx="1042416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Satuk Buğrahan ÖZTÜRK</a:t>
            </a:r>
            <a:r>
              <a:rPr lang="en-US" sz="1700" dirty="0">
                <a:solidFill>
                  <a:srgbClr val="FFFFFF"/>
                </a:solidFill>
                <a:latin typeface="Calibri" pitchFamily="34" charset="0"/>
                <a:ea typeface="Calibri" pitchFamily="34" charset="-122"/>
                <a:cs typeface="Calibri" pitchFamily="34" charset="-120"/>
              </a:rPr>
              <a:t>¹   ·   </a:t>
            </a:r>
            <a:r>
              <a:rPr lang="en-US" sz="1700" b="1" dirty="0">
                <a:solidFill>
                  <a:srgbClr val="FFFFFF"/>
                </a:solidFill>
                <a:latin typeface="Calibri" pitchFamily="34" charset="0"/>
                <a:ea typeface="Calibri" pitchFamily="34" charset="-122"/>
                <a:cs typeface="Calibri" pitchFamily="34" charset="-120"/>
              </a:rPr>
              <a:t>Ahmet COŞKUNÇAY</a:t>
            </a:r>
            <a:r>
              <a:rPr lang="en-US" sz="1700" dirty="0">
                <a:solidFill>
                  <a:srgbClr val="FFFFFF"/>
                </a:solidFill>
                <a:latin typeface="Calibri" pitchFamily="34" charset="0"/>
                <a:ea typeface="Calibri" pitchFamily="34" charset="-122"/>
                <a:cs typeface="Calibri" pitchFamily="34" charset="-120"/>
              </a:rPr>
              <a:t>¹   ·   </a:t>
            </a:r>
            <a:r>
              <a:rPr lang="en-US" sz="1700" b="1" dirty="0">
                <a:solidFill>
                  <a:srgbClr val="FFFFFF"/>
                </a:solidFill>
                <a:latin typeface="Calibri" pitchFamily="34" charset="0"/>
                <a:ea typeface="Calibri" pitchFamily="34" charset="-122"/>
                <a:cs typeface="Calibri" pitchFamily="34" charset="-120"/>
              </a:rPr>
              <a:t>Erhan ÖZTOP</a:t>
            </a:r>
            <a:r>
              <a:rPr lang="en-US" sz="1700" dirty="0">
                <a:solidFill>
                  <a:srgbClr val="FFFFFF"/>
                </a:solidFill>
                <a:latin typeface="Calibri" pitchFamily="34" charset="0"/>
                <a:ea typeface="Calibri" pitchFamily="34" charset="-122"/>
                <a:cs typeface="Calibri" pitchFamily="34" charset="-120"/>
              </a:rPr>
              <a:t>²ʼ³   ·   </a:t>
            </a:r>
            <a:r>
              <a:rPr lang="en-US" sz="1700" b="1" dirty="0">
                <a:solidFill>
                  <a:srgbClr val="FFFFFF"/>
                </a:solidFill>
                <a:latin typeface="Calibri" pitchFamily="34" charset="0"/>
                <a:ea typeface="Calibri" pitchFamily="34" charset="-122"/>
                <a:cs typeface="Calibri" pitchFamily="34" charset="-120"/>
              </a:rPr>
              <a:t>Barış ÖZYER</a:t>
            </a:r>
            <a:r>
              <a:rPr lang="en-US" sz="1700" dirty="0">
                <a:solidFill>
                  <a:srgbClr val="FFFFFF"/>
                </a:solidFill>
                <a:latin typeface="Calibri" pitchFamily="34" charset="0"/>
                <a:ea typeface="Calibri" pitchFamily="34" charset="-122"/>
                <a:cs typeface="Calibri" pitchFamily="34" charset="-120"/>
              </a:rPr>
              <a:t>¹</a:t>
            </a:r>
            <a:endParaRPr lang="en-US" sz="1700" dirty="0"/>
          </a:p>
        </p:txBody>
      </p:sp>
      <p:sp>
        <p:nvSpPr>
          <p:cNvPr id="8" name="Text 6"/>
          <p:cNvSpPr/>
          <p:nvPr/>
        </p:nvSpPr>
        <p:spPr>
          <a:xfrm>
            <a:off x="658368" y="4681728"/>
            <a:ext cx="10607040" cy="731520"/>
          </a:xfrm>
          <a:prstGeom prst="rect">
            <a:avLst/>
          </a:prstGeom>
          <a:noFill/>
          <a:ln/>
        </p:spPr>
        <p:txBody>
          <a:bodyPr wrap="square" lIns="0" tIns="0" rIns="0" bIns="0" rtlCol="0" anchor="ctr"/>
          <a:lstStyle/>
          <a:p>
            <a:pPr marL="0" indent="0">
              <a:lnSpc>
                <a:spcPts val="1900"/>
              </a:lnSpc>
              <a:buNone/>
            </a:pPr>
            <a:r>
              <a:rPr lang="en-US" sz="1250" dirty="0">
                <a:solidFill>
                  <a:srgbClr val="9FB3C2"/>
                </a:solidFill>
                <a:latin typeface="Calibri" pitchFamily="34" charset="0"/>
                <a:ea typeface="Calibri" pitchFamily="34" charset="-122"/>
                <a:cs typeface="Calibri" pitchFamily="34" charset="-120"/>
              </a:rPr>
              <a:t>¹ Department of Computer Engineering, Atatürk University, Erzurum, Türkiye</a:t>
            </a:r>
            <a:endParaRPr lang="en-US" sz="1250" dirty="0"/>
          </a:p>
          <a:p>
            <a:pPr marL="0" indent="0">
              <a:lnSpc>
                <a:spcPts val="1900"/>
              </a:lnSpc>
              <a:buNone/>
            </a:pPr>
            <a:r>
              <a:rPr lang="en-US" sz="1250" dirty="0">
                <a:solidFill>
                  <a:srgbClr val="9FB3C2"/>
                </a:solidFill>
                <a:latin typeface="Calibri" pitchFamily="34" charset="0"/>
                <a:ea typeface="Calibri" pitchFamily="34" charset="-122"/>
                <a:cs typeface="Calibri" pitchFamily="34" charset="-120"/>
              </a:rPr>
              <a:t>² Department of Artificial Intelligence, Özyeğin University, İstanbul, Türkiye        ³ OTRI/SISReC, The University of Osaka, Japan</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6382512"/>
            <a:ext cx="68580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Ontology-Grounded LLM Planning  ·  IEEE RO-MAN 2026</a:t>
            </a:r>
            <a:endParaRPr lang="en-US" sz="950" dirty="0"/>
          </a:p>
        </p:txBody>
      </p:sp>
      <p:sp>
        <p:nvSpPr>
          <p:cNvPr id="3" name="Text 1"/>
          <p:cNvSpPr/>
          <p:nvPr/>
        </p:nvSpPr>
        <p:spPr>
          <a:xfrm>
            <a:off x="10433304" y="6382512"/>
            <a:ext cx="109728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1</a:t>
            </a:r>
            <a:endParaRPr lang="en-US" sz="950" dirty="0"/>
          </a:p>
        </p:txBody>
      </p:sp>
      <p:sp>
        <p:nvSpPr>
          <p:cNvPr id="4" name="Text 2"/>
          <p:cNvSpPr/>
          <p:nvPr/>
        </p:nvSpPr>
        <p:spPr>
          <a:xfrm>
            <a:off x="658368" y="384048"/>
            <a:ext cx="10872216" cy="237744"/>
          </a:xfrm>
          <a:prstGeom prst="rect">
            <a:avLst/>
          </a:prstGeom>
          <a:noFill/>
          <a:ln/>
        </p:spPr>
        <p:txBody>
          <a:bodyPr wrap="square" lIns="0" tIns="0" rIns="0" bIns="0" rtlCol="0" anchor="ctr"/>
          <a:lstStyle/>
          <a:p>
            <a:pPr marL="0" indent="0">
              <a:buNone/>
            </a:pPr>
            <a:r>
              <a:rPr lang="en-US" sz="1050" b="1" kern="0" spc="200" dirty="0">
                <a:solidFill>
                  <a:srgbClr val="F2A65A"/>
                </a:solidFill>
                <a:latin typeface="Calibri" pitchFamily="34" charset="0"/>
                <a:ea typeface="Calibri" pitchFamily="34" charset="-122"/>
                <a:cs typeface="Calibri" pitchFamily="34" charset="-120"/>
              </a:rPr>
              <a:t>MOTIVATION</a:t>
            </a:r>
            <a:endParaRPr lang="en-US" sz="1050" dirty="0"/>
          </a:p>
        </p:txBody>
      </p:sp>
      <p:sp>
        <p:nvSpPr>
          <p:cNvPr id="5" name="Text 3"/>
          <p:cNvSpPr/>
          <p:nvPr/>
        </p:nvSpPr>
        <p:spPr>
          <a:xfrm>
            <a:off x="658368" y="676656"/>
            <a:ext cx="10872216" cy="566928"/>
          </a:xfrm>
          <a:prstGeom prst="rect">
            <a:avLst/>
          </a:prstGeom>
          <a:noFill/>
          <a:ln/>
        </p:spPr>
        <p:txBody>
          <a:bodyPr wrap="square" lIns="0" tIns="0" rIns="0" bIns="0" rtlCol="0" anchor="t"/>
          <a:lstStyle/>
          <a:p>
            <a:pPr marL="0" indent="0">
              <a:buNone/>
            </a:pPr>
            <a:r>
              <a:rPr lang="en-US" sz="3000" b="1" dirty="0">
                <a:solidFill>
                  <a:srgbClr val="0E1C2B"/>
                </a:solidFill>
                <a:latin typeface="Cambria" pitchFamily="34" charset="0"/>
                <a:ea typeface="Cambria" pitchFamily="34" charset="-122"/>
                <a:cs typeface="Cambria" pitchFamily="34" charset="-120"/>
              </a:rPr>
              <a:t>A simple instruction, a hard execution</a:t>
            </a:r>
            <a:endParaRPr lang="en-US" sz="3000" dirty="0"/>
          </a:p>
        </p:txBody>
      </p:sp>
      <p:sp>
        <p:nvSpPr>
          <p:cNvPr id="6" name="Shape 4"/>
          <p:cNvSpPr/>
          <p:nvPr/>
        </p:nvSpPr>
        <p:spPr>
          <a:xfrm>
            <a:off x="658368" y="1481328"/>
            <a:ext cx="5029200" cy="3401568"/>
          </a:xfrm>
          <a:prstGeom prst="roundRect">
            <a:avLst>
              <a:gd name="adj" fmla="val 2151"/>
            </a:avLst>
          </a:prstGeom>
          <a:solidFill>
            <a:srgbClr val="0E1C2B"/>
          </a:solidFill>
          <a:ln w="12700">
            <a:solidFill>
              <a:srgbClr val="0E1C2B"/>
            </a:solidFill>
            <a:prstDash val="solid"/>
          </a:ln>
          <a:effectLst>
            <a:outerShdw blurRad="127000" dist="25400" dir="5400000" algn="bl" rotWithShape="0">
              <a:srgbClr val="0E1C2B">
                <a:alpha val="10000"/>
              </a:srgbClr>
            </a:outerShdw>
          </a:effectLst>
        </p:spPr>
      </p:sp>
      <p:sp>
        <p:nvSpPr>
          <p:cNvPr id="7" name="Text 5"/>
          <p:cNvSpPr/>
          <p:nvPr/>
        </p:nvSpPr>
        <p:spPr>
          <a:xfrm>
            <a:off x="1005840" y="1792224"/>
            <a:ext cx="4343400" cy="822960"/>
          </a:xfrm>
          <a:prstGeom prst="rect">
            <a:avLst/>
          </a:prstGeom>
          <a:noFill/>
          <a:ln/>
        </p:spPr>
        <p:txBody>
          <a:bodyPr wrap="square" lIns="0" tIns="0" rIns="0" bIns="0" rtlCol="0" anchor="ctr"/>
          <a:lstStyle/>
          <a:p>
            <a:pPr marL="0" indent="0">
              <a:buNone/>
            </a:pPr>
            <a:r>
              <a:rPr lang="en-US" sz="3400" b="1" i="1" dirty="0">
                <a:solidFill>
                  <a:srgbClr val="F2A65A"/>
                </a:solidFill>
                <a:latin typeface="Cambria" pitchFamily="34" charset="0"/>
                <a:ea typeface="Cambria" pitchFamily="34" charset="-122"/>
                <a:cs typeface="Cambria" pitchFamily="34" charset="-120"/>
              </a:rPr>
              <a:t>“clear the table”</a:t>
            </a:r>
            <a:endParaRPr lang="en-US" sz="3400" dirty="0"/>
          </a:p>
        </p:txBody>
      </p:sp>
      <p:sp>
        <p:nvSpPr>
          <p:cNvPr id="8" name="Text 6"/>
          <p:cNvSpPr/>
          <p:nvPr/>
        </p:nvSpPr>
        <p:spPr>
          <a:xfrm>
            <a:off x="1005840" y="2761488"/>
            <a:ext cx="4343400" cy="1828800"/>
          </a:xfrm>
          <a:prstGeom prst="rect">
            <a:avLst/>
          </a:prstGeom>
          <a:noFill/>
          <a:ln/>
        </p:spPr>
        <p:txBody>
          <a:bodyPr wrap="square" lIns="0" tIns="0" rIns="0" bIns="0" rtlCol="0" anchor="t"/>
          <a:lstStyle/>
          <a:p>
            <a:pPr marL="0" indent="0">
              <a:lnSpc>
                <a:spcPts val="2200"/>
              </a:lnSpc>
              <a:buNone/>
            </a:pPr>
            <a:r>
              <a:rPr lang="en-US" sz="1450" dirty="0">
                <a:solidFill>
                  <a:srgbClr val="CFE0E9"/>
                </a:solidFill>
                <a:latin typeface="Calibri" pitchFamily="34" charset="0"/>
                <a:ea typeface="Calibri" pitchFamily="34" charset="-122"/>
                <a:cs typeface="Calibri" pitchFamily="34" charset="-120"/>
              </a:rPr>
              <a:t>Natural language is a practical interface for human–robot interaction: the user states the goal, not the steps.</a:t>
            </a:r>
            <a:endParaRPr lang="en-US" sz="1450" dirty="0"/>
          </a:p>
          <a:p>
            <a:pPr marL="0" indent="0">
              <a:lnSpc>
                <a:spcPts val="2200"/>
              </a:lnSpc>
              <a:buNone/>
            </a:pPr>
            <a:endParaRPr lang="en-US" sz="1450" dirty="0"/>
          </a:p>
          <a:p>
            <a:pPr marL="0" indent="0">
              <a:lnSpc>
                <a:spcPts val="2200"/>
              </a:lnSpc>
              <a:buNone/>
            </a:pPr>
            <a:r>
              <a:rPr lang="en-US" sz="1450" dirty="0">
                <a:solidFill>
                  <a:srgbClr val="CFE0E9"/>
                </a:solidFill>
                <a:latin typeface="Calibri" pitchFamily="34" charset="0"/>
                <a:ea typeface="Calibri" pitchFamily="34" charset="-122"/>
                <a:cs typeface="Calibri" pitchFamily="34" charset="-120"/>
              </a:rPr>
              <a:t>But the same sentence maps to a different action sequence in every physical scene.</a:t>
            </a:r>
            <a:endParaRPr lang="en-US" sz="1450" dirty="0"/>
          </a:p>
        </p:txBody>
      </p:sp>
      <p:sp>
        <p:nvSpPr>
          <p:cNvPr id="9" name="Shape 7"/>
          <p:cNvSpPr/>
          <p:nvPr/>
        </p:nvSpPr>
        <p:spPr>
          <a:xfrm>
            <a:off x="6053328" y="1481328"/>
            <a:ext cx="5477256" cy="1042416"/>
          </a:xfrm>
          <a:prstGeom prst="roundRect">
            <a:avLst>
              <a:gd name="adj" fmla="val 7018"/>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0" name="Shape 8"/>
          <p:cNvSpPr/>
          <p:nvPr/>
        </p:nvSpPr>
        <p:spPr>
          <a:xfrm>
            <a:off x="6272784" y="1810512"/>
            <a:ext cx="384048" cy="384048"/>
          </a:xfrm>
          <a:prstGeom prst="ellipse">
            <a:avLst/>
          </a:prstGeom>
          <a:solidFill>
            <a:srgbClr val="F2A65A"/>
          </a:solidFill>
          <a:ln w="12700">
            <a:solidFill>
              <a:srgbClr val="F2A65A"/>
            </a:solidFill>
            <a:prstDash val="solid"/>
          </a:ln>
        </p:spPr>
      </p:sp>
      <p:sp>
        <p:nvSpPr>
          <p:cNvPr id="11" name="Text 9"/>
          <p:cNvSpPr/>
          <p:nvPr/>
        </p:nvSpPr>
        <p:spPr>
          <a:xfrm>
            <a:off x="6272784" y="1810512"/>
            <a:ext cx="384048" cy="384048"/>
          </a:xfrm>
          <a:prstGeom prst="rect">
            <a:avLst/>
          </a:prstGeom>
          <a:noFill/>
          <a:ln/>
        </p:spPr>
        <p:txBody>
          <a:bodyPr wrap="square" lIns="0" tIns="0" rIns="0" bIns="0" rtlCol="0" anchor="ctr"/>
          <a:lstStyle/>
          <a:p>
            <a:pPr marL="0" indent="0" algn="ctr">
              <a:buNone/>
            </a:pPr>
            <a:r>
              <a:rPr lang="en-US" sz="1300" b="1" dirty="0">
                <a:solidFill>
                  <a:srgbClr val="0E1C2B"/>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6803136" y="1664208"/>
            <a:ext cx="4562856" cy="310896"/>
          </a:xfrm>
          <a:prstGeom prst="rect">
            <a:avLst/>
          </a:prstGeom>
          <a:noFill/>
          <a:ln/>
        </p:spPr>
        <p:txBody>
          <a:bodyPr wrap="square" lIns="0" tIns="0" rIns="0" bIns="0" rtlCol="0" anchor="ctr"/>
          <a:lstStyle/>
          <a:p>
            <a:pPr marL="0" indent="0">
              <a:buNone/>
            </a:pPr>
            <a:r>
              <a:rPr lang="en-US" sz="1450" b="1" dirty="0">
                <a:solidFill>
                  <a:srgbClr val="0E1C2B"/>
                </a:solidFill>
                <a:latin typeface="Calibri" pitchFamily="34" charset="0"/>
                <a:ea typeface="Calibri" pitchFamily="34" charset="-122"/>
                <a:cs typeface="Calibri" pitchFamily="34" charset="-120"/>
              </a:rPr>
              <a:t>Which objects are actually on the table right now?</a:t>
            </a:r>
            <a:endParaRPr lang="en-US" sz="1450" dirty="0"/>
          </a:p>
        </p:txBody>
      </p:sp>
      <p:sp>
        <p:nvSpPr>
          <p:cNvPr id="13" name="Text 11"/>
          <p:cNvSpPr/>
          <p:nvPr/>
        </p:nvSpPr>
        <p:spPr>
          <a:xfrm>
            <a:off x="6803136" y="2029968"/>
            <a:ext cx="4562856" cy="310896"/>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Object set changes between and during trials.</a:t>
            </a:r>
            <a:endParaRPr lang="en-US" sz="1200" dirty="0"/>
          </a:p>
        </p:txBody>
      </p:sp>
      <p:sp>
        <p:nvSpPr>
          <p:cNvPr id="14" name="Shape 12"/>
          <p:cNvSpPr/>
          <p:nvPr/>
        </p:nvSpPr>
        <p:spPr>
          <a:xfrm>
            <a:off x="6053328" y="2660904"/>
            <a:ext cx="5477256" cy="1042416"/>
          </a:xfrm>
          <a:prstGeom prst="roundRect">
            <a:avLst>
              <a:gd name="adj" fmla="val 7018"/>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5" name="Shape 13"/>
          <p:cNvSpPr/>
          <p:nvPr/>
        </p:nvSpPr>
        <p:spPr>
          <a:xfrm>
            <a:off x="6272784" y="2990088"/>
            <a:ext cx="384048" cy="384048"/>
          </a:xfrm>
          <a:prstGeom prst="ellipse">
            <a:avLst/>
          </a:prstGeom>
          <a:solidFill>
            <a:srgbClr val="F2A65A"/>
          </a:solidFill>
          <a:ln w="12700">
            <a:solidFill>
              <a:srgbClr val="F2A65A"/>
            </a:solidFill>
            <a:prstDash val="solid"/>
          </a:ln>
        </p:spPr>
      </p:sp>
      <p:sp>
        <p:nvSpPr>
          <p:cNvPr id="16" name="Text 14"/>
          <p:cNvSpPr/>
          <p:nvPr/>
        </p:nvSpPr>
        <p:spPr>
          <a:xfrm>
            <a:off x="6272784" y="2990088"/>
            <a:ext cx="384048" cy="384048"/>
          </a:xfrm>
          <a:prstGeom prst="rect">
            <a:avLst/>
          </a:prstGeom>
          <a:noFill/>
          <a:ln/>
        </p:spPr>
        <p:txBody>
          <a:bodyPr wrap="square" lIns="0" tIns="0" rIns="0" bIns="0" rtlCol="0" anchor="ctr"/>
          <a:lstStyle/>
          <a:p>
            <a:pPr marL="0" indent="0" algn="ctr">
              <a:buNone/>
            </a:pPr>
            <a:r>
              <a:rPr lang="en-US" sz="1300" b="1" dirty="0">
                <a:solidFill>
                  <a:srgbClr val="0E1C2B"/>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6803136" y="2843784"/>
            <a:ext cx="4562856" cy="310896"/>
          </a:xfrm>
          <a:prstGeom prst="rect">
            <a:avLst/>
          </a:prstGeom>
          <a:noFill/>
          <a:ln/>
        </p:spPr>
        <p:txBody>
          <a:bodyPr wrap="square" lIns="0" tIns="0" rIns="0" bIns="0" rtlCol="0" anchor="ctr"/>
          <a:lstStyle/>
          <a:p>
            <a:pPr marL="0" indent="0">
              <a:buNone/>
            </a:pPr>
            <a:r>
              <a:rPr lang="en-US" sz="1450" b="1" dirty="0">
                <a:solidFill>
                  <a:srgbClr val="0E1C2B"/>
                </a:solidFill>
                <a:latin typeface="Calibri" pitchFamily="34" charset="0"/>
                <a:ea typeface="Calibri" pitchFamily="34" charset="-122"/>
                <a:cs typeface="Calibri" pitchFamily="34" charset="-120"/>
              </a:rPr>
              <a:t>Is any object blocked or stacked on another?</a:t>
            </a:r>
            <a:endParaRPr lang="en-US" sz="1450" dirty="0"/>
          </a:p>
        </p:txBody>
      </p:sp>
      <p:sp>
        <p:nvSpPr>
          <p:cNvPr id="18" name="Text 16"/>
          <p:cNvSpPr/>
          <p:nvPr/>
        </p:nvSpPr>
        <p:spPr>
          <a:xfrm>
            <a:off x="6803136" y="3209544"/>
            <a:ext cx="4562856" cy="310896"/>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Support relations decide what can be picked first.</a:t>
            </a:r>
            <a:endParaRPr lang="en-US" sz="1200" dirty="0"/>
          </a:p>
        </p:txBody>
      </p:sp>
      <p:sp>
        <p:nvSpPr>
          <p:cNvPr id="19" name="Shape 17"/>
          <p:cNvSpPr/>
          <p:nvPr/>
        </p:nvSpPr>
        <p:spPr>
          <a:xfrm>
            <a:off x="6053328" y="3840480"/>
            <a:ext cx="5477256" cy="1042416"/>
          </a:xfrm>
          <a:prstGeom prst="roundRect">
            <a:avLst>
              <a:gd name="adj" fmla="val 7018"/>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20" name="Shape 18"/>
          <p:cNvSpPr/>
          <p:nvPr/>
        </p:nvSpPr>
        <p:spPr>
          <a:xfrm>
            <a:off x="6272784" y="4169664"/>
            <a:ext cx="384048" cy="384048"/>
          </a:xfrm>
          <a:prstGeom prst="ellipse">
            <a:avLst/>
          </a:prstGeom>
          <a:solidFill>
            <a:srgbClr val="F2A65A"/>
          </a:solidFill>
          <a:ln w="12700">
            <a:solidFill>
              <a:srgbClr val="F2A65A"/>
            </a:solidFill>
            <a:prstDash val="solid"/>
          </a:ln>
        </p:spPr>
      </p:sp>
      <p:sp>
        <p:nvSpPr>
          <p:cNvPr id="21" name="Text 19"/>
          <p:cNvSpPr/>
          <p:nvPr/>
        </p:nvSpPr>
        <p:spPr>
          <a:xfrm>
            <a:off x="6272784" y="4169664"/>
            <a:ext cx="384048" cy="384048"/>
          </a:xfrm>
          <a:prstGeom prst="rect">
            <a:avLst/>
          </a:prstGeom>
          <a:noFill/>
          <a:ln/>
        </p:spPr>
        <p:txBody>
          <a:bodyPr wrap="square" lIns="0" tIns="0" rIns="0" bIns="0" rtlCol="0" anchor="ctr"/>
          <a:lstStyle/>
          <a:p>
            <a:pPr marL="0" indent="0" algn="ctr">
              <a:buNone/>
            </a:pPr>
            <a:r>
              <a:rPr lang="en-US" sz="1300" b="1" dirty="0">
                <a:solidFill>
                  <a:srgbClr val="0E1C2B"/>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6803136" y="4023360"/>
            <a:ext cx="4562856" cy="310896"/>
          </a:xfrm>
          <a:prstGeom prst="rect">
            <a:avLst/>
          </a:prstGeom>
          <a:noFill/>
          <a:ln/>
        </p:spPr>
        <p:txBody>
          <a:bodyPr wrap="square" lIns="0" tIns="0" rIns="0" bIns="0" rtlCol="0" anchor="ctr"/>
          <a:lstStyle/>
          <a:p>
            <a:pPr marL="0" indent="0">
              <a:buNone/>
            </a:pPr>
            <a:r>
              <a:rPr lang="en-US" sz="1450" b="1" dirty="0">
                <a:solidFill>
                  <a:srgbClr val="0E1C2B"/>
                </a:solidFill>
                <a:latin typeface="Calibri" pitchFamily="34" charset="0"/>
                <a:ea typeface="Calibri" pitchFamily="34" charset="-122"/>
                <a:cs typeface="Calibri" pitchFamily="34" charset="-120"/>
              </a:rPr>
              <a:t>Does the scene still match the instruction?</a:t>
            </a:r>
            <a:endParaRPr lang="en-US" sz="1450" dirty="0"/>
          </a:p>
        </p:txBody>
      </p:sp>
      <p:sp>
        <p:nvSpPr>
          <p:cNvPr id="23" name="Text 21"/>
          <p:cNvSpPr/>
          <p:nvPr/>
        </p:nvSpPr>
        <p:spPr>
          <a:xfrm>
            <a:off x="6803136" y="4389120"/>
            <a:ext cx="4562856" cy="310896"/>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The world moves while the plan is being executed.</a:t>
            </a:r>
            <a:endParaRPr lang="en-US" sz="1200" dirty="0"/>
          </a:p>
        </p:txBody>
      </p:sp>
      <p:sp>
        <p:nvSpPr>
          <p:cNvPr id="24" name="Text 22"/>
          <p:cNvSpPr/>
          <p:nvPr/>
        </p:nvSpPr>
        <p:spPr>
          <a:xfrm>
            <a:off x="658368" y="5138928"/>
            <a:ext cx="10872216" cy="365760"/>
          </a:xfrm>
          <a:prstGeom prst="rect">
            <a:avLst/>
          </a:prstGeom>
          <a:noFill/>
          <a:ln/>
        </p:spPr>
        <p:txBody>
          <a:bodyPr wrap="square" lIns="0" tIns="0" rIns="0" bIns="0" rtlCol="0" anchor="ctr"/>
          <a:lstStyle/>
          <a:p>
            <a:pPr marL="0" indent="0">
              <a:buNone/>
            </a:pPr>
            <a:r>
              <a:rPr lang="en-US" sz="1500" b="1" i="1" dirty="0">
                <a:solidFill>
                  <a:srgbClr val="1C7293"/>
                </a:solidFill>
                <a:latin typeface="Calibri" pitchFamily="34" charset="0"/>
                <a:ea typeface="Calibri" pitchFamily="34" charset="-122"/>
                <a:cs typeface="Calibri" pitchFamily="34" charset="-120"/>
              </a:rPr>
              <a:t>A plan that is plausible at the text level can still fail in the actual environment.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8368" y="6382512"/>
            <a:ext cx="68580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Ontology-Grounded LLM Planning  ·  IEEE RO-MAN 2026</a:t>
            </a:r>
            <a:endParaRPr lang="en-US" sz="950" dirty="0"/>
          </a:p>
        </p:txBody>
      </p:sp>
      <p:sp>
        <p:nvSpPr>
          <p:cNvPr id="3" name="Text 1"/>
          <p:cNvSpPr/>
          <p:nvPr/>
        </p:nvSpPr>
        <p:spPr>
          <a:xfrm>
            <a:off x="10433304" y="6382512"/>
            <a:ext cx="109728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2</a:t>
            </a:r>
            <a:endParaRPr lang="en-US" sz="950" dirty="0"/>
          </a:p>
        </p:txBody>
      </p:sp>
      <p:sp>
        <p:nvSpPr>
          <p:cNvPr id="4" name="Text 2"/>
          <p:cNvSpPr/>
          <p:nvPr/>
        </p:nvSpPr>
        <p:spPr>
          <a:xfrm>
            <a:off x="658368" y="384048"/>
            <a:ext cx="10872216" cy="237744"/>
          </a:xfrm>
          <a:prstGeom prst="rect">
            <a:avLst/>
          </a:prstGeom>
          <a:noFill/>
          <a:ln/>
        </p:spPr>
        <p:txBody>
          <a:bodyPr wrap="square" lIns="0" tIns="0" rIns="0" bIns="0" rtlCol="0" anchor="ctr"/>
          <a:lstStyle/>
          <a:p>
            <a:pPr marL="0" indent="0">
              <a:buNone/>
            </a:pPr>
            <a:r>
              <a:rPr lang="en-US" sz="1050" b="1" kern="0" spc="200" dirty="0">
                <a:solidFill>
                  <a:srgbClr val="F2A65A"/>
                </a:solidFill>
                <a:latin typeface="Calibri" pitchFamily="34" charset="0"/>
                <a:ea typeface="Calibri" pitchFamily="34" charset="-122"/>
                <a:cs typeface="Calibri" pitchFamily="34" charset="-120"/>
              </a:rPr>
              <a:t>PROBLEM</a:t>
            </a:r>
            <a:endParaRPr lang="en-US" sz="1050" dirty="0"/>
          </a:p>
        </p:txBody>
      </p:sp>
      <p:sp>
        <p:nvSpPr>
          <p:cNvPr id="5" name="Text 3"/>
          <p:cNvSpPr/>
          <p:nvPr/>
        </p:nvSpPr>
        <p:spPr>
          <a:xfrm>
            <a:off x="658368" y="676656"/>
            <a:ext cx="10872216" cy="566928"/>
          </a:xfrm>
          <a:prstGeom prst="rect">
            <a:avLst/>
          </a:prstGeom>
          <a:noFill/>
          <a:ln/>
        </p:spPr>
        <p:txBody>
          <a:bodyPr wrap="square" lIns="0" tIns="0" rIns="0" bIns="0" rtlCol="0" anchor="t"/>
          <a:lstStyle/>
          <a:p>
            <a:pPr marL="0" indent="0">
              <a:buNone/>
            </a:pPr>
            <a:r>
              <a:rPr lang="en-US" sz="3000" b="1" dirty="0">
                <a:solidFill>
                  <a:srgbClr val="0E1C2B"/>
                </a:solidFill>
                <a:latin typeface="Cambria" pitchFamily="34" charset="0"/>
                <a:ea typeface="Cambria" pitchFamily="34" charset="-122"/>
                <a:cs typeface="Cambria" pitchFamily="34" charset="-120"/>
              </a:rPr>
              <a:t>Why text-only LLM planning is brittle</a:t>
            </a:r>
            <a:endParaRPr lang="en-US" sz="3000" dirty="0"/>
          </a:p>
        </p:txBody>
      </p:sp>
      <p:sp>
        <p:nvSpPr>
          <p:cNvPr id="6" name="Shape 4"/>
          <p:cNvSpPr/>
          <p:nvPr/>
        </p:nvSpPr>
        <p:spPr>
          <a:xfrm>
            <a:off x="658368" y="1517904"/>
            <a:ext cx="3441192" cy="2615184"/>
          </a:xfrm>
          <a:prstGeom prst="roundRect">
            <a:avLst>
              <a:gd name="adj" fmla="val 2797"/>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7" name="Shape 5"/>
          <p:cNvSpPr/>
          <p:nvPr/>
        </p:nvSpPr>
        <p:spPr>
          <a:xfrm>
            <a:off x="950976" y="1810512"/>
            <a:ext cx="384048" cy="384048"/>
          </a:xfrm>
          <a:prstGeom prst="ellipse">
            <a:avLst/>
          </a:prstGeom>
          <a:solidFill>
            <a:srgbClr val="F2A65A"/>
          </a:solidFill>
          <a:ln w="12700">
            <a:solidFill>
              <a:srgbClr val="F2A65A"/>
            </a:solidFill>
            <a:prstDash val="solid"/>
          </a:ln>
        </p:spPr>
      </p:sp>
      <p:sp>
        <p:nvSpPr>
          <p:cNvPr id="8" name="Text 6"/>
          <p:cNvSpPr/>
          <p:nvPr/>
        </p:nvSpPr>
        <p:spPr>
          <a:xfrm>
            <a:off x="950976" y="1810512"/>
            <a:ext cx="384048" cy="384048"/>
          </a:xfrm>
          <a:prstGeom prst="rect">
            <a:avLst/>
          </a:prstGeom>
          <a:noFill/>
          <a:ln/>
        </p:spPr>
        <p:txBody>
          <a:bodyPr wrap="square" lIns="0" tIns="0" rIns="0" bIns="0" rtlCol="0" anchor="ctr"/>
          <a:lstStyle/>
          <a:p>
            <a:pPr marL="0" indent="0" algn="ctr">
              <a:buNone/>
            </a:pPr>
            <a:r>
              <a:rPr lang="en-US" sz="1300" b="1" dirty="0">
                <a:solidFill>
                  <a:srgbClr val="0E1C2B"/>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950976" y="2359152"/>
            <a:ext cx="2855976" cy="566928"/>
          </a:xfrm>
          <a:prstGeom prst="rect">
            <a:avLst/>
          </a:prstGeom>
          <a:noFill/>
          <a:ln/>
        </p:spPr>
        <p:txBody>
          <a:bodyPr wrap="square" lIns="0" tIns="0" rIns="0" bIns="0" rtlCol="0" anchor="t"/>
          <a:lstStyle/>
          <a:p>
            <a:pPr marL="0" indent="0">
              <a:buNone/>
            </a:pPr>
            <a:r>
              <a:rPr lang="en-US" sz="1800" b="1" dirty="0">
                <a:solidFill>
                  <a:srgbClr val="0E1C2B"/>
                </a:solidFill>
                <a:latin typeface="Cambria" pitchFamily="34" charset="0"/>
                <a:ea typeface="Cambria" pitchFamily="34" charset="-122"/>
                <a:cs typeface="Cambria" pitchFamily="34" charset="-120"/>
              </a:rPr>
              <a:t>Static scene description</a:t>
            </a:r>
            <a:endParaRPr lang="en-US" sz="1800" dirty="0"/>
          </a:p>
        </p:txBody>
      </p:sp>
      <p:sp>
        <p:nvSpPr>
          <p:cNvPr id="10" name="Text 8"/>
          <p:cNvSpPr/>
          <p:nvPr/>
        </p:nvSpPr>
        <p:spPr>
          <a:xfrm>
            <a:off x="950976" y="2962656"/>
            <a:ext cx="2855976" cy="1042416"/>
          </a:xfrm>
          <a:prstGeom prst="rect">
            <a:avLst/>
          </a:prstGeom>
          <a:noFill/>
          <a:ln/>
        </p:spPr>
        <p:txBody>
          <a:bodyPr wrap="square" lIns="0" tIns="0" rIns="0" bIns="0" rtlCol="0" anchor="t"/>
          <a:lstStyle/>
          <a:p>
            <a:pPr marL="0" indent="0">
              <a:lnSpc>
                <a:spcPts val="1900"/>
              </a:lnSpc>
              <a:buNone/>
            </a:pPr>
            <a:r>
              <a:rPr lang="en-US" sz="1300" dirty="0">
                <a:solidFill>
                  <a:srgbClr val="5A6B7A"/>
                </a:solidFill>
                <a:latin typeface="Calibri" pitchFamily="34" charset="0"/>
                <a:ea typeface="Calibri" pitchFamily="34" charset="-122"/>
                <a:cs typeface="Calibri" pitchFamily="34" charset="-120"/>
              </a:rPr>
              <a:t>The world state is written into the prompt once and then stays outside the execution loop. It is already stale by the second action.</a:t>
            </a:r>
            <a:endParaRPr lang="en-US" sz="1300" dirty="0"/>
          </a:p>
        </p:txBody>
      </p:sp>
      <p:sp>
        <p:nvSpPr>
          <p:cNvPr id="11" name="Shape 9"/>
          <p:cNvSpPr/>
          <p:nvPr/>
        </p:nvSpPr>
        <p:spPr>
          <a:xfrm>
            <a:off x="4373880" y="1517904"/>
            <a:ext cx="3441192" cy="2615184"/>
          </a:xfrm>
          <a:prstGeom prst="roundRect">
            <a:avLst>
              <a:gd name="adj" fmla="val 2797"/>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2" name="Shape 10"/>
          <p:cNvSpPr/>
          <p:nvPr/>
        </p:nvSpPr>
        <p:spPr>
          <a:xfrm>
            <a:off x="4666488" y="1810512"/>
            <a:ext cx="384048" cy="384048"/>
          </a:xfrm>
          <a:prstGeom prst="ellipse">
            <a:avLst/>
          </a:prstGeom>
          <a:solidFill>
            <a:srgbClr val="F2A65A"/>
          </a:solidFill>
          <a:ln w="12700">
            <a:solidFill>
              <a:srgbClr val="F2A65A"/>
            </a:solidFill>
            <a:prstDash val="solid"/>
          </a:ln>
        </p:spPr>
      </p:sp>
      <p:sp>
        <p:nvSpPr>
          <p:cNvPr id="13" name="Text 11"/>
          <p:cNvSpPr/>
          <p:nvPr/>
        </p:nvSpPr>
        <p:spPr>
          <a:xfrm>
            <a:off x="4666488" y="1810512"/>
            <a:ext cx="384048" cy="384048"/>
          </a:xfrm>
          <a:prstGeom prst="rect">
            <a:avLst/>
          </a:prstGeom>
          <a:noFill/>
          <a:ln/>
        </p:spPr>
        <p:txBody>
          <a:bodyPr wrap="square" lIns="0" tIns="0" rIns="0" bIns="0" rtlCol="0" anchor="ctr"/>
          <a:lstStyle/>
          <a:p>
            <a:pPr marL="0" indent="0" algn="ctr">
              <a:buNone/>
            </a:pPr>
            <a:r>
              <a:rPr lang="en-US" sz="1300" b="1" dirty="0">
                <a:solidFill>
                  <a:srgbClr val="0E1C2B"/>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4666488" y="2359152"/>
            <a:ext cx="2855976" cy="566928"/>
          </a:xfrm>
          <a:prstGeom prst="rect">
            <a:avLst/>
          </a:prstGeom>
          <a:noFill/>
          <a:ln/>
        </p:spPr>
        <p:txBody>
          <a:bodyPr wrap="square" lIns="0" tIns="0" rIns="0" bIns="0" rtlCol="0" anchor="t"/>
          <a:lstStyle/>
          <a:p>
            <a:pPr marL="0" indent="0">
              <a:buNone/>
            </a:pPr>
            <a:r>
              <a:rPr lang="en-US" sz="1800" b="1" dirty="0">
                <a:solidFill>
                  <a:srgbClr val="0E1C2B"/>
                </a:solidFill>
                <a:latin typeface="Cambria" pitchFamily="34" charset="0"/>
                <a:ea typeface="Cambria" pitchFamily="34" charset="-122"/>
                <a:cs typeface="Cambria" pitchFamily="34" charset="-120"/>
              </a:rPr>
              <a:t>No feasibility check</a:t>
            </a:r>
            <a:endParaRPr lang="en-US" sz="1800" dirty="0"/>
          </a:p>
        </p:txBody>
      </p:sp>
      <p:sp>
        <p:nvSpPr>
          <p:cNvPr id="15" name="Text 13"/>
          <p:cNvSpPr/>
          <p:nvPr/>
        </p:nvSpPr>
        <p:spPr>
          <a:xfrm>
            <a:off x="4666488" y="2962656"/>
            <a:ext cx="2855976" cy="1042416"/>
          </a:xfrm>
          <a:prstGeom prst="rect">
            <a:avLst/>
          </a:prstGeom>
          <a:noFill/>
          <a:ln/>
        </p:spPr>
        <p:txBody>
          <a:bodyPr wrap="square" lIns="0" tIns="0" rIns="0" bIns="0" rtlCol="0" anchor="t"/>
          <a:lstStyle/>
          <a:p>
            <a:pPr marL="0" indent="0">
              <a:lnSpc>
                <a:spcPts val="1900"/>
              </a:lnSpc>
              <a:buNone/>
            </a:pPr>
            <a:r>
              <a:rPr lang="en-US" sz="1300" dirty="0">
                <a:solidFill>
                  <a:srgbClr val="5A6B7A"/>
                </a:solidFill>
                <a:latin typeface="Calibri" pitchFamily="34" charset="0"/>
                <a:ea typeface="Calibri" pitchFamily="34" charset="-122"/>
                <a:cs typeface="Calibri" pitchFamily="34" charset="-120"/>
              </a:rPr>
              <a:t>Nothing prevents the planner from proposing an action that conflicts with the physical preconditions of the scene.</a:t>
            </a:r>
            <a:endParaRPr lang="en-US" sz="1300" dirty="0"/>
          </a:p>
        </p:txBody>
      </p:sp>
      <p:sp>
        <p:nvSpPr>
          <p:cNvPr id="16" name="Shape 14"/>
          <p:cNvSpPr/>
          <p:nvPr/>
        </p:nvSpPr>
        <p:spPr>
          <a:xfrm>
            <a:off x="8089392" y="1517904"/>
            <a:ext cx="3441192" cy="2615184"/>
          </a:xfrm>
          <a:prstGeom prst="roundRect">
            <a:avLst>
              <a:gd name="adj" fmla="val 2797"/>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7" name="Shape 15"/>
          <p:cNvSpPr/>
          <p:nvPr/>
        </p:nvSpPr>
        <p:spPr>
          <a:xfrm>
            <a:off x="8382000" y="1810512"/>
            <a:ext cx="384048" cy="384048"/>
          </a:xfrm>
          <a:prstGeom prst="ellipse">
            <a:avLst/>
          </a:prstGeom>
          <a:solidFill>
            <a:srgbClr val="F2A65A"/>
          </a:solidFill>
          <a:ln w="12700">
            <a:solidFill>
              <a:srgbClr val="F2A65A"/>
            </a:solidFill>
            <a:prstDash val="solid"/>
          </a:ln>
        </p:spPr>
      </p:sp>
      <p:sp>
        <p:nvSpPr>
          <p:cNvPr id="18" name="Text 16"/>
          <p:cNvSpPr/>
          <p:nvPr/>
        </p:nvSpPr>
        <p:spPr>
          <a:xfrm>
            <a:off x="8382000" y="1810512"/>
            <a:ext cx="384048" cy="384048"/>
          </a:xfrm>
          <a:prstGeom prst="rect">
            <a:avLst/>
          </a:prstGeom>
          <a:noFill/>
          <a:ln/>
        </p:spPr>
        <p:txBody>
          <a:bodyPr wrap="square" lIns="0" tIns="0" rIns="0" bIns="0" rtlCol="0" anchor="ctr"/>
          <a:lstStyle/>
          <a:p>
            <a:pPr marL="0" indent="0" algn="ctr">
              <a:buNone/>
            </a:pPr>
            <a:r>
              <a:rPr lang="en-US" sz="1300" b="1" dirty="0">
                <a:solidFill>
                  <a:srgbClr val="0E1C2B"/>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382000" y="2359152"/>
            <a:ext cx="2855976" cy="566928"/>
          </a:xfrm>
          <a:prstGeom prst="rect">
            <a:avLst/>
          </a:prstGeom>
          <a:noFill/>
          <a:ln/>
        </p:spPr>
        <p:txBody>
          <a:bodyPr wrap="square" lIns="0" tIns="0" rIns="0" bIns="0" rtlCol="0" anchor="t"/>
          <a:lstStyle/>
          <a:p>
            <a:pPr marL="0" indent="0">
              <a:buNone/>
            </a:pPr>
            <a:r>
              <a:rPr lang="en-US" sz="1800" b="1" dirty="0">
                <a:solidFill>
                  <a:srgbClr val="0E1C2B"/>
                </a:solidFill>
                <a:latin typeface="Cambria" pitchFamily="34" charset="0"/>
                <a:ea typeface="Cambria" pitchFamily="34" charset="-122"/>
                <a:cs typeface="Cambria" pitchFamily="34" charset="-120"/>
              </a:rPr>
              <a:t>No recovery path</a:t>
            </a:r>
            <a:endParaRPr lang="en-US" sz="1800" dirty="0"/>
          </a:p>
        </p:txBody>
      </p:sp>
      <p:sp>
        <p:nvSpPr>
          <p:cNvPr id="20" name="Text 18"/>
          <p:cNvSpPr/>
          <p:nvPr/>
        </p:nvSpPr>
        <p:spPr>
          <a:xfrm>
            <a:off x="8382000" y="2962656"/>
            <a:ext cx="2855976" cy="1042416"/>
          </a:xfrm>
          <a:prstGeom prst="rect">
            <a:avLst/>
          </a:prstGeom>
          <a:noFill/>
          <a:ln/>
        </p:spPr>
        <p:txBody>
          <a:bodyPr wrap="square" lIns="0" tIns="0" rIns="0" bIns="0" rtlCol="0" anchor="t"/>
          <a:lstStyle/>
          <a:p>
            <a:pPr marL="0" indent="0">
              <a:lnSpc>
                <a:spcPts val="1900"/>
              </a:lnSpc>
              <a:buNone/>
            </a:pPr>
            <a:r>
              <a:rPr lang="en-US" sz="1300" dirty="0">
                <a:solidFill>
                  <a:srgbClr val="5A6B7A"/>
                </a:solidFill>
                <a:latin typeface="Calibri" pitchFamily="34" charset="0"/>
                <a:ea typeface="Calibri" pitchFamily="34" charset="-122"/>
                <a:cs typeface="Calibri" pitchFamily="34" charset="-120"/>
              </a:rPr>
              <a:t>One failed pick or one misplaced object invalidates the remainder of a long-horizon plan.</a:t>
            </a:r>
            <a:endParaRPr lang="en-US" sz="1300" dirty="0"/>
          </a:p>
        </p:txBody>
      </p:sp>
      <p:sp>
        <p:nvSpPr>
          <p:cNvPr id="21" name="Shape 19"/>
          <p:cNvSpPr/>
          <p:nvPr/>
        </p:nvSpPr>
        <p:spPr>
          <a:xfrm>
            <a:off x="658368" y="4407408"/>
            <a:ext cx="10872216" cy="932688"/>
          </a:xfrm>
          <a:prstGeom prst="roundRect">
            <a:avLst>
              <a:gd name="adj" fmla="val 7843"/>
            </a:avLst>
          </a:prstGeom>
          <a:solidFill>
            <a:srgbClr val="E3EEF3"/>
          </a:solidFill>
          <a:ln w="12700">
            <a:solidFill>
              <a:srgbClr val="E3EEF3"/>
            </a:solidFill>
            <a:prstDash val="solid"/>
          </a:ln>
          <a:effectLst>
            <a:outerShdw blurRad="127000" dist="25400" dir="5400000" algn="bl" rotWithShape="0">
              <a:srgbClr val="0E1C2B">
                <a:alpha val="10000"/>
              </a:srgbClr>
            </a:outerShdw>
          </a:effectLst>
        </p:spPr>
      </p:sp>
      <p:sp>
        <p:nvSpPr>
          <p:cNvPr id="22" name="Text 20"/>
          <p:cNvSpPr/>
          <p:nvPr/>
        </p:nvSpPr>
        <p:spPr>
          <a:xfrm>
            <a:off x="969264" y="4572000"/>
            <a:ext cx="10250424" cy="621792"/>
          </a:xfrm>
          <a:prstGeom prst="rect">
            <a:avLst/>
          </a:prstGeom>
          <a:noFill/>
          <a:ln/>
        </p:spPr>
        <p:txBody>
          <a:bodyPr wrap="square" lIns="0" tIns="0" rIns="0" bIns="0" rtlCol="0" anchor="ctr"/>
          <a:lstStyle/>
          <a:p>
            <a:pPr marL="0" indent="0">
              <a:lnSpc>
                <a:spcPts val="2100"/>
              </a:lnSpc>
              <a:buNone/>
            </a:pPr>
            <a:r>
              <a:rPr lang="en-US" sz="1450" dirty="0">
                <a:solidFill>
                  <a:srgbClr val="0E1C2B"/>
                </a:solidFill>
                <a:latin typeface="Calibri" pitchFamily="34" charset="0"/>
                <a:ea typeface="Calibri" pitchFamily="34" charset="-122"/>
                <a:cs typeface="Calibri" pitchFamily="34" charset="-120"/>
              </a:rPr>
              <a:t>Prior grounding work helps — </a:t>
            </a:r>
            <a:r>
              <a:rPr lang="en-US" sz="1450" b="1" dirty="0">
                <a:solidFill>
                  <a:srgbClr val="1C7293"/>
                </a:solidFill>
                <a:latin typeface="Calibri" pitchFamily="34" charset="0"/>
                <a:ea typeface="Calibri" pitchFamily="34" charset="-122"/>
                <a:cs typeface="Calibri" pitchFamily="34" charset="-120"/>
              </a:rPr>
              <a:t>scene graphs, semantic maps and knowledge graphs give the planner explicit objects and relations [4]–[9]</a:t>
            </a:r>
            <a:r>
              <a:rPr lang="en-US" sz="1450" dirty="0">
                <a:solidFill>
                  <a:srgbClr val="0E1C2B"/>
                </a:solidFill>
                <a:latin typeface="Calibri" pitchFamily="34" charset="0"/>
                <a:ea typeface="Calibri" pitchFamily="34" charset="-122"/>
                <a:cs typeface="Calibri" pitchFamily="34" charset="-120"/>
              </a:rPr>
              <a:t> — but these representations are often only loosely connected to execution.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8368" y="6382512"/>
            <a:ext cx="68580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Ontology-Grounded LLM Planning  ·  IEEE RO-MAN 2026</a:t>
            </a:r>
            <a:endParaRPr lang="en-US" sz="950" dirty="0"/>
          </a:p>
        </p:txBody>
      </p:sp>
      <p:sp>
        <p:nvSpPr>
          <p:cNvPr id="3" name="Text 1"/>
          <p:cNvSpPr/>
          <p:nvPr/>
        </p:nvSpPr>
        <p:spPr>
          <a:xfrm>
            <a:off x="10433304" y="6382512"/>
            <a:ext cx="109728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3</a:t>
            </a:r>
            <a:endParaRPr lang="en-US" sz="950" dirty="0"/>
          </a:p>
        </p:txBody>
      </p:sp>
      <p:sp>
        <p:nvSpPr>
          <p:cNvPr id="4" name="Text 2"/>
          <p:cNvSpPr/>
          <p:nvPr/>
        </p:nvSpPr>
        <p:spPr>
          <a:xfrm>
            <a:off x="658368" y="384048"/>
            <a:ext cx="10872216" cy="237744"/>
          </a:xfrm>
          <a:prstGeom prst="rect">
            <a:avLst/>
          </a:prstGeom>
          <a:noFill/>
          <a:ln/>
        </p:spPr>
        <p:txBody>
          <a:bodyPr wrap="square" lIns="0" tIns="0" rIns="0" bIns="0" rtlCol="0" anchor="ctr"/>
          <a:lstStyle/>
          <a:p>
            <a:pPr marL="0" indent="0">
              <a:buNone/>
            </a:pPr>
            <a:r>
              <a:rPr lang="en-US" sz="1050" b="1" kern="0" spc="200" dirty="0">
                <a:solidFill>
                  <a:srgbClr val="F2A65A"/>
                </a:solidFill>
                <a:latin typeface="Calibri" pitchFamily="34" charset="0"/>
                <a:ea typeface="Calibri" pitchFamily="34" charset="-122"/>
                <a:cs typeface="Calibri" pitchFamily="34" charset="-120"/>
              </a:rPr>
              <a:t>RELATED WORK</a:t>
            </a:r>
            <a:endParaRPr lang="en-US" sz="1050" dirty="0"/>
          </a:p>
        </p:txBody>
      </p:sp>
      <p:sp>
        <p:nvSpPr>
          <p:cNvPr id="5" name="Text 3"/>
          <p:cNvSpPr/>
          <p:nvPr/>
        </p:nvSpPr>
        <p:spPr>
          <a:xfrm>
            <a:off x="658368" y="676656"/>
            <a:ext cx="10872216" cy="566928"/>
          </a:xfrm>
          <a:prstGeom prst="rect">
            <a:avLst/>
          </a:prstGeom>
          <a:noFill/>
          <a:ln/>
        </p:spPr>
        <p:txBody>
          <a:bodyPr wrap="square" lIns="0" tIns="0" rIns="0" bIns="0" rtlCol="0" anchor="t"/>
          <a:lstStyle/>
          <a:p>
            <a:pPr marL="0" indent="0">
              <a:buNone/>
            </a:pPr>
            <a:r>
              <a:rPr lang="en-US" sz="3000" b="1" dirty="0">
                <a:solidFill>
                  <a:srgbClr val="0E1C2B"/>
                </a:solidFill>
                <a:latin typeface="Cambria" pitchFamily="34" charset="0"/>
                <a:ea typeface="Cambria" pitchFamily="34" charset="-122"/>
                <a:cs typeface="Cambria" pitchFamily="34" charset="-120"/>
              </a:rPr>
              <a:t>Three lines of work — and the gap between them</a:t>
            </a:r>
            <a:endParaRPr lang="en-US" sz="3000" dirty="0"/>
          </a:p>
        </p:txBody>
      </p:sp>
      <p:sp>
        <p:nvSpPr>
          <p:cNvPr id="6" name="Shape 4"/>
          <p:cNvSpPr/>
          <p:nvPr/>
        </p:nvSpPr>
        <p:spPr>
          <a:xfrm>
            <a:off x="658368" y="1517904"/>
            <a:ext cx="3441192" cy="2779776"/>
          </a:xfrm>
          <a:prstGeom prst="roundRect">
            <a:avLst>
              <a:gd name="adj" fmla="val 2632"/>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7" name="Text 5"/>
          <p:cNvSpPr/>
          <p:nvPr/>
        </p:nvSpPr>
        <p:spPr>
          <a:xfrm>
            <a:off x="932688" y="1719072"/>
            <a:ext cx="2892552" cy="640080"/>
          </a:xfrm>
          <a:prstGeom prst="rect">
            <a:avLst/>
          </a:prstGeom>
          <a:noFill/>
          <a:ln/>
        </p:spPr>
        <p:txBody>
          <a:bodyPr wrap="square" lIns="0" tIns="0" rIns="0" bIns="0" rtlCol="0" anchor="t"/>
          <a:lstStyle/>
          <a:p>
            <a:pPr marL="0" indent="0">
              <a:buNone/>
            </a:pPr>
            <a:r>
              <a:rPr lang="en-US" sz="1700" b="1" dirty="0">
                <a:solidFill>
                  <a:srgbClr val="1C7293"/>
                </a:solidFill>
                <a:latin typeface="Cambria" pitchFamily="34" charset="0"/>
                <a:ea typeface="Cambria" pitchFamily="34" charset="-122"/>
                <a:cs typeface="Cambria" pitchFamily="34" charset="-120"/>
              </a:rPr>
              <a:t>LLM task planning</a:t>
            </a:r>
            <a:endParaRPr lang="en-US" sz="1700" dirty="0"/>
          </a:p>
        </p:txBody>
      </p:sp>
      <p:sp>
        <p:nvSpPr>
          <p:cNvPr id="8" name="Text 6"/>
          <p:cNvSpPr/>
          <p:nvPr/>
        </p:nvSpPr>
        <p:spPr>
          <a:xfrm>
            <a:off x="932688" y="2450592"/>
            <a:ext cx="2892552" cy="1325880"/>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300" dirty="0">
                <a:solidFill>
                  <a:srgbClr val="0E1C2B"/>
                </a:solidFill>
                <a:latin typeface="Calibri" pitchFamily="34" charset="0"/>
                <a:ea typeface="Calibri" pitchFamily="34" charset="-122"/>
                <a:cs typeface="Calibri" pitchFamily="34" charset="-120"/>
              </a:rPr>
              <a:t>Instruction → symbolic action sequence</a:t>
            </a:r>
            <a:endParaRPr lang="en-US" sz="1300" dirty="0"/>
          </a:p>
          <a:p>
            <a:pPr marL="342900" indent="-342900">
              <a:lnSpc>
                <a:spcPts val="1800"/>
              </a:lnSpc>
              <a:spcAft>
                <a:spcPts val="600"/>
              </a:spcAft>
              <a:buSzPct val="100000"/>
              <a:buChar char="•"/>
            </a:pPr>
            <a:r>
              <a:rPr lang="en-US" sz="1300" dirty="0">
                <a:solidFill>
                  <a:srgbClr val="0E1C2B"/>
                </a:solidFill>
                <a:latin typeface="Calibri" pitchFamily="34" charset="0"/>
                <a:ea typeface="Calibri" pitchFamily="34" charset="-122"/>
                <a:cs typeface="Calibri" pitchFamily="34" charset="-120"/>
              </a:rPr>
              <a:t>Long-horizon and service-robot planning</a:t>
            </a:r>
            <a:endParaRPr lang="en-US" sz="1300" dirty="0"/>
          </a:p>
          <a:p>
            <a:pPr marL="342900" indent="-342900">
              <a:lnSpc>
                <a:spcPts val="1800"/>
              </a:lnSpc>
              <a:spcAft>
                <a:spcPts val="600"/>
              </a:spcAft>
              <a:buSzPct val="100000"/>
              <a:buChar char="•"/>
            </a:pPr>
            <a:r>
              <a:rPr lang="en-US" sz="1300" dirty="0">
                <a:solidFill>
                  <a:srgbClr val="0E1C2B"/>
                </a:solidFill>
                <a:latin typeface="Calibri" pitchFamily="34" charset="0"/>
                <a:ea typeface="Calibri" pitchFamily="34" charset="-122"/>
                <a:cs typeface="Calibri" pitchFamily="34" charset="-120"/>
              </a:rPr>
              <a:t>Corrective reasoning and feedback</a:t>
            </a:r>
            <a:endParaRPr lang="en-US" sz="1300" dirty="0"/>
          </a:p>
        </p:txBody>
      </p:sp>
      <p:sp>
        <p:nvSpPr>
          <p:cNvPr id="9" name="Text 7"/>
          <p:cNvSpPr/>
          <p:nvPr/>
        </p:nvSpPr>
        <p:spPr>
          <a:xfrm>
            <a:off x="932688" y="3913632"/>
            <a:ext cx="2892552" cy="256032"/>
          </a:xfrm>
          <a:prstGeom prst="rect">
            <a:avLst/>
          </a:prstGeom>
          <a:noFill/>
          <a:ln/>
        </p:spPr>
        <p:txBody>
          <a:bodyPr wrap="square" lIns="0" tIns="0" rIns="0" bIns="0" rtlCol="0" anchor="ctr"/>
          <a:lstStyle/>
          <a:p>
            <a:pPr marL="0" indent="0">
              <a:buNone/>
            </a:pPr>
            <a:r>
              <a:rPr lang="en-US" sz="1100" dirty="0">
                <a:solidFill>
                  <a:srgbClr val="5A6B7A"/>
                </a:solidFill>
                <a:latin typeface="Calibri" pitchFamily="34" charset="0"/>
                <a:ea typeface="Calibri" pitchFamily="34" charset="-122"/>
                <a:cs typeface="Calibri" pitchFamily="34" charset="-120"/>
              </a:rPr>
              <a:t>[1]–[3], [10]–[15]</a:t>
            </a:r>
            <a:endParaRPr lang="en-US" sz="1100" dirty="0"/>
          </a:p>
        </p:txBody>
      </p:sp>
      <p:sp>
        <p:nvSpPr>
          <p:cNvPr id="10" name="Shape 8"/>
          <p:cNvSpPr/>
          <p:nvPr/>
        </p:nvSpPr>
        <p:spPr>
          <a:xfrm>
            <a:off x="4373880" y="1517904"/>
            <a:ext cx="3441192" cy="2779776"/>
          </a:xfrm>
          <a:prstGeom prst="roundRect">
            <a:avLst>
              <a:gd name="adj" fmla="val 2632"/>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1" name="Text 9"/>
          <p:cNvSpPr/>
          <p:nvPr/>
        </p:nvSpPr>
        <p:spPr>
          <a:xfrm>
            <a:off x="4648200" y="1719072"/>
            <a:ext cx="2892552" cy="640080"/>
          </a:xfrm>
          <a:prstGeom prst="rect">
            <a:avLst/>
          </a:prstGeom>
          <a:noFill/>
          <a:ln/>
        </p:spPr>
        <p:txBody>
          <a:bodyPr wrap="square" lIns="0" tIns="0" rIns="0" bIns="0" rtlCol="0" anchor="t"/>
          <a:lstStyle/>
          <a:p>
            <a:pPr marL="0" indent="0">
              <a:buNone/>
            </a:pPr>
            <a:r>
              <a:rPr lang="en-US" sz="1700" b="1" dirty="0">
                <a:solidFill>
                  <a:srgbClr val="1C7293"/>
                </a:solidFill>
                <a:latin typeface="Cambria" pitchFamily="34" charset="0"/>
                <a:ea typeface="Cambria" pitchFamily="34" charset="-122"/>
                <a:cs typeface="Cambria" pitchFamily="34" charset="-120"/>
              </a:rPr>
              <a:t>Vision–language grounding</a:t>
            </a:r>
            <a:endParaRPr lang="en-US" sz="1700" dirty="0"/>
          </a:p>
        </p:txBody>
      </p:sp>
      <p:sp>
        <p:nvSpPr>
          <p:cNvPr id="12" name="Text 10"/>
          <p:cNvSpPr/>
          <p:nvPr/>
        </p:nvSpPr>
        <p:spPr>
          <a:xfrm>
            <a:off x="4648200" y="2450592"/>
            <a:ext cx="2892552" cy="1325880"/>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300" dirty="0">
                <a:solidFill>
                  <a:srgbClr val="0E1C2B"/>
                </a:solidFill>
                <a:latin typeface="Calibri" pitchFamily="34" charset="0"/>
                <a:ea typeface="Calibri" pitchFamily="34" charset="-122"/>
                <a:cs typeface="Calibri" pitchFamily="34" charset="-120"/>
              </a:rPr>
              <a:t>Open-vocabulary 3D scene graphs</a:t>
            </a:r>
            <a:endParaRPr lang="en-US" sz="1300" dirty="0"/>
          </a:p>
          <a:p>
            <a:pPr marL="342900" indent="-342900">
              <a:lnSpc>
                <a:spcPts val="1800"/>
              </a:lnSpc>
              <a:spcAft>
                <a:spcPts val="600"/>
              </a:spcAft>
              <a:buSzPct val="100000"/>
              <a:buChar char="•"/>
            </a:pPr>
            <a:r>
              <a:rPr lang="en-US" sz="1300" dirty="0">
                <a:solidFill>
                  <a:srgbClr val="0E1C2B"/>
                </a:solidFill>
                <a:latin typeface="Calibri" pitchFamily="34" charset="0"/>
                <a:ea typeface="Calibri" pitchFamily="34" charset="-122"/>
                <a:cs typeface="Calibri" pitchFamily="34" charset="-120"/>
              </a:rPr>
              <a:t>Scene-graph based task planning</a:t>
            </a:r>
            <a:endParaRPr lang="en-US" sz="1300" dirty="0"/>
          </a:p>
          <a:p>
            <a:pPr marL="342900" indent="-342900">
              <a:lnSpc>
                <a:spcPts val="1800"/>
              </a:lnSpc>
              <a:spcAft>
                <a:spcPts val="600"/>
              </a:spcAft>
              <a:buSzPct val="100000"/>
              <a:buChar char="•"/>
            </a:pPr>
            <a:r>
              <a:rPr lang="en-US" sz="1300" dirty="0">
                <a:solidFill>
                  <a:srgbClr val="0E1C2B"/>
                </a:solidFill>
                <a:latin typeface="Calibri" pitchFamily="34" charset="0"/>
                <a:ea typeface="Calibri" pitchFamily="34" charset="-122"/>
                <a:cs typeface="Calibri" pitchFamily="34" charset="-120"/>
              </a:rPr>
              <a:t>Symbolic inputs derived from vision</a:t>
            </a:r>
            <a:endParaRPr lang="en-US" sz="1300" dirty="0"/>
          </a:p>
        </p:txBody>
      </p:sp>
      <p:sp>
        <p:nvSpPr>
          <p:cNvPr id="13" name="Text 11"/>
          <p:cNvSpPr/>
          <p:nvPr/>
        </p:nvSpPr>
        <p:spPr>
          <a:xfrm>
            <a:off x="4648200" y="3913632"/>
            <a:ext cx="2892552" cy="256032"/>
          </a:xfrm>
          <a:prstGeom prst="rect">
            <a:avLst/>
          </a:prstGeom>
          <a:noFill/>
          <a:ln/>
        </p:spPr>
        <p:txBody>
          <a:bodyPr wrap="square" lIns="0" tIns="0" rIns="0" bIns="0" rtlCol="0" anchor="ctr"/>
          <a:lstStyle/>
          <a:p>
            <a:pPr marL="0" indent="0">
              <a:buNone/>
            </a:pPr>
            <a:r>
              <a:rPr lang="en-US" sz="1100" dirty="0">
                <a:solidFill>
                  <a:srgbClr val="5A6B7A"/>
                </a:solidFill>
                <a:latin typeface="Calibri" pitchFamily="34" charset="0"/>
                <a:ea typeface="Calibri" pitchFamily="34" charset="-122"/>
                <a:cs typeface="Calibri" pitchFamily="34" charset="-120"/>
              </a:rPr>
              <a:t>[4]–[6], [19]–[26]</a:t>
            </a:r>
            <a:endParaRPr lang="en-US" sz="1100" dirty="0"/>
          </a:p>
        </p:txBody>
      </p:sp>
      <p:sp>
        <p:nvSpPr>
          <p:cNvPr id="14" name="Shape 12"/>
          <p:cNvSpPr/>
          <p:nvPr/>
        </p:nvSpPr>
        <p:spPr>
          <a:xfrm>
            <a:off x="8089392" y="1517904"/>
            <a:ext cx="3441192" cy="2779776"/>
          </a:xfrm>
          <a:prstGeom prst="roundRect">
            <a:avLst>
              <a:gd name="adj" fmla="val 2632"/>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5" name="Text 13"/>
          <p:cNvSpPr/>
          <p:nvPr/>
        </p:nvSpPr>
        <p:spPr>
          <a:xfrm>
            <a:off x="8363712" y="1719072"/>
            <a:ext cx="2892552" cy="640080"/>
          </a:xfrm>
          <a:prstGeom prst="rect">
            <a:avLst/>
          </a:prstGeom>
          <a:noFill/>
          <a:ln/>
        </p:spPr>
        <p:txBody>
          <a:bodyPr wrap="square" lIns="0" tIns="0" rIns="0" bIns="0" rtlCol="0" anchor="t"/>
          <a:lstStyle/>
          <a:p>
            <a:pPr marL="0" indent="0">
              <a:buNone/>
            </a:pPr>
            <a:r>
              <a:rPr lang="en-US" sz="1700" b="1" dirty="0">
                <a:solidFill>
                  <a:srgbClr val="1C7293"/>
                </a:solidFill>
                <a:latin typeface="Cambria" pitchFamily="34" charset="0"/>
                <a:ea typeface="Cambria" pitchFamily="34" charset="-122"/>
                <a:cs typeface="Cambria" pitchFamily="34" charset="-120"/>
              </a:rPr>
              <a:t>Knowledge-augmented planning</a:t>
            </a:r>
            <a:endParaRPr lang="en-US" sz="1700" dirty="0"/>
          </a:p>
        </p:txBody>
      </p:sp>
      <p:sp>
        <p:nvSpPr>
          <p:cNvPr id="16" name="Text 14"/>
          <p:cNvSpPr/>
          <p:nvPr/>
        </p:nvSpPr>
        <p:spPr>
          <a:xfrm>
            <a:off x="8363712" y="2450592"/>
            <a:ext cx="2892552" cy="1325880"/>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300" dirty="0">
                <a:solidFill>
                  <a:srgbClr val="0E1C2B"/>
                </a:solidFill>
                <a:latin typeface="Calibri" pitchFamily="34" charset="0"/>
                <a:ea typeface="Calibri" pitchFamily="34" charset="-122"/>
                <a:cs typeface="Calibri" pitchFamily="34" charset="-120"/>
              </a:rPr>
              <a:t>Object ontology knowledge for planning</a:t>
            </a:r>
            <a:endParaRPr lang="en-US" sz="1300" dirty="0"/>
          </a:p>
          <a:p>
            <a:pPr marL="342900" indent="-342900">
              <a:lnSpc>
                <a:spcPts val="1800"/>
              </a:lnSpc>
              <a:spcAft>
                <a:spcPts val="600"/>
              </a:spcAft>
              <a:buSzPct val="100000"/>
              <a:buChar char="•"/>
            </a:pPr>
            <a:r>
              <a:rPr lang="en-US" sz="1300" dirty="0">
                <a:solidFill>
                  <a:srgbClr val="0E1C2B"/>
                </a:solidFill>
                <a:latin typeface="Calibri" pitchFamily="34" charset="0"/>
                <a:ea typeface="Calibri" pitchFamily="34" charset="-122"/>
                <a:cs typeface="Calibri" pitchFamily="34" charset="-120"/>
              </a:rPr>
              <a:t>Knowledge graphs for decomposition</a:t>
            </a:r>
            <a:endParaRPr lang="en-US" sz="1300" dirty="0"/>
          </a:p>
          <a:p>
            <a:pPr marL="342900" indent="-342900">
              <a:lnSpc>
                <a:spcPts val="1800"/>
              </a:lnSpc>
              <a:spcAft>
                <a:spcPts val="600"/>
              </a:spcAft>
              <a:buSzPct val="100000"/>
              <a:buChar char="•"/>
            </a:pPr>
            <a:r>
              <a:rPr lang="en-US" sz="1300" dirty="0">
                <a:solidFill>
                  <a:srgbClr val="0E1C2B"/>
                </a:solidFill>
                <a:latin typeface="Calibri" pitchFamily="34" charset="0"/>
                <a:ea typeface="Calibri" pitchFamily="34" charset="-122"/>
                <a:cs typeface="Calibri" pitchFamily="34" charset="-120"/>
              </a:rPr>
              <a:t>Neuro-symbolic robotics</a:t>
            </a:r>
            <a:endParaRPr lang="en-US" sz="1300" dirty="0"/>
          </a:p>
        </p:txBody>
      </p:sp>
      <p:sp>
        <p:nvSpPr>
          <p:cNvPr id="17" name="Text 15"/>
          <p:cNvSpPr/>
          <p:nvPr/>
        </p:nvSpPr>
        <p:spPr>
          <a:xfrm>
            <a:off x="8363712" y="3913632"/>
            <a:ext cx="2892552" cy="256032"/>
          </a:xfrm>
          <a:prstGeom prst="rect">
            <a:avLst/>
          </a:prstGeom>
          <a:noFill/>
          <a:ln/>
        </p:spPr>
        <p:txBody>
          <a:bodyPr wrap="square" lIns="0" tIns="0" rIns="0" bIns="0" rtlCol="0" anchor="ctr"/>
          <a:lstStyle/>
          <a:p>
            <a:pPr marL="0" indent="0">
              <a:buNone/>
            </a:pPr>
            <a:r>
              <a:rPr lang="en-US" sz="1100" dirty="0">
                <a:solidFill>
                  <a:srgbClr val="5A6B7A"/>
                </a:solidFill>
                <a:latin typeface="Calibri" pitchFamily="34" charset="0"/>
                <a:ea typeface="Calibri" pitchFamily="34" charset="-122"/>
                <a:cs typeface="Calibri" pitchFamily="34" charset="-120"/>
              </a:rPr>
              <a:t>[7]–[9], [27]–[30]</a:t>
            </a:r>
            <a:endParaRPr lang="en-US" sz="1100" dirty="0"/>
          </a:p>
        </p:txBody>
      </p:sp>
      <p:sp>
        <p:nvSpPr>
          <p:cNvPr id="18" name="Shape 16"/>
          <p:cNvSpPr/>
          <p:nvPr/>
        </p:nvSpPr>
        <p:spPr>
          <a:xfrm>
            <a:off x="658368" y="4517136"/>
            <a:ext cx="10872216" cy="987552"/>
          </a:xfrm>
          <a:prstGeom prst="roundRect">
            <a:avLst>
              <a:gd name="adj" fmla="val 7407"/>
            </a:avLst>
          </a:prstGeom>
          <a:solidFill>
            <a:srgbClr val="0E1C2B"/>
          </a:solidFill>
          <a:ln w="12700">
            <a:solidFill>
              <a:srgbClr val="0E1C2B"/>
            </a:solidFill>
            <a:prstDash val="solid"/>
          </a:ln>
          <a:effectLst>
            <a:outerShdw blurRad="127000" dist="25400" dir="5400000" algn="bl" rotWithShape="0">
              <a:srgbClr val="0E1C2B">
                <a:alpha val="10000"/>
              </a:srgbClr>
            </a:outerShdw>
          </a:effectLst>
        </p:spPr>
      </p:sp>
      <p:sp>
        <p:nvSpPr>
          <p:cNvPr id="19" name="Text 17"/>
          <p:cNvSpPr/>
          <p:nvPr/>
        </p:nvSpPr>
        <p:spPr>
          <a:xfrm>
            <a:off x="987552" y="4681728"/>
            <a:ext cx="1463040" cy="310896"/>
          </a:xfrm>
          <a:prstGeom prst="rect">
            <a:avLst/>
          </a:prstGeom>
          <a:noFill/>
          <a:ln/>
        </p:spPr>
        <p:txBody>
          <a:bodyPr wrap="square" lIns="0" tIns="0" rIns="0" bIns="0" rtlCol="0" anchor="ctr"/>
          <a:lstStyle/>
          <a:p>
            <a:pPr marL="0" indent="0">
              <a:buNone/>
            </a:pPr>
            <a:r>
              <a:rPr lang="en-US" sz="1200" b="1" kern="0" spc="150" dirty="0">
                <a:solidFill>
                  <a:srgbClr val="F2A65A"/>
                </a:solidFill>
                <a:latin typeface="Calibri" pitchFamily="34" charset="0"/>
                <a:ea typeface="Calibri" pitchFamily="34" charset="-122"/>
                <a:cs typeface="Calibri" pitchFamily="34" charset="-120"/>
              </a:rPr>
              <a:t>The gap</a:t>
            </a:r>
            <a:endParaRPr lang="en-US" sz="1200" dirty="0"/>
          </a:p>
        </p:txBody>
      </p:sp>
      <p:sp>
        <p:nvSpPr>
          <p:cNvPr id="20" name="Text 18"/>
          <p:cNvSpPr/>
          <p:nvPr/>
        </p:nvSpPr>
        <p:spPr>
          <a:xfrm>
            <a:off x="987552" y="4974336"/>
            <a:ext cx="10213848" cy="38404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 task state that persists through manipulation — queried again when a skill fails, not only when the first plan is generated.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8368" y="6382512"/>
            <a:ext cx="68580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Ontology-Grounded LLM Planning  ·  IEEE RO-MAN 2026</a:t>
            </a:r>
            <a:endParaRPr lang="en-US" sz="950" dirty="0"/>
          </a:p>
        </p:txBody>
      </p:sp>
      <p:sp>
        <p:nvSpPr>
          <p:cNvPr id="3" name="Text 1"/>
          <p:cNvSpPr/>
          <p:nvPr/>
        </p:nvSpPr>
        <p:spPr>
          <a:xfrm>
            <a:off x="10433304" y="6382512"/>
            <a:ext cx="109728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4</a:t>
            </a:r>
            <a:endParaRPr lang="en-US" sz="950" dirty="0"/>
          </a:p>
        </p:txBody>
      </p:sp>
      <p:sp>
        <p:nvSpPr>
          <p:cNvPr id="4" name="Text 2"/>
          <p:cNvSpPr/>
          <p:nvPr/>
        </p:nvSpPr>
        <p:spPr>
          <a:xfrm>
            <a:off x="658368" y="384048"/>
            <a:ext cx="10872216" cy="237744"/>
          </a:xfrm>
          <a:prstGeom prst="rect">
            <a:avLst/>
          </a:prstGeom>
          <a:noFill/>
          <a:ln/>
        </p:spPr>
        <p:txBody>
          <a:bodyPr wrap="square" lIns="0" tIns="0" rIns="0" bIns="0" rtlCol="0" anchor="ctr"/>
          <a:lstStyle/>
          <a:p>
            <a:pPr marL="0" indent="0">
              <a:buNone/>
            </a:pPr>
            <a:r>
              <a:rPr lang="en-US" sz="1050" b="1" kern="0" spc="200" dirty="0">
                <a:solidFill>
                  <a:srgbClr val="F2A65A"/>
                </a:solidFill>
                <a:latin typeface="Calibri" pitchFamily="34" charset="0"/>
                <a:ea typeface="Calibri" pitchFamily="34" charset="-122"/>
                <a:cs typeface="Calibri" pitchFamily="34" charset="-120"/>
              </a:rPr>
              <a:t>CONTRIBUTION</a:t>
            </a:r>
            <a:endParaRPr lang="en-US" sz="1050" dirty="0"/>
          </a:p>
        </p:txBody>
      </p:sp>
      <p:sp>
        <p:nvSpPr>
          <p:cNvPr id="5" name="Text 3"/>
          <p:cNvSpPr/>
          <p:nvPr/>
        </p:nvSpPr>
        <p:spPr>
          <a:xfrm>
            <a:off x="658368" y="676656"/>
            <a:ext cx="10872216" cy="566928"/>
          </a:xfrm>
          <a:prstGeom prst="rect">
            <a:avLst/>
          </a:prstGeom>
          <a:noFill/>
          <a:ln/>
        </p:spPr>
        <p:txBody>
          <a:bodyPr wrap="square" lIns="0" tIns="0" rIns="0" bIns="0" rtlCol="0" anchor="t"/>
          <a:lstStyle/>
          <a:p>
            <a:pPr marL="0" indent="0">
              <a:buNone/>
            </a:pPr>
            <a:r>
              <a:rPr lang="en-US" sz="3000" b="1" dirty="0">
                <a:solidFill>
                  <a:srgbClr val="0E1C2B"/>
                </a:solidFill>
                <a:latin typeface="Cambria" pitchFamily="34" charset="0"/>
                <a:ea typeface="Cambria" pitchFamily="34" charset="-122"/>
                <a:cs typeface="Cambria" pitchFamily="34" charset="-120"/>
              </a:rPr>
              <a:t>What this paper contributes</a:t>
            </a:r>
            <a:endParaRPr lang="en-US" sz="3000" dirty="0"/>
          </a:p>
        </p:txBody>
      </p:sp>
      <p:sp>
        <p:nvSpPr>
          <p:cNvPr id="6" name="Shape 4"/>
          <p:cNvSpPr/>
          <p:nvPr/>
        </p:nvSpPr>
        <p:spPr>
          <a:xfrm>
            <a:off x="658368" y="1572768"/>
            <a:ext cx="10872216" cy="1097280"/>
          </a:xfrm>
          <a:prstGeom prst="roundRect">
            <a:avLst>
              <a:gd name="adj" fmla="val 6667"/>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7" name="Shape 5"/>
          <p:cNvSpPr/>
          <p:nvPr/>
        </p:nvSpPr>
        <p:spPr>
          <a:xfrm>
            <a:off x="987552" y="1920240"/>
            <a:ext cx="402336" cy="402336"/>
          </a:xfrm>
          <a:prstGeom prst="ellipse">
            <a:avLst/>
          </a:prstGeom>
          <a:solidFill>
            <a:srgbClr val="F2A65A"/>
          </a:solidFill>
          <a:ln w="12700">
            <a:solidFill>
              <a:srgbClr val="F2A65A"/>
            </a:solidFill>
            <a:prstDash val="solid"/>
          </a:ln>
        </p:spPr>
      </p:sp>
      <p:sp>
        <p:nvSpPr>
          <p:cNvPr id="8" name="Text 6"/>
          <p:cNvSpPr/>
          <p:nvPr/>
        </p:nvSpPr>
        <p:spPr>
          <a:xfrm>
            <a:off x="987552" y="1920240"/>
            <a:ext cx="402336" cy="402336"/>
          </a:xfrm>
          <a:prstGeom prst="rect">
            <a:avLst/>
          </a:prstGeom>
          <a:noFill/>
          <a:ln/>
        </p:spPr>
        <p:txBody>
          <a:bodyPr wrap="square" lIns="0" tIns="0" rIns="0" bIns="0" rtlCol="0" anchor="ctr"/>
          <a:lstStyle/>
          <a:p>
            <a:pPr marL="0" indent="0" algn="ctr">
              <a:buNone/>
            </a:pPr>
            <a:r>
              <a:rPr lang="en-US" sz="1300" b="1" dirty="0">
                <a:solidFill>
                  <a:srgbClr val="0E1C2B"/>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591056" y="1792224"/>
            <a:ext cx="4480560" cy="658368"/>
          </a:xfrm>
          <a:prstGeom prst="rect">
            <a:avLst/>
          </a:prstGeom>
          <a:noFill/>
          <a:ln/>
        </p:spPr>
        <p:txBody>
          <a:bodyPr wrap="square" lIns="0" tIns="0" rIns="0" bIns="0" rtlCol="0" anchor="ctr"/>
          <a:lstStyle/>
          <a:p>
            <a:pPr marL="0" indent="0">
              <a:buNone/>
            </a:pPr>
            <a:r>
              <a:rPr lang="en-US" sz="1750" b="1" dirty="0">
                <a:solidFill>
                  <a:srgbClr val="0E1C2B"/>
                </a:solidFill>
                <a:latin typeface="Cambria" pitchFamily="34" charset="0"/>
                <a:ea typeface="Cambria" pitchFamily="34" charset="-122"/>
                <a:cs typeface="Cambria" pitchFamily="34" charset="-120"/>
              </a:rPr>
              <a:t>Ontology-grounded state representation</a:t>
            </a:r>
            <a:endParaRPr lang="en-US" sz="1750" dirty="0"/>
          </a:p>
        </p:txBody>
      </p:sp>
      <p:sp>
        <p:nvSpPr>
          <p:cNvPr id="10" name="Text 8"/>
          <p:cNvSpPr/>
          <p:nvPr/>
        </p:nvSpPr>
        <p:spPr>
          <a:xfrm>
            <a:off x="6236208" y="1792224"/>
            <a:ext cx="4928616" cy="658368"/>
          </a:xfrm>
          <a:prstGeom prst="rect">
            <a:avLst/>
          </a:prstGeom>
          <a:noFill/>
          <a:ln/>
        </p:spPr>
        <p:txBody>
          <a:bodyPr wrap="square" lIns="0" tIns="0" rIns="0" bIns="0" rtlCol="0" anchor="ctr"/>
          <a:lstStyle/>
          <a:p>
            <a:pPr marL="0" indent="0">
              <a:lnSpc>
                <a:spcPts val="1900"/>
              </a:lnSpc>
              <a:buNone/>
            </a:pPr>
            <a:r>
              <a:rPr lang="en-US" sz="1350" dirty="0">
                <a:solidFill>
                  <a:srgbClr val="5A6B7A"/>
                </a:solidFill>
                <a:latin typeface="Calibri" pitchFamily="34" charset="0"/>
                <a:ea typeface="Calibri" pitchFamily="34" charset="-122"/>
                <a:cs typeface="Calibri" pitchFamily="34" charset="-120"/>
              </a:rPr>
              <a:t>Planning runs over a state built from ontology queries and simulator observations — never over free text alone.</a:t>
            </a:r>
            <a:endParaRPr lang="en-US" sz="1350" dirty="0"/>
          </a:p>
        </p:txBody>
      </p:sp>
      <p:sp>
        <p:nvSpPr>
          <p:cNvPr id="11" name="Shape 9"/>
          <p:cNvSpPr/>
          <p:nvPr/>
        </p:nvSpPr>
        <p:spPr>
          <a:xfrm>
            <a:off x="658368" y="2834640"/>
            <a:ext cx="10872216" cy="1097280"/>
          </a:xfrm>
          <a:prstGeom prst="roundRect">
            <a:avLst>
              <a:gd name="adj" fmla="val 6667"/>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2" name="Shape 10"/>
          <p:cNvSpPr/>
          <p:nvPr/>
        </p:nvSpPr>
        <p:spPr>
          <a:xfrm>
            <a:off x="987552" y="3182112"/>
            <a:ext cx="402336" cy="402336"/>
          </a:xfrm>
          <a:prstGeom prst="ellipse">
            <a:avLst/>
          </a:prstGeom>
          <a:solidFill>
            <a:srgbClr val="F2A65A"/>
          </a:solidFill>
          <a:ln w="12700">
            <a:solidFill>
              <a:srgbClr val="F2A65A"/>
            </a:solidFill>
            <a:prstDash val="solid"/>
          </a:ln>
        </p:spPr>
      </p:sp>
      <p:sp>
        <p:nvSpPr>
          <p:cNvPr id="13" name="Text 11"/>
          <p:cNvSpPr/>
          <p:nvPr/>
        </p:nvSpPr>
        <p:spPr>
          <a:xfrm>
            <a:off x="987552" y="3182112"/>
            <a:ext cx="402336" cy="402336"/>
          </a:xfrm>
          <a:prstGeom prst="rect">
            <a:avLst/>
          </a:prstGeom>
          <a:noFill/>
          <a:ln/>
        </p:spPr>
        <p:txBody>
          <a:bodyPr wrap="square" lIns="0" tIns="0" rIns="0" bIns="0" rtlCol="0" anchor="ctr"/>
          <a:lstStyle/>
          <a:p>
            <a:pPr marL="0" indent="0" algn="ctr">
              <a:buNone/>
            </a:pPr>
            <a:r>
              <a:rPr lang="en-US" sz="1300" b="1" dirty="0">
                <a:solidFill>
                  <a:srgbClr val="0E1C2B"/>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1591056" y="3054096"/>
            <a:ext cx="4480560" cy="658368"/>
          </a:xfrm>
          <a:prstGeom prst="rect">
            <a:avLst/>
          </a:prstGeom>
          <a:noFill/>
          <a:ln/>
        </p:spPr>
        <p:txBody>
          <a:bodyPr wrap="square" lIns="0" tIns="0" rIns="0" bIns="0" rtlCol="0" anchor="ctr"/>
          <a:lstStyle/>
          <a:p>
            <a:pPr marL="0" indent="0">
              <a:buNone/>
            </a:pPr>
            <a:r>
              <a:rPr lang="en-US" sz="1750" b="1" dirty="0">
                <a:solidFill>
                  <a:srgbClr val="0E1C2B"/>
                </a:solidFill>
                <a:latin typeface="Cambria" pitchFamily="34" charset="0"/>
                <a:ea typeface="Cambria" pitchFamily="34" charset="-122"/>
                <a:cs typeface="Cambria" pitchFamily="34" charset="-120"/>
              </a:rPr>
              <a:t>Symbolic plan validation with bounded repair</a:t>
            </a:r>
            <a:endParaRPr lang="en-US" sz="1750" dirty="0"/>
          </a:p>
        </p:txBody>
      </p:sp>
      <p:sp>
        <p:nvSpPr>
          <p:cNvPr id="15" name="Text 13"/>
          <p:cNvSpPr/>
          <p:nvPr/>
        </p:nvSpPr>
        <p:spPr>
          <a:xfrm>
            <a:off x="6236208" y="3054096"/>
            <a:ext cx="4928616" cy="658368"/>
          </a:xfrm>
          <a:prstGeom prst="rect">
            <a:avLst/>
          </a:prstGeom>
          <a:noFill/>
          <a:ln/>
        </p:spPr>
        <p:txBody>
          <a:bodyPr wrap="square" lIns="0" tIns="0" rIns="0" bIns="0" rtlCol="0" anchor="ctr"/>
          <a:lstStyle/>
          <a:p>
            <a:pPr marL="0" indent="0">
              <a:lnSpc>
                <a:spcPts val="1900"/>
              </a:lnSpc>
              <a:buNone/>
            </a:pPr>
            <a:r>
              <a:rPr lang="en-US" sz="1350" dirty="0">
                <a:solidFill>
                  <a:srgbClr val="5A6B7A"/>
                </a:solidFill>
                <a:latin typeface="Calibri" pitchFamily="34" charset="0"/>
                <a:ea typeface="Calibri" pitchFamily="34" charset="-122"/>
                <a:cs typeface="Calibri" pitchFamily="34" charset="-120"/>
              </a:rPr>
              <a:t>Every plan is checked against permitted actions, known objects and the robot holding state before a single motor command is issued.</a:t>
            </a:r>
            <a:endParaRPr lang="en-US" sz="1350" dirty="0"/>
          </a:p>
        </p:txBody>
      </p:sp>
      <p:sp>
        <p:nvSpPr>
          <p:cNvPr id="16" name="Shape 14"/>
          <p:cNvSpPr/>
          <p:nvPr/>
        </p:nvSpPr>
        <p:spPr>
          <a:xfrm>
            <a:off x="658368" y="4096512"/>
            <a:ext cx="10872216" cy="1097280"/>
          </a:xfrm>
          <a:prstGeom prst="roundRect">
            <a:avLst>
              <a:gd name="adj" fmla="val 6667"/>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7" name="Shape 15"/>
          <p:cNvSpPr/>
          <p:nvPr/>
        </p:nvSpPr>
        <p:spPr>
          <a:xfrm>
            <a:off x="987552" y="4443984"/>
            <a:ext cx="402336" cy="402336"/>
          </a:xfrm>
          <a:prstGeom prst="ellipse">
            <a:avLst/>
          </a:prstGeom>
          <a:solidFill>
            <a:srgbClr val="F2A65A"/>
          </a:solidFill>
          <a:ln w="12700">
            <a:solidFill>
              <a:srgbClr val="F2A65A"/>
            </a:solidFill>
            <a:prstDash val="solid"/>
          </a:ln>
        </p:spPr>
      </p:sp>
      <p:sp>
        <p:nvSpPr>
          <p:cNvPr id="18" name="Text 16"/>
          <p:cNvSpPr/>
          <p:nvPr/>
        </p:nvSpPr>
        <p:spPr>
          <a:xfrm>
            <a:off x="987552" y="4443984"/>
            <a:ext cx="402336" cy="402336"/>
          </a:xfrm>
          <a:prstGeom prst="rect">
            <a:avLst/>
          </a:prstGeom>
          <a:noFill/>
          <a:ln/>
        </p:spPr>
        <p:txBody>
          <a:bodyPr wrap="square" lIns="0" tIns="0" rIns="0" bIns="0" rtlCol="0" anchor="ctr"/>
          <a:lstStyle/>
          <a:p>
            <a:pPr marL="0" indent="0" algn="ctr">
              <a:buNone/>
            </a:pPr>
            <a:r>
              <a:rPr lang="en-US" sz="1300" b="1" dirty="0">
                <a:solidFill>
                  <a:srgbClr val="0E1C2B"/>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591056" y="4315968"/>
            <a:ext cx="4480560" cy="658368"/>
          </a:xfrm>
          <a:prstGeom prst="rect">
            <a:avLst/>
          </a:prstGeom>
          <a:noFill/>
          <a:ln/>
        </p:spPr>
        <p:txBody>
          <a:bodyPr wrap="square" lIns="0" tIns="0" rIns="0" bIns="0" rtlCol="0" anchor="ctr"/>
          <a:lstStyle/>
          <a:p>
            <a:pPr marL="0" indent="0">
              <a:buNone/>
            </a:pPr>
            <a:r>
              <a:rPr lang="en-US" sz="1750" b="1" dirty="0">
                <a:solidFill>
                  <a:srgbClr val="0E1C2B"/>
                </a:solidFill>
                <a:latin typeface="Cambria" pitchFamily="34" charset="0"/>
                <a:ea typeface="Cambria" pitchFamily="34" charset="-122"/>
                <a:cs typeface="Cambria" pitchFamily="34" charset="-120"/>
              </a:rPr>
              <a:t>Failure-triggered replanning</a:t>
            </a:r>
            <a:endParaRPr lang="en-US" sz="1750" dirty="0"/>
          </a:p>
        </p:txBody>
      </p:sp>
      <p:sp>
        <p:nvSpPr>
          <p:cNvPr id="20" name="Text 18"/>
          <p:cNvSpPr/>
          <p:nvPr/>
        </p:nvSpPr>
        <p:spPr>
          <a:xfrm>
            <a:off x="6236208" y="4315968"/>
            <a:ext cx="4928616" cy="658368"/>
          </a:xfrm>
          <a:prstGeom prst="rect">
            <a:avLst/>
          </a:prstGeom>
          <a:noFill/>
          <a:ln/>
        </p:spPr>
        <p:txBody>
          <a:bodyPr wrap="square" lIns="0" tIns="0" rIns="0" bIns="0" rtlCol="0" anchor="ctr"/>
          <a:lstStyle/>
          <a:p>
            <a:pPr marL="0" indent="0">
              <a:lnSpc>
                <a:spcPts val="1900"/>
              </a:lnSpc>
              <a:buNone/>
            </a:pPr>
            <a:r>
              <a:rPr lang="en-US" sz="1350" dirty="0">
                <a:solidFill>
                  <a:srgbClr val="5A6B7A"/>
                </a:solidFill>
                <a:latin typeface="Calibri" pitchFamily="34" charset="0"/>
                <a:ea typeface="Calibri" pitchFamily="34" charset="-122"/>
                <a:cs typeface="Calibri" pitchFamily="34" charset="-120"/>
              </a:rPr>
              <a:t>When a skill reports failure, the state is reconstructed from ontology and simulator, and only the remaining task is replanned.</a:t>
            </a:r>
            <a:endParaRPr lang="en-US" sz="1350" dirty="0"/>
          </a:p>
        </p:txBody>
      </p:sp>
      <p:sp>
        <p:nvSpPr>
          <p:cNvPr id="21" name="Text 19"/>
          <p:cNvSpPr/>
          <p:nvPr/>
        </p:nvSpPr>
        <p:spPr>
          <a:xfrm>
            <a:off x="658368" y="5394960"/>
            <a:ext cx="10872216" cy="384048"/>
          </a:xfrm>
          <a:prstGeom prst="rect">
            <a:avLst/>
          </a:prstGeom>
          <a:noFill/>
          <a:ln/>
        </p:spPr>
        <p:txBody>
          <a:bodyPr wrap="square" lIns="0" tIns="0" rIns="0" bIns="0" rtlCol="0" anchor="ctr"/>
          <a:lstStyle/>
          <a:p>
            <a:pPr marL="0" indent="0">
              <a:buNone/>
            </a:pPr>
            <a:r>
              <a:rPr lang="en-US" sz="1450" i="1" dirty="0">
                <a:solidFill>
                  <a:srgbClr val="1C7293"/>
                </a:solidFill>
                <a:latin typeface="Calibri" pitchFamily="34" charset="0"/>
                <a:ea typeface="Calibri" pitchFamily="34" charset="-122"/>
                <a:cs typeface="Calibri" pitchFamily="34" charset="-120"/>
              </a:rPr>
              <a:t>The contribution is the system-level integration of these three parts — evaluated end-to-end against a text-only baseline in PyBullet.</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8368" y="6382512"/>
            <a:ext cx="68580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Ontology-Grounded LLM Planning  ·  IEEE RO-MAN 2026</a:t>
            </a:r>
            <a:endParaRPr lang="en-US" sz="950" dirty="0"/>
          </a:p>
        </p:txBody>
      </p:sp>
      <p:sp>
        <p:nvSpPr>
          <p:cNvPr id="3" name="Text 1"/>
          <p:cNvSpPr/>
          <p:nvPr/>
        </p:nvSpPr>
        <p:spPr>
          <a:xfrm>
            <a:off x="10433304" y="6382512"/>
            <a:ext cx="109728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5</a:t>
            </a:r>
            <a:endParaRPr lang="en-US" sz="950" dirty="0"/>
          </a:p>
        </p:txBody>
      </p:sp>
      <p:sp>
        <p:nvSpPr>
          <p:cNvPr id="4" name="Text 2"/>
          <p:cNvSpPr/>
          <p:nvPr/>
        </p:nvSpPr>
        <p:spPr>
          <a:xfrm>
            <a:off x="658368" y="384048"/>
            <a:ext cx="10872216" cy="237744"/>
          </a:xfrm>
          <a:prstGeom prst="rect">
            <a:avLst/>
          </a:prstGeom>
          <a:noFill/>
          <a:ln/>
        </p:spPr>
        <p:txBody>
          <a:bodyPr wrap="square" lIns="0" tIns="0" rIns="0" bIns="0" rtlCol="0" anchor="ctr"/>
          <a:lstStyle/>
          <a:p>
            <a:pPr marL="0" indent="0">
              <a:buNone/>
            </a:pPr>
            <a:r>
              <a:rPr lang="en-US" sz="1050" b="1" kern="0" spc="200" dirty="0">
                <a:solidFill>
                  <a:srgbClr val="F2A65A"/>
                </a:solidFill>
                <a:latin typeface="Calibri" pitchFamily="34" charset="0"/>
                <a:ea typeface="Calibri" pitchFamily="34" charset="-122"/>
                <a:cs typeface="Calibri" pitchFamily="34" charset="-120"/>
              </a:rPr>
              <a:t>METHOD · SYSTEM OVERVIEW</a:t>
            </a:r>
            <a:endParaRPr lang="en-US" sz="1050" dirty="0"/>
          </a:p>
        </p:txBody>
      </p:sp>
      <p:sp>
        <p:nvSpPr>
          <p:cNvPr id="5" name="Text 3"/>
          <p:cNvSpPr/>
          <p:nvPr/>
        </p:nvSpPr>
        <p:spPr>
          <a:xfrm>
            <a:off x="658368" y="676656"/>
            <a:ext cx="10872216" cy="566928"/>
          </a:xfrm>
          <a:prstGeom prst="rect">
            <a:avLst/>
          </a:prstGeom>
          <a:noFill/>
          <a:ln/>
        </p:spPr>
        <p:txBody>
          <a:bodyPr wrap="square" lIns="0" tIns="0" rIns="0" bIns="0" rtlCol="0" anchor="t"/>
          <a:lstStyle/>
          <a:p>
            <a:pPr marL="0" indent="0">
              <a:buNone/>
            </a:pPr>
            <a:r>
              <a:rPr lang="en-US" sz="3000" b="1" dirty="0">
                <a:solidFill>
                  <a:srgbClr val="0E1C2B"/>
                </a:solidFill>
                <a:latin typeface="Cambria" pitchFamily="34" charset="0"/>
                <a:ea typeface="Cambria" pitchFamily="34" charset="-122"/>
                <a:cs typeface="Cambria" pitchFamily="34" charset="-120"/>
              </a:rPr>
              <a:t>Architecture: from instruction to grounded execution</a:t>
            </a:r>
            <a:endParaRPr lang="en-US" sz="3000" dirty="0"/>
          </a:p>
        </p:txBody>
      </p:sp>
      <p:sp>
        <p:nvSpPr>
          <p:cNvPr id="6" name="Shape 4"/>
          <p:cNvSpPr/>
          <p:nvPr/>
        </p:nvSpPr>
        <p:spPr>
          <a:xfrm>
            <a:off x="658368" y="1481328"/>
            <a:ext cx="3442716" cy="3310128"/>
          </a:xfrm>
          <a:prstGeom prst="roundRect">
            <a:avLst>
              <a:gd name="adj" fmla="val 2210"/>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7" name="Text 5"/>
          <p:cNvSpPr/>
          <p:nvPr/>
        </p:nvSpPr>
        <p:spPr>
          <a:xfrm>
            <a:off x="896112" y="1627632"/>
            <a:ext cx="2967228" cy="329184"/>
          </a:xfrm>
          <a:prstGeom prst="rect">
            <a:avLst/>
          </a:prstGeom>
          <a:noFill/>
          <a:ln/>
        </p:spPr>
        <p:txBody>
          <a:bodyPr wrap="square" lIns="0" tIns="0" rIns="0" bIns="0" rtlCol="0" anchor="ctr"/>
          <a:lstStyle/>
          <a:p>
            <a:pPr marL="0" indent="0">
              <a:buNone/>
            </a:pPr>
            <a:r>
              <a:rPr lang="en-US" sz="1200" b="1" kern="0" spc="120" dirty="0">
                <a:solidFill>
                  <a:srgbClr val="1C7293"/>
                </a:solidFill>
                <a:latin typeface="Calibri" pitchFamily="34" charset="0"/>
                <a:ea typeface="Calibri" pitchFamily="34" charset="-122"/>
                <a:cs typeface="Calibri" pitchFamily="34" charset="-120"/>
              </a:rPr>
              <a:t>Grounding sources</a:t>
            </a:r>
            <a:endParaRPr lang="en-US" sz="1200" dirty="0"/>
          </a:p>
        </p:txBody>
      </p:sp>
      <p:sp>
        <p:nvSpPr>
          <p:cNvPr id="8" name="Shape 6"/>
          <p:cNvSpPr/>
          <p:nvPr/>
        </p:nvSpPr>
        <p:spPr>
          <a:xfrm>
            <a:off x="896112" y="2103120"/>
            <a:ext cx="2967228" cy="786384"/>
          </a:xfrm>
          <a:prstGeom prst="roundRect">
            <a:avLst>
              <a:gd name="adj" fmla="val 6977"/>
            </a:avLst>
          </a:prstGeom>
          <a:solidFill>
            <a:srgbClr val="FFFFFF"/>
          </a:solidFill>
          <a:ln w="12700">
            <a:solidFill>
              <a:srgbClr val="DCE6EC"/>
            </a:solidFill>
            <a:prstDash val="solid"/>
          </a:ln>
        </p:spPr>
      </p:sp>
      <p:sp>
        <p:nvSpPr>
          <p:cNvPr id="9" name="Text 7"/>
          <p:cNvSpPr/>
          <p:nvPr/>
        </p:nvSpPr>
        <p:spPr>
          <a:xfrm>
            <a:off x="1042416" y="2194560"/>
            <a:ext cx="2674620" cy="274320"/>
          </a:xfrm>
          <a:prstGeom prst="rect">
            <a:avLst/>
          </a:prstGeom>
          <a:noFill/>
          <a:ln/>
        </p:spPr>
        <p:txBody>
          <a:bodyPr wrap="square" lIns="0" tIns="0" rIns="0" bIns="0" rtlCol="0" anchor="ctr"/>
          <a:lstStyle/>
          <a:p>
            <a:pPr marL="0" indent="0">
              <a:buNone/>
            </a:pPr>
            <a:r>
              <a:rPr lang="en-US" sz="1300" b="1" dirty="0">
                <a:solidFill>
                  <a:srgbClr val="0E1C2B"/>
                </a:solidFill>
                <a:latin typeface="Calibri" pitchFamily="34" charset="0"/>
                <a:ea typeface="Calibri" pitchFamily="34" charset="-122"/>
                <a:cs typeface="Calibri" pitchFamily="34" charset="-120"/>
              </a:rPr>
              <a:t>Natural language input</a:t>
            </a:r>
            <a:endParaRPr lang="en-US" sz="1300" dirty="0"/>
          </a:p>
        </p:txBody>
      </p:sp>
      <p:sp>
        <p:nvSpPr>
          <p:cNvPr id="10" name="Text 8"/>
          <p:cNvSpPr/>
          <p:nvPr/>
        </p:nvSpPr>
        <p:spPr>
          <a:xfrm>
            <a:off x="1042416" y="2496312"/>
            <a:ext cx="2674620" cy="292608"/>
          </a:xfrm>
          <a:prstGeom prst="rect">
            <a:avLst/>
          </a:prstGeom>
          <a:noFill/>
          <a:ln/>
        </p:spPr>
        <p:txBody>
          <a:bodyPr wrap="square" lIns="0" tIns="0" rIns="0" bIns="0" rtlCol="0" anchor="ctr"/>
          <a:lstStyle/>
          <a:p>
            <a:pPr marL="0" indent="0">
              <a:buNone/>
            </a:pPr>
            <a:r>
              <a:rPr lang="en-US" sz="1100" dirty="0">
                <a:solidFill>
                  <a:srgbClr val="5A6B7A"/>
                </a:solidFill>
                <a:latin typeface="Calibri" pitchFamily="34" charset="0"/>
                <a:ea typeface="Calibri" pitchFamily="34" charset="-122"/>
                <a:cs typeface="Calibri" pitchFamily="34" charset="-120"/>
              </a:rPr>
              <a:t>“clear the table”</a:t>
            </a:r>
            <a:endParaRPr lang="en-US" sz="1100" dirty="0"/>
          </a:p>
        </p:txBody>
      </p:sp>
      <p:sp>
        <p:nvSpPr>
          <p:cNvPr id="11" name="Shape 9"/>
          <p:cNvSpPr/>
          <p:nvPr/>
        </p:nvSpPr>
        <p:spPr>
          <a:xfrm>
            <a:off x="896112" y="3017520"/>
            <a:ext cx="2967228" cy="786384"/>
          </a:xfrm>
          <a:prstGeom prst="roundRect">
            <a:avLst>
              <a:gd name="adj" fmla="val 6977"/>
            </a:avLst>
          </a:prstGeom>
          <a:solidFill>
            <a:srgbClr val="FFFFFF"/>
          </a:solidFill>
          <a:ln w="12700">
            <a:solidFill>
              <a:srgbClr val="DCE6EC"/>
            </a:solidFill>
            <a:prstDash val="solid"/>
          </a:ln>
        </p:spPr>
      </p:sp>
      <p:sp>
        <p:nvSpPr>
          <p:cNvPr id="12" name="Text 10"/>
          <p:cNvSpPr/>
          <p:nvPr/>
        </p:nvSpPr>
        <p:spPr>
          <a:xfrm>
            <a:off x="1042416" y="3108960"/>
            <a:ext cx="2674620" cy="274320"/>
          </a:xfrm>
          <a:prstGeom prst="rect">
            <a:avLst/>
          </a:prstGeom>
          <a:noFill/>
          <a:ln/>
        </p:spPr>
        <p:txBody>
          <a:bodyPr wrap="square" lIns="0" tIns="0" rIns="0" bIns="0" rtlCol="0" anchor="ctr"/>
          <a:lstStyle/>
          <a:p>
            <a:pPr marL="0" indent="0">
              <a:buNone/>
            </a:pPr>
            <a:r>
              <a:rPr lang="en-US" sz="1300" b="1" dirty="0">
                <a:solidFill>
                  <a:srgbClr val="0E1C2B"/>
                </a:solidFill>
                <a:latin typeface="Calibri" pitchFamily="34" charset="0"/>
                <a:ea typeface="Calibri" pitchFamily="34" charset="-122"/>
                <a:cs typeface="Calibri" pitchFamily="34" charset="-120"/>
              </a:rPr>
              <a:t>Ontology world model</a:t>
            </a:r>
            <a:endParaRPr lang="en-US" sz="1300" dirty="0"/>
          </a:p>
        </p:txBody>
      </p:sp>
      <p:sp>
        <p:nvSpPr>
          <p:cNvPr id="13" name="Text 11"/>
          <p:cNvSpPr/>
          <p:nvPr/>
        </p:nvSpPr>
        <p:spPr>
          <a:xfrm>
            <a:off x="1042416" y="3410712"/>
            <a:ext cx="2674620" cy="292608"/>
          </a:xfrm>
          <a:prstGeom prst="rect">
            <a:avLst/>
          </a:prstGeom>
          <a:noFill/>
          <a:ln/>
        </p:spPr>
        <p:txBody>
          <a:bodyPr wrap="square" lIns="0" tIns="0" rIns="0" bIns="0" rtlCol="0" anchor="ctr"/>
          <a:lstStyle/>
          <a:p>
            <a:pPr marL="0" indent="0">
              <a:buNone/>
            </a:pPr>
            <a:r>
              <a:rPr lang="en-US" sz="1100" dirty="0">
                <a:solidFill>
                  <a:srgbClr val="5A6B7A"/>
                </a:solidFill>
                <a:latin typeface="Calibri" pitchFamily="34" charset="0"/>
                <a:ea typeface="Calibri" pitchFamily="34" charset="-122"/>
                <a:cs typeface="Calibri" pitchFamily="34" charset="-120"/>
              </a:rPr>
              <a:t>types · poses · support relations</a:t>
            </a:r>
            <a:endParaRPr lang="en-US" sz="1100" dirty="0"/>
          </a:p>
        </p:txBody>
      </p:sp>
      <p:sp>
        <p:nvSpPr>
          <p:cNvPr id="14" name="Shape 12"/>
          <p:cNvSpPr/>
          <p:nvPr/>
        </p:nvSpPr>
        <p:spPr>
          <a:xfrm>
            <a:off x="896112" y="3931920"/>
            <a:ext cx="2967228" cy="786384"/>
          </a:xfrm>
          <a:prstGeom prst="roundRect">
            <a:avLst>
              <a:gd name="adj" fmla="val 6977"/>
            </a:avLst>
          </a:prstGeom>
          <a:solidFill>
            <a:srgbClr val="FFFFFF"/>
          </a:solidFill>
          <a:ln w="12700">
            <a:solidFill>
              <a:srgbClr val="DCE6EC"/>
            </a:solidFill>
            <a:prstDash val="solid"/>
          </a:ln>
        </p:spPr>
      </p:sp>
      <p:sp>
        <p:nvSpPr>
          <p:cNvPr id="15" name="Text 13"/>
          <p:cNvSpPr/>
          <p:nvPr/>
        </p:nvSpPr>
        <p:spPr>
          <a:xfrm>
            <a:off x="1042416" y="4023360"/>
            <a:ext cx="2674620" cy="274320"/>
          </a:xfrm>
          <a:prstGeom prst="rect">
            <a:avLst/>
          </a:prstGeom>
          <a:noFill/>
          <a:ln/>
        </p:spPr>
        <p:txBody>
          <a:bodyPr wrap="square" lIns="0" tIns="0" rIns="0" bIns="0" rtlCol="0" anchor="ctr"/>
          <a:lstStyle/>
          <a:p>
            <a:pPr marL="0" indent="0">
              <a:buNone/>
            </a:pPr>
            <a:r>
              <a:rPr lang="en-US" sz="1300" b="1" dirty="0">
                <a:solidFill>
                  <a:srgbClr val="0E1C2B"/>
                </a:solidFill>
                <a:latin typeface="Calibri" pitchFamily="34" charset="0"/>
                <a:ea typeface="Calibri" pitchFamily="34" charset="-122"/>
                <a:cs typeface="Calibri" pitchFamily="34" charset="-120"/>
              </a:rPr>
              <a:t>Grounded state  Sₜ</a:t>
            </a:r>
            <a:endParaRPr lang="en-US" sz="1300" dirty="0"/>
          </a:p>
        </p:txBody>
      </p:sp>
      <p:sp>
        <p:nvSpPr>
          <p:cNvPr id="16" name="Text 14"/>
          <p:cNvSpPr/>
          <p:nvPr/>
        </p:nvSpPr>
        <p:spPr>
          <a:xfrm>
            <a:off x="1042416" y="4325112"/>
            <a:ext cx="2674620" cy="292608"/>
          </a:xfrm>
          <a:prstGeom prst="rect">
            <a:avLst/>
          </a:prstGeom>
          <a:noFill/>
          <a:ln/>
        </p:spPr>
        <p:txBody>
          <a:bodyPr wrap="square" lIns="0" tIns="0" rIns="0" bIns="0" rtlCol="0" anchor="ctr"/>
          <a:lstStyle/>
          <a:p>
            <a:pPr marL="0" indent="0">
              <a:buNone/>
            </a:pPr>
            <a:r>
              <a:rPr lang="en-US" sz="1100" dirty="0">
                <a:solidFill>
                  <a:srgbClr val="5A6B7A"/>
                </a:solidFill>
                <a:latin typeface="Calibri" pitchFamily="34" charset="0"/>
                <a:ea typeface="Calibri" pitchFamily="34" charset="-122"/>
                <a:cs typeface="Calibri" pitchFamily="34" charset="-120"/>
              </a:rPr>
              <a:t>Sₜ = {Oₜ, Rₜ, Hₜ, Lₜ}</a:t>
            </a:r>
            <a:endParaRPr lang="en-US" sz="1100" dirty="0"/>
          </a:p>
        </p:txBody>
      </p:sp>
      <p:sp>
        <p:nvSpPr>
          <p:cNvPr id="17" name="Shape 15"/>
          <p:cNvSpPr/>
          <p:nvPr/>
        </p:nvSpPr>
        <p:spPr>
          <a:xfrm>
            <a:off x="4375404" y="1481328"/>
            <a:ext cx="3442716" cy="3310128"/>
          </a:xfrm>
          <a:prstGeom prst="roundRect">
            <a:avLst>
              <a:gd name="adj" fmla="val 2210"/>
            </a:avLst>
          </a:prstGeom>
          <a:solidFill>
            <a:srgbClr val="E3EEF3"/>
          </a:solidFill>
          <a:ln w="12700">
            <a:solidFill>
              <a:srgbClr val="E3EEF3"/>
            </a:solidFill>
            <a:prstDash val="solid"/>
          </a:ln>
          <a:effectLst>
            <a:outerShdw blurRad="127000" dist="25400" dir="5400000" algn="bl" rotWithShape="0">
              <a:srgbClr val="0E1C2B">
                <a:alpha val="10000"/>
              </a:srgbClr>
            </a:outerShdw>
          </a:effectLst>
        </p:spPr>
      </p:sp>
      <p:sp>
        <p:nvSpPr>
          <p:cNvPr id="18" name="Text 16"/>
          <p:cNvSpPr/>
          <p:nvPr/>
        </p:nvSpPr>
        <p:spPr>
          <a:xfrm>
            <a:off x="4613148" y="1627632"/>
            <a:ext cx="2967228" cy="329184"/>
          </a:xfrm>
          <a:prstGeom prst="rect">
            <a:avLst/>
          </a:prstGeom>
          <a:noFill/>
          <a:ln/>
        </p:spPr>
        <p:txBody>
          <a:bodyPr wrap="square" lIns="0" tIns="0" rIns="0" bIns="0" rtlCol="0" anchor="ctr"/>
          <a:lstStyle/>
          <a:p>
            <a:pPr marL="0" indent="0">
              <a:buNone/>
            </a:pPr>
            <a:r>
              <a:rPr lang="en-US" sz="1200" b="1" kern="0" spc="120" dirty="0">
                <a:solidFill>
                  <a:srgbClr val="1C7293"/>
                </a:solidFill>
                <a:latin typeface="Calibri" pitchFamily="34" charset="0"/>
                <a:ea typeface="Calibri" pitchFamily="34" charset="-122"/>
                <a:cs typeface="Calibri" pitchFamily="34" charset="-120"/>
              </a:rPr>
              <a:t>Symbolic planning</a:t>
            </a:r>
            <a:endParaRPr lang="en-US" sz="1200" dirty="0"/>
          </a:p>
        </p:txBody>
      </p:sp>
      <p:sp>
        <p:nvSpPr>
          <p:cNvPr id="19" name="Shape 17"/>
          <p:cNvSpPr/>
          <p:nvPr/>
        </p:nvSpPr>
        <p:spPr>
          <a:xfrm>
            <a:off x="4613148" y="2103120"/>
            <a:ext cx="2967228" cy="786384"/>
          </a:xfrm>
          <a:prstGeom prst="roundRect">
            <a:avLst>
              <a:gd name="adj" fmla="val 6977"/>
            </a:avLst>
          </a:prstGeom>
          <a:solidFill>
            <a:srgbClr val="FFFFFF"/>
          </a:solidFill>
          <a:ln w="12700">
            <a:solidFill>
              <a:srgbClr val="DCE6EC"/>
            </a:solidFill>
            <a:prstDash val="solid"/>
          </a:ln>
        </p:spPr>
      </p:sp>
      <p:sp>
        <p:nvSpPr>
          <p:cNvPr id="20" name="Text 18"/>
          <p:cNvSpPr/>
          <p:nvPr/>
        </p:nvSpPr>
        <p:spPr>
          <a:xfrm>
            <a:off x="4759452" y="2194560"/>
            <a:ext cx="2674620" cy="274320"/>
          </a:xfrm>
          <a:prstGeom prst="rect">
            <a:avLst/>
          </a:prstGeom>
          <a:noFill/>
          <a:ln/>
        </p:spPr>
        <p:txBody>
          <a:bodyPr wrap="square" lIns="0" tIns="0" rIns="0" bIns="0" rtlCol="0" anchor="ctr"/>
          <a:lstStyle/>
          <a:p>
            <a:pPr marL="0" indent="0">
              <a:buNone/>
            </a:pPr>
            <a:r>
              <a:rPr lang="en-US" sz="1300" b="1" dirty="0">
                <a:solidFill>
                  <a:srgbClr val="0E1C2B"/>
                </a:solidFill>
                <a:latin typeface="Calibri" pitchFamily="34" charset="0"/>
                <a:ea typeface="Calibri" pitchFamily="34" charset="-122"/>
                <a:cs typeface="Calibri" pitchFamily="34" charset="-120"/>
              </a:rPr>
              <a:t>Simulator observations</a:t>
            </a:r>
            <a:endParaRPr lang="en-US" sz="1300" dirty="0"/>
          </a:p>
        </p:txBody>
      </p:sp>
      <p:sp>
        <p:nvSpPr>
          <p:cNvPr id="21" name="Text 19"/>
          <p:cNvSpPr/>
          <p:nvPr/>
        </p:nvSpPr>
        <p:spPr>
          <a:xfrm>
            <a:off x="4759452" y="2496312"/>
            <a:ext cx="2674620" cy="292608"/>
          </a:xfrm>
          <a:prstGeom prst="rect">
            <a:avLst/>
          </a:prstGeom>
          <a:noFill/>
          <a:ln/>
        </p:spPr>
        <p:txBody>
          <a:bodyPr wrap="square" lIns="0" tIns="0" rIns="0" bIns="0" rtlCol="0" anchor="ctr"/>
          <a:lstStyle/>
          <a:p>
            <a:pPr marL="0" indent="0">
              <a:buNone/>
            </a:pPr>
            <a:r>
              <a:rPr lang="en-US" sz="1100" dirty="0">
                <a:solidFill>
                  <a:srgbClr val="5A6B7A"/>
                </a:solidFill>
                <a:latin typeface="Calibri" pitchFamily="34" charset="0"/>
                <a:ea typeface="Calibri" pitchFamily="34" charset="-122"/>
                <a:cs typeface="Calibri" pitchFamily="34" charset="-120"/>
              </a:rPr>
              <a:t>current geometric configuration</a:t>
            </a:r>
            <a:endParaRPr lang="en-US" sz="1100" dirty="0"/>
          </a:p>
        </p:txBody>
      </p:sp>
      <p:sp>
        <p:nvSpPr>
          <p:cNvPr id="22" name="Shape 20"/>
          <p:cNvSpPr/>
          <p:nvPr/>
        </p:nvSpPr>
        <p:spPr>
          <a:xfrm>
            <a:off x="4613148" y="3017520"/>
            <a:ext cx="2967228" cy="786384"/>
          </a:xfrm>
          <a:prstGeom prst="roundRect">
            <a:avLst>
              <a:gd name="adj" fmla="val 6977"/>
            </a:avLst>
          </a:prstGeom>
          <a:solidFill>
            <a:srgbClr val="FFFFFF"/>
          </a:solidFill>
          <a:ln w="12700">
            <a:solidFill>
              <a:srgbClr val="DCE6EC"/>
            </a:solidFill>
            <a:prstDash val="solid"/>
          </a:ln>
        </p:spPr>
      </p:sp>
      <p:sp>
        <p:nvSpPr>
          <p:cNvPr id="23" name="Text 21"/>
          <p:cNvSpPr/>
          <p:nvPr/>
        </p:nvSpPr>
        <p:spPr>
          <a:xfrm>
            <a:off x="4759452" y="3108960"/>
            <a:ext cx="2674620" cy="274320"/>
          </a:xfrm>
          <a:prstGeom prst="rect">
            <a:avLst/>
          </a:prstGeom>
          <a:noFill/>
          <a:ln/>
        </p:spPr>
        <p:txBody>
          <a:bodyPr wrap="square" lIns="0" tIns="0" rIns="0" bIns="0" rtlCol="0" anchor="ctr"/>
          <a:lstStyle/>
          <a:p>
            <a:pPr marL="0" indent="0">
              <a:buNone/>
            </a:pPr>
            <a:r>
              <a:rPr lang="en-US" sz="1300" b="1" dirty="0">
                <a:solidFill>
                  <a:srgbClr val="0E1C2B"/>
                </a:solidFill>
                <a:latin typeface="Calibri" pitchFamily="34" charset="0"/>
                <a:ea typeface="Calibri" pitchFamily="34" charset="-122"/>
                <a:cs typeface="Calibri" pitchFamily="34" charset="-120"/>
              </a:rPr>
              <a:t>LLM task planner</a:t>
            </a:r>
            <a:endParaRPr lang="en-US" sz="1300" dirty="0"/>
          </a:p>
        </p:txBody>
      </p:sp>
      <p:sp>
        <p:nvSpPr>
          <p:cNvPr id="24" name="Text 22"/>
          <p:cNvSpPr/>
          <p:nvPr/>
        </p:nvSpPr>
        <p:spPr>
          <a:xfrm>
            <a:off x="4759452" y="3410712"/>
            <a:ext cx="2674620" cy="292608"/>
          </a:xfrm>
          <a:prstGeom prst="rect">
            <a:avLst/>
          </a:prstGeom>
          <a:noFill/>
          <a:ln/>
        </p:spPr>
        <p:txBody>
          <a:bodyPr wrap="square" lIns="0" tIns="0" rIns="0" bIns="0" rtlCol="0" anchor="ctr"/>
          <a:lstStyle/>
          <a:p>
            <a:pPr marL="0" indent="0">
              <a:buNone/>
            </a:pPr>
            <a:r>
              <a:rPr lang="en-US" sz="1100" dirty="0">
                <a:solidFill>
                  <a:srgbClr val="5A6B7A"/>
                </a:solidFill>
                <a:latin typeface="Calibri" pitchFamily="34" charset="0"/>
                <a:ea typeface="Calibri" pitchFamily="34" charset="-122"/>
                <a:cs typeface="Calibri" pitchFamily="34" charset="-120"/>
              </a:rPr>
              <a:t>πₜ = F_LLM(x, Sₜ, 𝒜)</a:t>
            </a:r>
            <a:endParaRPr lang="en-US" sz="1100" dirty="0"/>
          </a:p>
        </p:txBody>
      </p:sp>
      <p:sp>
        <p:nvSpPr>
          <p:cNvPr id="25" name="Shape 23"/>
          <p:cNvSpPr/>
          <p:nvPr/>
        </p:nvSpPr>
        <p:spPr>
          <a:xfrm>
            <a:off x="4613148" y="3931920"/>
            <a:ext cx="2967228" cy="786384"/>
          </a:xfrm>
          <a:prstGeom prst="roundRect">
            <a:avLst>
              <a:gd name="adj" fmla="val 6977"/>
            </a:avLst>
          </a:prstGeom>
          <a:solidFill>
            <a:srgbClr val="FFFFFF"/>
          </a:solidFill>
          <a:ln w="12700">
            <a:solidFill>
              <a:srgbClr val="DCE6EC"/>
            </a:solidFill>
            <a:prstDash val="solid"/>
          </a:ln>
        </p:spPr>
      </p:sp>
      <p:sp>
        <p:nvSpPr>
          <p:cNvPr id="26" name="Text 24"/>
          <p:cNvSpPr/>
          <p:nvPr/>
        </p:nvSpPr>
        <p:spPr>
          <a:xfrm>
            <a:off x="4759452" y="4023360"/>
            <a:ext cx="2674620" cy="274320"/>
          </a:xfrm>
          <a:prstGeom prst="rect">
            <a:avLst/>
          </a:prstGeom>
          <a:noFill/>
          <a:ln/>
        </p:spPr>
        <p:txBody>
          <a:bodyPr wrap="square" lIns="0" tIns="0" rIns="0" bIns="0" rtlCol="0" anchor="ctr"/>
          <a:lstStyle/>
          <a:p>
            <a:pPr marL="0" indent="0">
              <a:buNone/>
            </a:pPr>
            <a:r>
              <a:rPr lang="en-US" sz="1300" b="1" dirty="0">
                <a:solidFill>
                  <a:srgbClr val="0E1C2B"/>
                </a:solidFill>
                <a:latin typeface="Calibri" pitchFamily="34" charset="0"/>
                <a:ea typeface="Calibri" pitchFamily="34" charset="-122"/>
                <a:cs typeface="Calibri" pitchFamily="34" charset="-120"/>
              </a:rPr>
              <a:t>Plan validation</a:t>
            </a:r>
            <a:endParaRPr lang="en-US" sz="1300" dirty="0"/>
          </a:p>
        </p:txBody>
      </p:sp>
      <p:sp>
        <p:nvSpPr>
          <p:cNvPr id="27" name="Text 25"/>
          <p:cNvSpPr/>
          <p:nvPr/>
        </p:nvSpPr>
        <p:spPr>
          <a:xfrm>
            <a:off x="4759452" y="4325112"/>
            <a:ext cx="2674620" cy="292608"/>
          </a:xfrm>
          <a:prstGeom prst="rect">
            <a:avLst/>
          </a:prstGeom>
          <a:noFill/>
          <a:ln/>
        </p:spPr>
        <p:txBody>
          <a:bodyPr wrap="square" lIns="0" tIns="0" rIns="0" bIns="0" rtlCol="0" anchor="ctr"/>
          <a:lstStyle/>
          <a:p>
            <a:pPr marL="0" indent="0">
              <a:buNone/>
            </a:pPr>
            <a:r>
              <a:rPr lang="en-US" sz="1100" dirty="0">
                <a:solidFill>
                  <a:srgbClr val="5A6B7A"/>
                </a:solidFill>
                <a:latin typeface="Calibri" pitchFamily="34" charset="0"/>
                <a:ea typeface="Calibri" pitchFamily="34" charset="-122"/>
                <a:cs typeface="Calibri" pitchFamily="34" charset="-120"/>
              </a:rPr>
              <a:t>V(πₜ, Sₜ) ∈ {0, 1}</a:t>
            </a:r>
            <a:endParaRPr lang="en-US" sz="1100" dirty="0"/>
          </a:p>
        </p:txBody>
      </p:sp>
      <p:sp>
        <p:nvSpPr>
          <p:cNvPr id="28" name="Shape 26"/>
          <p:cNvSpPr/>
          <p:nvPr/>
        </p:nvSpPr>
        <p:spPr>
          <a:xfrm>
            <a:off x="8092440" y="1481328"/>
            <a:ext cx="3442716" cy="3310128"/>
          </a:xfrm>
          <a:prstGeom prst="roundRect">
            <a:avLst>
              <a:gd name="adj" fmla="val 2210"/>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29" name="Text 27"/>
          <p:cNvSpPr/>
          <p:nvPr/>
        </p:nvSpPr>
        <p:spPr>
          <a:xfrm>
            <a:off x="8330184" y="1627632"/>
            <a:ext cx="2967228" cy="329184"/>
          </a:xfrm>
          <a:prstGeom prst="rect">
            <a:avLst/>
          </a:prstGeom>
          <a:noFill/>
          <a:ln/>
        </p:spPr>
        <p:txBody>
          <a:bodyPr wrap="square" lIns="0" tIns="0" rIns="0" bIns="0" rtlCol="0" anchor="ctr"/>
          <a:lstStyle/>
          <a:p>
            <a:pPr marL="0" indent="0">
              <a:buNone/>
            </a:pPr>
            <a:r>
              <a:rPr lang="en-US" sz="1200" b="1" kern="0" spc="120" dirty="0">
                <a:solidFill>
                  <a:srgbClr val="1C7293"/>
                </a:solidFill>
                <a:latin typeface="Calibri" pitchFamily="34" charset="0"/>
                <a:ea typeface="Calibri" pitchFamily="34" charset="-122"/>
                <a:cs typeface="Calibri" pitchFamily="34" charset="-120"/>
              </a:rPr>
              <a:t>Execution and feedback</a:t>
            </a:r>
            <a:endParaRPr lang="en-US" sz="1200" dirty="0"/>
          </a:p>
        </p:txBody>
      </p:sp>
      <p:sp>
        <p:nvSpPr>
          <p:cNvPr id="30" name="Shape 28"/>
          <p:cNvSpPr/>
          <p:nvPr/>
        </p:nvSpPr>
        <p:spPr>
          <a:xfrm>
            <a:off x="8330184" y="2103120"/>
            <a:ext cx="2967228" cy="786384"/>
          </a:xfrm>
          <a:prstGeom prst="roundRect">
            <a:avLst>
              <a:gd name="adj" fmla="val 6977"/>
            </a:avLst>
          </a:prstGeom>
          <a:solidFill>
            <a:srgbClr val="FFFFFF"/>
          </a:solidFill>
          <a:ln w="12700">
            <a:solidFill>
              <a:srgbClr val="DCE6EC"/>
            </a:solidFill>
            <a:prstDash val="solid"/>
          </a:ln>
        </p:spPr>
      </p:sp>
      <p:sp>
        <p:nvSpPr>
          <p:cNvPr id="31" name="Text 29"/>
          <p:cNvSpPr/>
          <p:nvPr/>
        </p:nvSpPr>
        <p:spPr>
          <a:xfrm>
            <a:off x="8476488" y="2194560"/>
            <a:ext cx="2674620" cy="274320"/>
          </a:xfrm>
          <a:prstGeom prst="rect">
            <a:avLst/>
          </a:prstGeom>
          <a:noFill/>
          <a:ln/>
        </p:spPr>
        <p:txBody>
          <a:bodyPr wrap="square" lIns="0" tIns="0" rIns="0" bIns="0" rtlCol="0" anchor="ctr"/>
          <a:lstStyle/>
          <a:p>
            <a:pPr marL="0" indent="0">
              <a:buNone/>
            </a:pPr>
            <a:r>
              <a:rPr lang="en-US" sz="1300" b="1" dirty="0">
                <a:solidFill>
                  <a:srgbClr val="0E1C2B"/>
                </a:solidFill>
                <a:latin typeface="Calibri" pitchFamily="34" charset="0"/>
                <a:ea typeface="Calibri" pitchFamily="34" charset="-122"/>
                <a:cs typeface="Calibri" pitchFamily="34" charset="-120"/>
              </a:rPr>
              <a:t>Validated symbolic plan</a:t>
            </a:r>
            <a:endParaRPr lang="en-US" sz="1300" dirty="0"/>
          </a:p>
        </p:txBody>
      </p:sp>
      <p:sp>
        <p:nvSpPr>
          <p:cNvPr id="32" name="Text 30"/>
          <p:cNvSpPr/>
          <p:nvPr/>
        </p:nvSpPr>
        <p:spPr>
          <a:xfrm>
            <a:off x="8476488" y="2496312"/>
            <a:ext cx="2674620" cy="292608"/>
          </a:xfrm>
          <a:prstGeom prst="rect">
            <a:avLst/>
          </a:prstGeom>
          <a:noFill/>
          <a:ln/>
        </p:spPr>
        <p:txBody>
          <a:bodyPr wrap="square" lIns="0" tIns="0" rIns="0" bIns="0" rtlCol="0" anchor="ctr"/>
          <a:lstStyle/>
          <a:p>
            <a:pPr marL="0" indent="0">
              <a:buNone/>
            </a:pPr>
            <a:r>
              <a:rPr lang="en-US" sz="1100" dirty="0">
                <a:solidFill>
                  <a:srgbClr val="5A6B7A"/>
                </a:solidFill>
                <a:latin typeface="Calibri" pitchFamily="34" charset="0"/>
                <a:ea typeface="Calibri" pitchFamily="34" charset="-122"/>
                <a:cs typeface="Calibri" pitchFamily="34" charset="-120"/>
              </a:rPr>
              <a:t>ordered pick / place sequence</a:t>
            </a:r>
            <a:endParaRPr lang="en-US" sz="1100" dirty="0"/>
          </a:p>
        </p:txBody>
      </p:sp>
      <p:sp>
        <p:nvSpPr>
          <p:cNvPr id="33" name="Shape 31"/>
          <p:cNvSpPr/>
          <p:nvPr/>
        </p:nvSpPr>
        <p:spPr>
          <a:xfrm>
            <a:off x="8330184" y="3017520"/>
            <a:ext cx="2967228" cy="786384"/>
          </a:xfrm>
          <a:prstGeom prst="roundRect">
            <a:avLst>
              <a:gd name="adj" fmla="val 6977"/>
            </a:avLst>
          </a:prstGeom>
          <a:solidFill>
            <a:srgbClr val="FFFFFF"/>
          </a:solidFill>
          <a:ln w="12700">
            <a:solidFill>
              <a:srgbClr val="DCE6EC"/>
            </a:solidFill>
            <a:prstDash val="solid"/>
          </a:ln>
        </p:spPr>
      </p:sp>
      <p:sp>
        <p:nvSpPr>
          <p:cNvPr id="34" name="Text 32"/>
          <p:cNvSpPr/>
          <p:nvPr/>
        </p:nvSpPr>
        <p:spPr>
          <a:xfrm>
            <a:off x="8476488" y="3108960"/>
            <a:ext cx="2674620" cy="274320"/>
          </a:xfrm>
          <a:prstGeom prst="rect">
            <a:avLst/>
          </a:prstGeom>
          <a:noFill/>
          <a:ln/>
        </p:spPr>
        <p:txBody>
          <a:bodyPr wrap="square" lIns="0" tIns="0" rIns="0" bIns="0" rtlCol="0" anchor="ctr"/>
          <a:lstStyle/>
          <a:p>
            <a:pPr marL="0" indent="0">
              <a:buNone/>
            </a:pPr>
            <a:r>
              <a:rPr lang="en-US" sz="1300" b="1" dirty="0">
                <a:solidFill>
                  <a:srgbClr val="0E1C2B"/>
                </a:solidFill>
                <a:latin typeface="Calibri" pitchFamily="34" charset="0"/>
                <a:ea typeface="Calibri" pitchFamily="34" charset="-122"/>
                <a:cs typeface="Calibri" pitchFamily="34" charset="-120"/>
              </a:rPr>
              <a:t>Skill execution</a:t>
            </a:r>
            <a:endParaRPr lang="en-US" sz="1300" dirty="0"/>
          </a:p>
        </p:txBody>
      </p:sp>
      <p:sp>
        <p:nvSpPr>
          <p:cNvPr id="35" name="Text 33"/>
          <p:cNvSpPr/>
          <p:nvPr/>
        </p:nvSpPr>
        <p:spPr>
          <a:xfrm>
            <a:off x="8476488" y="3410712"/>
            <a:ext cx="2674620" cy="292608"/>
          </a:xfrm>
          <a:prstGeom prst="rect">
            <a:avLst/>
          </a:prstGeom>
          <a:noFill/>
          <a:ln/>
        </p:spPr>
        <p:txBody>
          <a:bodyPr wrap="square" lIns="0" tIns="0" rIns="0" bIns="0" rtlCol="0" anchor="ctr"/>
          <a:lstStyle/>
          <a:p>
            <a:pPr marL="0" indent="0">
              <a:buNone/>
            </a:pPr>
            <a:r>
              <a:rPr lang="en-US" sz="1100" dirty="0">
                <a:solidFill>
                  <a:srgbClr val="5A6B7A"/>
                </a:solidFill>
                <a:latin typeface="Calibri" pitchFamily="34" charset="0"/>
                <a:ea typeface="Calibri" pitchFamily="34" charset="-122"/>
                <a:cs typeface="Calibri" pitchFamily="34" charset="-120"/>
              </a:rPr>
              <a:t>predefined manipulation skills</a:t>
            </a:r>
            <a:endParaRPr lang="en-US" sz="1100" dirty="0"/>
          </a:p>
        </p:txBody>
      </p:sp>
      <p:sp>
        <p:nvSpPr>
          <p:cNvPr id="36" name="Shape 34"/>
          <p:cNvSpPr/>
          <p:nvPr/>
        </p:nvSpPr>
        <p:spPr>
          <a:xfrm>
            <a:off x="8330184" y="3931920"/>
            <a:ext cx="2967228" cy="786384"/>
          </a:xfrm>
          <a:prstGeom prst="roundRect">
            <a:avLst>
              <a:gd name="adj" fmla="val 6977"/>
            </a:avLst>
          </a:prstGeom>
          <a:solidFill>
            <a:srgbClr val="FFFFFF"/>
          </a:solidFill>
          <a:ln w="12700">
            <a:solidFill>
              <a:srgbClr val="DCE6EC"/>
            </a:solidFill>
            <a:prstDash val="solid"/>
          </a:ln>
        </p:spPr>
      </p:sp>
      <p:sp>
        <p:nvSpPr>
          <p:cNvPr id="37" name="Text 35"/>
          <p:cNvSpPr/>
          <p:nvPr/>
        </p:nvSpPr>
        <p:spPr>
          <a:xfrm>
            <a:off x="8476488" y="4023360"/>
            <a:ext cx="2674620" cy="274320"/>
          </a:xfrm>
          <a:prstGeom prst="rect">
            <a:avLst/>
          </a:prstGeom>
          <a:noFill/>
          <a:ln/>
        </p:spPr>
        <p:txBody>
          <a:bodyPr wrap="square" lIns="0" tIns="0" rIns="0" bIns="0" rtlCol="0" anchor="ctr"/>
          <a:lstStyle/>
          <a:p>
            <a:pPr marL="0" indent="0">
              <a:buNone/>
            </a:pPr>
            <a:r>
              <a:rPr lang="en-US" sz="1300" b="1" dirty="0">
                <a:solidFill>
                  <a:srgbClr val="0E1C2B"/>
                </a:solidFill>
                <a:latin typeface="Calibri" pitchFamily="34" charset="0"/>
                <a:ea typeface="Calibri" pitchFamily="34" charset="-122"/>
                <a:cs typeface="Calibri" pitchFamily="34" charset="-120"/>
              </a:rPr>
              <a:t>Update or replan</a:t>
            </a:r>
            <a:endParaRPr lang="en-US" sz="1300" dirty="0"/>
          </a:p>
        </p:txBody>
      </p:sp>
      <p:sp>
        <p:nvSpPr>
          <p:cNvPr id="38" name="Text 36"/>
          <p:cNvSpPr/>
          <p:nvPr/>
        </p:nvSpPr>
        <p:spPr>
          <a:xfrm>
            <a:off x="8476488" y="4325112"/>
            <a:ext cx="2674620" cy="292608"/>
          </a:xfrm>
          <a:prstGeom prst="rect">
            <a:avLst/>
          </a:prstGeom>
          <a:noFill/>
          <a:ln/>
        </p:spPr>
        <p:txBody>
          <a:bodyPr wrap="square" lIns="0" tIns="0" rIns="0" bIns="0" rtlCol="0" anchor="ctr"/>
          <a:lstStyle/>
          <a:p>
            <a:pPr marL="0" indent="0">
              <a:buNone/>
            </a:pPr>
            <a:r>
              <a:rPr lang="en-US" sz="1100" dirty="0">
                <a:solidFill>
                  <a:srgbClr val="5A6B7A"/>
                </a:solidFill>
                <a:latin typeface="Calibri" pitchFamily="34" charset="0"/>
                <a:ea typeface="Calibri" pitchFamily="34" charset="-122"/>
                <a:cs typeface="Calibri" pitchFamily="34" charset="-120"/>
              </a:rPr>
              <a:t>Sₜ₊₁ = E(aₜᵏ, Sₜ)</a:t>
            </a:r>
            <a:endParaRPr lang="en-US" sz="1100" dirty="0"/>
          </a:p>
        </p:txBody>
      </p:sp>
      <p:sp>
        <p:nvSpPr>
          <p:cNvPr id="39" name="Shape 37"/>
          <p:cNvSpPr/>
          <p:nvPr/>
        </p:nvSpPr>
        <p:spPr>
          <a:xfrm>
            <a:off x="4169664" y="2962656"/>
            <a:ext cx="182880" cy="256032"/>
          </a:xfrm>
          <a:prstGeom prst="rightArrow">
            <a:avLst/>
          </a:prstGeom>
          <a:solidFill>
            <a:srgbClr val="F2A65A"/>
          </a:solidFill>
          <a:ln w="12700">
            <a:solidFill>
              <a:srgbClr val="F2A65A"/>
            </a:solidFill>
            <a:prstDash val="solid"/>
          </a:ln>
        </p:spPr>
      </p:sp>
      <p:sp>
        <p:nvSpPr>
          <p:cNvPr id="40" name="Shape 38"/>
          <p:cNvSpPr/>
          <p:nvPr/>
        </p:nvSpPr>
        <p:spPr>
          <a:xfrm>
            <a:off x="7886700" y="2962656"/>
            <a:ext cx="182880" cy="256032"/>
          </a:xfrm>
          <a:prstGeom prst="rightArrow">
            <a:avLst/>
          </a:prstGeom>
          <a:solidFill>
            <a:srgbClr val="F2A65A"/>
          </a:solidFill>
          <a:ln w="12700">
            <a:solidFill>
              <a:srgbClr val="F2A65A"/>
            </a:solidFill>
            <a:prstDash val="solid"/>
          </a:ln>
        </p:spPr>
      </p:sp>
      <p:sp>
        <p:nvSpPr>
          <p:cNvPr id="41" name="Shape 39"/>
          <p:cNvSpPr/>
          <p:nvPr/>
        </p:nvSpPr>
        <p:spPr>
          <a:xfrm>
            <a:off x="1481328" y="5120640"/>
            <a:ext cx="8860536" cy="0"/>
          </a:xfrm>
          <a:prstGeom prst="line">
            <a:avLst/>
          </a:prstGeom>
          <a:noFill/>
          <a:ln w="22225">
            <a:solidFill>
              <a:srgbClr val="1C7293"/>
            </a:solidFill>
            <a:prstDash val="dash"/>
            <a:headEnd type="triangle"/>
          </a:ln>
        </p:spPr>
      </p:sp>
      <p:sp>
        <p:nvSpPr>
          <p:cNvPr id="42" name="Shape 40"/>
          <p:cNvSpPr/>
          <p:nvPr/>
        </p:nvSpPr>
        <p:spPr>
          <a:xfrm>
            <a:off x="1481328" y="4828032"/>
            <a:ext cx="0" cy="292608"/>
          </a:xfrm>
          <a:prstGeom prst="line">
            <a:avLst/>
          </a:prstGeom>
          <a:noFill/>
          <a:ln w="22225">
            <a:solidFill>
              <a:srgbClr val="1C7293"/>
            </a:solidFill>
            <a:prstDash val="solid"/>
          </a:ln>
        </p:spPr>
      </p:sp>
      <p:sp>
        <p:nvSpPr>
          <p:cNvPr id="43" name="Shape 41"/>
          <p:cNvSpPr/>
          <p:nvPr/>
        </p:nvSpPr>
        <p:spPr>
          <a:xfrm>
            <a:off x="10341864" y="4828032"/>
            <a:ext cx="0" cy="292608"/>
          </a:xfrm>
          <a:prstGeom prst="line">
            <a:avLst/>
          </a:prstGeom>
          <a:noFill/>
          <a:ln w="22225">
            <a:solidFill>
              <a:srgbClr val="1C7293"/>
            </a:solidFill>
            <a:prstDash val="solid"/>
          </a:ln>
        </p:spPr>
      </p:sp>
      <p:sp>
        <p:nvSpPr>
          <p:cNvPr id="44" name="Text 42"/>
          <p:cNvSpPr/>
          <p:nvPr/>
        </p:nvSpPr>
        <p:spPr>
          <a:xfrm>
            <a:off x="1755648" y="5193792"/>
            <a:ext cx="7315200" cy="310896"/>
          </a:xfrm>
          <a:prstGeom prst="rect">
            <a:avLst/>
          </a:prstGeom>
          <a:noFill/>
          <a:ln/>
        </p:spPr>
        <p:txBody>
          <a:bodyPr wrap="square" lIns="0" tIns="0" rIns="0" bIns="0" rtlCol="0" anchor="ctr"/>
          <a:lstStyle/>
          <a:p>
            <a:pPr marL="0" indent="0">
              <a:buNone/>
            </a:pPr>
            <a:r>
              <a:rPr lang="en-US" sz="1250" i="1" dirty="0">
                <a:solidFill>
                  <a:srgbClr val="1C7293"/>
                </a:solidFill>
                <a:latin typeface="Calibri" pitchFamily="34" charset="0"/>
                <a:ea typeface="Calibri" pitchFamily="34" charset="-122"/>
                <a:cs typeface="Calibri" pitchFamily="34" charset="-120"/>
              </a:rPr>
              <a:t>Updated state after every action — and after every failure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58368" y="6382512"/>
            <a:ext cx="68580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Ontology-Grounded LLM Planning  ·  IEEE RO-MAN 2026</a:t>
            </a:r>
            <a:endParaRPr lang="en-US" sz="950" dirty="0"/>
          </a:p>
        </p:txBody>
      </p:sp>
      <p:sp>
        <p:nvSpPr>
          <p:cNvPr id="3" name="Text 1"/>
          <p:cNvSpPr/>
          <p:nvPr/>
        </p:nvSpPr>
        <p:spPr>
          <a:xfrm>
            <a:off x="10433304" y="6382512"/>
            <a:ext cx="109728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6</a:t>
            </a:r>
            <a:endParaRPr lang="en-US" sz="950" dirty="0"/>
          </a:p>
        </p:txBody>
      </p:sp>
      <p:sp>
        <p:nvSpPr>
          <p:cNvPr id="4" name="Text 2"/>
          <p:cNvSpPr/>
          <p:nvPr/>
        </p:nvSpPr>
        <p:spPr>
          <a:xfrm>
            <a:off x="658368" y="384048"/>
            <a:ext cx="10872216" cy="237744"/>
          </a:xfrm>
          <a:prstGeom prst="rect">
            <a:avLst/>
          </a:prstGeom>
          <a:noFill/>
          <a:ln/>
        </p:spPr>
        <p:txBody>
          <a:bodyPr wrap="square" lIns="0" tIns="0" rIns="0" bIns="0" rtlCol="0" anchor="ctr"/>
          <a:lstStyle/>
          <a:p>
            <a:pPr marL="0" indent="0">
              <a:buNone/>
            </a:pPr>
            <a:r>
              <a:rPr lang="en-US" sz="1050" b="1" kern="0" spc="200" dirty="0">
                <a:solidFill>
                  <a:srgbClr val="F2A65A"/>
                </a:solidFill>
                <a:latin typeface="Calibri" pitchFamily="34" charset="0"/>
                <a:ea typeface="Calibri" pitchFamily="34" charset="-122"/>
                <a:cs typeface="Calibri" pitchFamily="34" charset="-120"/>
              </a:rPr>
              <a:t>METHOD · WORLD MODEL</a:t>
            </a:r>
            <a:endParaRPr lang="en-US" sz="1050" dirty="0"/>
          </a:p>
        </p:txBody>
      </p:sp>
      <p:sp>
        <p:nvSpPr>
          <p:cNvPr id="5" name="Text 3"/>
          <p:cNvSpPr/>
          <p:nvPr/>
        </p:nvSpPr>
        <p:spPr>
          <a:xfrm>
            <a:off x="658368" y="676656"/>
            <a:ext cx="10872216" cy="566928"/>
          </a:xfrm>
          <a:prstGeom prst="rect">
            <a:avLst/>
          </a:prstGeom>
          <a:noFill/>
          <a:ln/>
        </p:spPr>
        <p:txBody>
          <a:bodyPr wrap="square" lIns="0" tIns="0" rIns="0" bIns="0" rtlCol="0" anchor="t"/>
          <a:lstStyle/>
          <a:p>
            <a:pPr marL="0" indent="0">
              <a:buNone/>
            </a:pPr>
            <a:r>
              <a:rPr lang="en-US" sz="3000" b="1" dirty="0">
                <a:solidFill>
                  <a:srgbClr val="0E1C2B"/>
                </a:solidFill>
                <a:latin typeface="Cambria" pitchFamily="34" charset="0"/>
                <a:ea typeface="Cambria" pitchFamily="34" charset="-122"/>
                <a:cs typeface="Cambria" pitchFamily="34" charset="-120"/>
              </a:rPr>
              <a:t>Ontology as an actively maintained symbolic memory</a:t>
            </a:r>
            <a:endParaRPr lang="en-US" sz="3000" dirty="0"/>
          </a:p>
        </p:txBody>
      </p:sp>
      <p:sp>
        <p:nvSpPr>
          <p:cNvPr id="6" name="Shape 4"/>
          <p:cNvSpPr/>
          <p:nvPr/>
        </p:nvSpPr>
        <p:spPr>
          <a:xfrm>
            <a:off x="658368" y="1517904"/>
            <a:ext cx="5989320" cy="804672"/>
          </a:xfrm>
          <a:prstGeom prst="roundRect">
            <a:avLst>
              <a:gd name="adj" fmla="val 9091"/>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7" name="Shape 5"/>
          <p:cNvSpPr/>
          <p:nvPr/>
        </p:nvSpPr>
        <p:spPr>
          <a:xfrm>
            <a:off x="932688" y="1828800"/>
            <a:ext cx="182880" cy="182880"/>
          </a:xfrm>
          <a:prstGeom prst="ellipse">
            <a:avLst/>
          </a:prstGeom>
          <a:solidFill>
            <a:srgbClr val="F2A65A"/>
          </a:solidFill>
          <a:ln w="12700">
            <a:solidFill>
              <a:srgbClr val="F2A65A"/>
            </a:solidFill>
            <a:prstDash val="solid"/>
          </a:ln>
        </p:spPr>
      </p:sp>
      <p:sp>
        <p:nvSpPr>
          <p:cNvPr id="8" name="Text 6"/>
          <p:cNvSpPr/>
          <p:nvPr/>
        </p:nvSpPr>
        <p:spPr>
          <a:xfrm>
            <a:off x="1280160" y="1627632"/>
            <a:ext cx="5120640" cy="274320"/>
          </a:xfrm>
          <a:prstGeom prst="rect">
            <a:avLst/>
          </a:prstGeom>
          <a:noFill/>
          <a:ln/>
        </p:spPr>
        <p:txBody>
          <a:bodyPr wrap="square" lIns="0" tIns="0" rIns="0" bIns="0" rtlCol="0" anchor="ctr"/>
          <a:lstStyle/>
          <a:p>
            <a:pPr marL="0" indent="0">
              <a:buNone/>
            </a:pPr>
            <a:r>
              <a:rPr lang="en-US" sz="1450" b="1" dirty="0">
                <a:solidFill>
                  <a:srgbClr val="0E1C2B"/>
                </a:solidFill>
                <a:latin typeface="Calibri" pitchFamily="34" charset="0"/>
                <a:ea typeface="Calibri" pitchFamily="34" charset="-122"/>
                <a:cs typeface="Calibri" pitchFamily="34" charset="-120"/>
              </a:rPr>
              <a:t>Object types</a:t>
            </a:r>
            <a:endParaRPr lang="en-US" sz="1450" dirty="0"/>
          </a:p>
        </p:txBody>
      </p:sp>
      <p:sp>
        <p:nvSpPr>
          <p:cNvPr id="9" name="Text 7"/>
          <p:cNvSpPr/>
          <p:nvPr/>
        </p:nvSpPr>
        <p:spPr>
          <a:xfrm>
            <a:off x="1280160" y="1929384"/>
            <a:ext cx="5212080" cy="274320"/>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Tableware · Cutlery · Containers · Food · Furniture</a:t>
            </a:r>
            <a:endParaRPr lang="en-US" sz="1200" dirty="0"/>
          </a:p>
        </p:txBody>
      </p:sp>
      <p:sp>
        <p:nvSpPr>
          <p:cNvPr id="10" name="Shape 8"/>
          <p:cNvSpPr/>
          <p:nvPr/>
        </p:nvSpPr>
        <p:spPr>
          <a:xfrm>
            <a:off x="658368" y="2450592"/>
            <a:ext cx="5989320" cy="804672"/>
          </a:xfrm>
          <a:prstGeom prst="roundRect">
            <a:avLst>
              <a:gd name="adj" fmla="val 9091"/>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1" name="Shape 9"/>
          <p:cNvSpPr/>
          <p:nvPr/>
        </p:nvSpPr>
        <p:spPr>
          <a:xfrm>
            <a:off x="932688" y="2761488"/>
            <a:ext cx="182880" cy="182880"/>
          </a:xfrm>
          <a:prstGeom prst="ellipse">
            <a:avLst/>
          </a:prstGeom>
          <a:solidFill>
            <a:srgbClr val="F2A65A"/>
          </a:solidFill>
          <a:ln w="12700">
            <a:solidFill>
              <a:srgbClr val="F2A65A"/>
            </a:solidFill>
            <a:prstDash val="solid"/>
          </a:ln>
        </p:spPr>
      </p:sp>
      <p:sp>
        <p:nvSpPr>
          <p:cNvPr id="12" name="Text 10"/>
          <p:cNvSpPr/>
          <p:nvPr/>
        </p:nvSpPr>
        <p:spPr>
          <a:xfrm>
            <a:off x="1280160" y="2560320"/>
            <a:ext cx="5120640" cy="274320"/>
          </a:xfrm>
          <a:prstGeom prst="rect">
            <a:avLst/>
          </a:prstGeom>
          <a:noFill/>
          <a:ln/>
        </p:spPr>
        <p:txBody>
          <a:bodyPr wrap="square" lIns="0" tIns="0" rIns="0" bIns="0" rtlCol="0" anchor="ctr"/>
          <a:lstStyle/>
          <a:p>
            <a:pPr marL="0" indent="0">
              <a:buNone/>
            </a:pPr>
            <a:r>
              <a:rPr lang="en-US" sz="1450" b="1" dirty="0">
                <a:solidFill>
                  <a:srgbClr val="0E1C2B"/>
                </a:solidFill>
                <a:latin typeface="Calibri" pitchFamily="34" charset="0"/>
                <a:ea typeface="Calibri" pitchFamily="34" charset="-122"/>
                <a:cs typeface="Calibri" pitchFamily="34" charset="-120"/>
              </a:rPr>
              <a:t>Pose properties</a:t>
            </a:r>
            <a:endParaRPr lang="en-US" sz="1450" dirty="0"/>
          </a:p>
        </p:txBody>
      </p:sp>
      <p:sp>
        <p:nvSpPr>
          <p:cNvPr id="13" name="Text 11"/>
          <p:cNvSpPr/>
          <p:nvPr/>
        </p:nvSpPr>
        <p:spPr>
          <a:xfrm>
            <a:off x="1280160" y="2862072"/>
            <a:ext cx="5212080" cy="274320"/>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hasPosition (x, y, z) · hasOrientation (quaternion)</a:t>
            </a:r>
            <a:endParaRPr lang="en-US" sz="1200" dirty="0"/>
          </a:p>
        </p:txBody>
      </p:sp>
      <p:sp>
        <p:nvSpPr>
          <p:cNvPr id="14" name="Shape 12"/>
          <p:cNvSpPr/>
          <p:nvPr/>
        </p:nvSpPr>
        <p:spPr>
          <a:xfrm>
            <a:off x="658368" y="3383280"/>
            <a:ext cx="5989320" cy="804672"/>
          </a:xfrm>
          <a:prstGeom prst="roundRect">
            <a:avLst>
              <a:gd name="adj" fmla="val 9091"/>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5" name="Shape 13"/>
          <p:cNvSpPr/>
          <p:nvPr/>
        </p:nvSpPr>
        <p:spPr>
          <a:xfrm>
            <a:off x="932688" y="3694176"/>
            <a:ext cx="182880" cy="182880"/>
          </a:xfrm>
          <a:prstGeom prst="ellipse">
            <a:avLst/>
          </a:prstGeom>
          <a:solidFill>
            <a:srgbClr val="F2A65A"/>
          </a:solidFill>
          <a:ln w="12700">
            <a:solidFill>
              <a:srgbClr val="F2A65A"/>
            </a:solidFill>
            <a:prstDash val="solid"/>
          </a:ln>
        </p:spPr>
      </p:sp>
      <p:sp>
        <p:nvSpPr>
          <p:cNvPr id="16" name="Text 14"/>
          <p:cNvSpPr/>
          <p:nvPr/>
        </p:nvSpPr>
        <p:spPr>
          <a:xfrm>
            <a:off x="1280160" y="3493008"/>
            <a:ext cx="5120640" cy="274320"/>
          </a:xfrm>
          <a:prstGeom prst="rect">
            <a:avLst/>
          </a:prstGeom>
          <a:noFill/>
          <a:ln/>
        </p:spPr>
        <p:txBody>
          <a:bodyPr wrap="square" lIns="0" tIns="0" rIns="0" bIns="0" rtlCol="0" anchor="ctr"/>
          <a:lstStyle/>
          <a:p>
            <a:pPr marL="0" indent="0">
              <a:buNone/>
            </a:pPr>
            <a:r>
              <a:rPr lang="en-US" sz="1450" b="1" dirty="0">
                <a:solidFill>
                  <a:srgbClr val="0E1C2B"/>
                </a:solidFill>
                <a:latin typeface="Calibri" pitchFamily="34" charset="0"/>
                <a:ea typeface="Calibri" pitchFamily="34" charset="-122"/>
                <a:cs typeface="Calibri" pitchFamily="34" charset="-120"/>
              </a:rPr>
              <a:t>Support relations</a:t>
            </a:r>
            <a:endParaRPr lang="en-US" sz="1450" dirty="0"/>
          </a:p>
        </p:txBody>
      </p:sp>
      <p:sp>
        <p:nvSpPr>
          <p:cNvPr id="17" name="Text 15"/>
          <p:cNvSpPr/>
          <p:nvPr/>
        </p:nvSpPr>
        <p:spPr>
          <a:xfrm>
            <a:off x="1280160" y="3794760"/>
            <a:ext cx="5212080" cy="274320"/>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onTopOf — is it on the table, stacked, or blocked?</a:t>
            </a:r>
            <a:endParaRPr lang="en-US" sz="1200" dirty="0"/>
          </a:p>
        </p:txBody>
      </p:sp>
      <p:sp>
        <p:nvSpPr>
          <p:cNvPr id="18" name="Shape 16"/>
          <p:cNvSpPr/>
          <p:nvPr/>
        </p:nvSpPr>
        <p:spPr>
          <a:xfrm>
            <a:off x="658368" y="4315968"/>
            <a:ext cx="5989320" cy="804672"/>
          </a:xfrm>
          <a:prstGeom prst="roundRect">
            <a:avLst>
              <a:gd name="adj" fmla="val 9091"/>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9" name="Shape 17"/>
          <p:cNvSpPr/>
          <p:nvPr/>
        </p:nvSpPr>
        <p:spPr>
          <a:xfrm>
            <a:off x="932688" y="4626864"/>
            <a:ext cx="182880" cy="182880"/>
          </a:xfrm>
          <a:prstGeom prst="ellipse">
            <a:avLst/>
          </a:prstGeom>
          <a:solidFill>
            <a:srgbClr val="F2A65A"/>
          </a:solidFill>
          <a:ln w="12700">
            <a:solidFill>
              <a:srgbClr val="F2A65A"/>
            </a:solidFill>
            <a:prstDash val="solid"/>
          </a:ln>
        </p:spPr>
      </p:sp>
      <p:sp>
        <p:nvSpPr>
          <p:cNvPr id="20" name="Text 18"/>
          <p:cNvSpPr/>
          <p:nvPr/>
        </p:nvSpPr>
        <p:spPr>
          <a:xfrm>
            <a:off x="1280160" y="4425696"/>
            <a:ext cx="5120640" cy="274320"/>
          </a:xfrm>
          <a:prstGeom prst="rect">
            <a:avLst/>
          </a:prstGeom>
          <a:noFill/>
          <a:ln/>
        </p:spPr>
        <p:txBody>
          <a:bodyPr wrap="square" lIns="0" tIns="0" rIns="0" bIns="0" rtlCol="0" anchor="ctr"/>
          <a:lstStyle/>
          <a:p>
            <a:pPr marL="0" indent="0">
              <a:buNone/>
            </a:pPr>
            <a:r>
              <a:rPr lang="en-US" sz="1450" b="1" dirty="0">
                <a:solidFill>
                  <a:srgbClr val="0E1C2B"/>
                </a:solidFill>
                <a:latin typeface="Calibri" pitchFamily="34" charset="0"/>
                <a:ea typeface="Calibri" pitchFamily="34" charset="-122"/>
                <a:cs typeface="Calibri" pitchFamily="34" charset="-120"/>
              </a:rPr>
              <a:t>Storage targets</a:t>
            </a:r>
            <a:endParaRPr lang="en-US" sz="1450" dirty="0"/>
          </a:p>
        </p:txBody>
      </p:sp>
      <p:sp>
        <p:nvSpPr>
          <p:cNvPr id="21" name="Text 19"/>
          <p:cNvSpPr/>
          <p:nvPr/>
        </p:nvSpPr>
        <p:spPr>
          <a:xfrm>
            <a:off x="1280160" y="4727448"/>
            <a:ext cx="5212080" cy="274320"/>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Each semantic category maps to a default destination</a:t>
            </a:r>
            <a:endParaRPr lang="en-US" sz="1200" dirty="0"/>
          </a:p>
        </p:txBody>
      </p:sp>
      <p:sp>
        <p:nvSpPr>
          <p:cNvPr id="22" name="Shape 20"/>
          <p:cNvSpPr/>
          <p:nvPr/>
        </p:nvSpPr>
        <p:spPr>
          <a:xfrm>
            <a:off x="7013448" y="1517904"/>
            <a:ext cx="4517136" cy="2944368"/>
          </a:xfrm>
          <a:prstGeom prst="roundRect">
            <a:avLst>
              <a:gd name="adj" fmla="val 2484"/>
            </a:avLst>
          </a:prstGeom>
          <a:solidFill>
            <a:srgbClr val="0E1C2B"/>
          </a:solidFill>
          <a:ln w="12700">
            <a:solidFill>
              <a:srgbClr val="0E1C2B"/>
            </a:solidFill>
            <a:prstDash val="solid"/>
          </a:ln>
          <a:effectLst>
            <a:outerShdw blurRad="127000" dist="25400" dir="5400000" algn="bl" rotWithShape="0">
              <a:srgbClr val="0E1C2B">
                <a:alpha val="10000"/>
              </a:srgbClr>
            </a:outerShdw>
          </a:effectLst>
        </p:spPr>
      </p:sp>
      <p:sp>
        <p:nvSpPr>
          <p:cNvPr id="23" name="Text 21"/>
          <p:cNvSpPr/>
          <p:nvPr/>
        </p:nvSpPr>
        <p:spPr>
          <a:xfrm>
            <a:off x="7287768" y="1719072"/>
            <a:ext cx="3840480" cy="274320"/>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EXAMPLE ASSERTIONS</a:t>
            </a:r>
            <a:endParaRPr lang="en-US" sz="1100" dirty="0"/>
          </a:p>
        </p:txBody>
      </p:sp>
      <p:sp>
        <p:nvSpPr>
          <p:cNvPr id="24" name="Text 22"/>
          <p:cNvSpPr/>
          <p:nvPr/>
        </p:nvSpPr>
        <p:spPr>
          <a:xfrm>
            <a:off x="7287768" y="2084832"/>
            <a:ext cx="4206240" cy="2103120"/>
          </a:xfrm>
          <a:prstGeom prst="rect">
            <a:avLst/>
          </a:prstGeom>
          <a:noFill/>
          <a:ln/>
        </p:spPr>
        <p:txBody>
          <a:bodyPr wrap="square" lIns="0" tIns="0" rIns="0" bIns="0" rtlCol="0" anchor="ctr"/>
          <a:lstStyle/>
          <a:p>
            <a:pPr marL="0" indent="0">
              <a:lnSpc>
                <a:spcPts val="1800"/>
              </a:lnSpc>
              <a:buNone/>
            </a:pPr>
            <a:r>
              <a:rPr lang="en-US" sz="1250" dirty="0">
                <a:solidFill>
                  <a:srgbClr val="CFE0E9"/>
                </a:solidFill>
                <a:latin typeface="Courier New" pitchFamily="34" charset="0"/>
                <a:ea typeface="Courier New" pitchFamily="34" charset="-122"/>
                <a:cs typeface="Courier New" pitchFamily="34" charset="-120"/>
              </a:rPr>
              <a:t>plate1   rdf:type  Tableware</a:t>
            </a:r>
            <a:endParaRPr lang="en-US" sz="1250" dirty="0"/>
          </a:p>
          <a:p>
            <a:pPr marL="0" indent="0">
              <a:lnSpc>
                <a:spcPts val="1800"/>
              </a:lnSpc>
              <a:buNone/>
            </a:pPr>
            <a:r>
              <a:rPr lang="en-US" sz="1250" dirty="0">
                <a:solidFill>
                  <a:srgbClr val="CFE0E9"/>
                </a:solidFill>
                <a:latin typeface="Courier New" pitchFamily="34" charset="0"/>
                <a:ea typeface="Courier New" pitchFamily="34" charset="-122"/>
                <a:cs typeface="Courier New" pitchFamily="34" charset="-120"/>
              </a:rPr>
              <a:t>fork1    rdf:type  Cutlery</a:t>
            </a:r>
            <a:endParaRPr lang="en-US" sz="1250" dirty="0"/>
          </a:p>
          <a:p>
            <a:pPr marL="0" indent="0">
              <a:lnSpc>
                <a:spcPts val="1800"/>
              </a:lnSpc>
              <a:buNone/>
            </a:pPr>
            <a:r>
              <a:rPr lang="en-US" sz="1250" dirty="0">
                <a:solidFill>
                  <a:srgbClr val="CFE0E9"/>
                </a:solidFill>
                <a:latin typeface="Courier New" pitchFamily="34" charset="0"/>
                <a:ea typeface="Courier New" pitchFamily="34" charset="-122"/>
                <a:cs typeface="Courier New" pitchFamily="34" charset="-120"/>
              </a:rPr>
              <a:t>apple    rdf:type  Food</a:t>
            </a:r>
            <a:endParaRPr lang="en-US" sz="1250" dirty="0"/>
          </a:p>
          <a:p>
            <a:pPr marL="0" indent="0">
              <a:lnSpc>
                <a:spcPts val="1800"/>
              </a:lnSpc>
              <a:buNone/>
            </a:pPr>
            <a:endParaRPr lang="en-US" sz="1250" dirty="0"/>
          </a:p>
          <a:p>
            <a:pPr marL="0" indent="0">
              <a:lnSpc>
                <a:spcPts val="1800"/>
              </a:lnSpc>
              <a:buNone/>
            </a:pPr>
            <a:r>
              <a:rPr lang="en-US" sz="1250" dirty="0">
                <a:solidFill>
                  <a:srgbClr val="CFE0E9"/>
                </a:solidFill>
                <a:latin typeface="Courier New" pitchFamily="34" charset="0"/>
                <a:ea typeface="Courier New" pitchFamily="34" charset="-122"/>
                <a:cs typeface="Courier New" pitchFamily="34" charset="-120"/>
              </a:rPr>
              <a:t>plate1   hasPosition     [xp, yp, zp]</a:t>
            </a:r>
            <a:endParaRPr lang="en-US" sz="1250" dirty="0"/>
          </a:p>
          <a:p>
            <a:pPr marL="0" indent="0">
              <a:lnSpc>
                <a:spcPts val="1800"/>
              </a:lnSpc>
              <a:buNone/>
            </a:pPr>
            <a:r>
              <a:rPr lang="en-US" sz="1250" dirty="0">
                <a:solidFill>
                  <a:srgbClr val="CFE0E9"/>
                </a:solidFill>
                <a:latin typeface="Courier New" pitchFamily="34" charset="0"/>
                <a:ea typeface="Courier New" pitchFamily="34" charset="-122"/>
                <a:cs typeface="Courier New" pitchFamily="34" charset="-120"/>
              </a:rPr>
              <a:t>plate1   hasOrientation  [qx, qy, qz, qw]</a:t>
            </a:r>
            <a:endParaRPr lang="en-US" sz="1250" dirty="0"/>
          </a:p>
          <a:p>
            <a:pPr marL="0" indent="0">
              <a:lnSpc>
                <a:spcPts val="1800"/>
              </a:lnSpc>
              <a:buNone/>
            </a:pPr>
            <a:endParaRPr lang="en-US" sz="1250" dirty="0"/>
          </a:p>
          <a:p>
            <a:pPr marL="0" indent="0">
              <a:lnSpc>
                <a:spcPts val="1800"/>
              </a:lnSpc>
              <a:buNone/>
            </a:pPr>
            <a:r>
              <a:rPr lang="en-US" sz="1250" dirty="0">
                <a:solidFill>
                  <a:srgbClr val="CFE0E9"/>
                </a:solidFill>
                <a:latin typeface="Courier New" pitchFamily="34" charset="0"/>
                <a:ea typeface="Courier New" pitchFamily="34" charset="-122"/>
                <a:cs typeface="Courier New" pitchFamily="34" charset="-120"/>
              </a:rPr>
              <a:t>apple    onTopOf   fruit_bowl</a:t>
            </a:r>
            <a:endParaRPr lang="en-US" sz="1250" dirty="0"/>
          </a:p>
        </p:txBody>
      </p:sp>
      <p:sp>
        <p:nvSpPr>
          <p:cNvPr id="25" name="Text 23"/>
          <p:cNvSpPr/>
          <p:nvPr/>
        </p:nvSpPr>
        <p:spPr>
          <a:xfrm>
            <a:off x="658368" y="5431536"/>
            <a:ext cx="10872216" cy="457200"/>
          </a:xfrm>
          <a:prstGeom prst="rect">
            <a:avLst/>
          </a:prstGeom>
          <a:noFill/>
          <a:ln/>
        </p:spPr>
        <p:txBody>
          <a:bodyPr wrap="square" lIns="0" tIns="0" rIns="0" bIns="0" rtlCol="0" anchor="ctr"/>
          <a:lstStyle/>
          <a:p>
            <a:pPr marL="0" indent="0">
              <a:lnSpc>
                <a:spcPts val="2000"/>
              </a:lnSpc>
              <a:buNone/>
            </a:pPr>
            <a:r>
              <a:rPr lang="en-US" sz="1400" i="1" dirty="0">
                <a:solidFill>
                  <a:srgbClr val="1C7293"/>
                </a:solidFill>
                <a:latin typeface="Calibri" pitchFamily="34" charset="0"/>
                <a:ea typeface="Calibri" pitchFamily="34" charset="-122"/>
                <a:cs typeface="Calibri" pitchFamily="34" charset="-120"/>
              </a:rPr>
              <a:t>After each action the manipulated object's pose and support relations are rewritten — the ontology is part of the execution loop, not a static description of the initial scene.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58368" y="6382512"/>
            <a:ext cx="68580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Ontology-Grounded LLM Planning  ·  IEEE RO-MAN 2026</a:t>
            </a:r>
            <a:endParaRPr lang="en-US" sz="950" dirty="0"/>
          </a:p>
        </p:txBody>
      </p:sp>
      <p:sp>
        <p:nvSpPr>
          <p:cNvPr id="3" name="Text 1"/>
          <p:cNvSpPr/>
          <p:nvPr/>
        </p:nvSpPr>
        <p:spPr>
          <a:xfrm>
            <a:off x="10433304" y="6382512"/>
            <a:ext cx="109728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7</a:t>
            </a:r>
            <a:endParaRPr lang="en-US" sz="950" dirty="0"/>
          </a:p>
        </p:txBody>
      </p:sp>
      <p:sp>
        <p:nvSpPr>
          <p:cNvPr id="4" name="Text 2"/>
          <p:cNvSpPr/>
          <p:nvPr/>
        </p:nvSpPr>
        <p:spPr>
          <a:xfrm>
            <a:off x="658368" y="384048"/>
            <a:ext cx="10872216" cy="237744"/>
          </a:xfrm>
          <a:prstGeom prst="rect">
            <a:avLst/>
          </a:prstGeom>
          <a:noFill/>
          <a:ln/>
        </p:spPr>
        <p:txBody>
          <a:bodyPr wrap="square" lIns="0" tIns="0" rIns="0" bIns="0" rtlCol="0" anchor="ctr"/>
          <a:lstStyle/>
          <a:p>
            <a:pPr marL="0" indent="0">
              <a:buNone/>
            </a:pPr>
            <a:r>
              <a:rPr lang="en-US" sz="1050" b="1" kern="0" spc="200" dirty="0">
                <a:solidFill>
                  <a:srgbClr val="F2A65A"/>
                </a:solidFill>
                <a:latin typeface="Calibri" pitchFamily="34" charset="0"/>
                <a:ea typeface="Calibri" pitchFamily="34" charset="-122"/>
                <a:cs typeface="Calibri" pitchFamily="34" charset="-120"/>
              </a:rPr>
              <a:t>METHOD · GROUNDED STATE</a:t>
            </a:r>
            <a:endParaRPr lang="en-US" sz="1050" dirty="0"/>
          </a:p>
        </p:txBody>
      </p:sp>
      <p:sp>
        <p:nvSpPr>
          <p:cNvPr id="5" name="Text 3"/>
          <p:cNvSpPr/>
          <p:nvPr/>
        </p:nvSpPr>
        <p:spPr>
          <a:xfrm>
            <a:off x="658368" y="676656"/>
            <a:ext cx="10872216" cy="566928"/>
          </a:xfrm>
          <a:prstGeom prst="rect">
            <a:avLst/>
          </a:prstGeom>
          <a:noFill/>
          <a:ln/>
        </p:spPr>
        <p:txBody>
          <a:bodyPr wrap="square" lIns="0" tIns="0" rIns="0" bIns="0" rtlCol="0" anchor="t"/>
          <a:lstStyle/>
          <a:p>
            <a:pPr marL="0" indent="0">
              <a:buNone/>
            </a:pPr>
            <a:r>
              <a:rPr lang="en-US" sz="3000" b="1" dirty="0">
                <a:solidFill>
                  <a:srgbClr val="0E1C2B"/>
                </a:solidFill>
                <a:latin typeface="Cambria" pitchFamily="34" charset="0"/>
                <a:ea typeface="Cambria" pitchFamily="34" charset="-122"/>
                <a:cs typeface="Cambria" pitchFamily="34" charset="-120"/>
              </a:rPr>
              <a:t>Planning over a state, not over a paragraph</a:t>
            </a:r>
            <a:endParaRPr lang="en-US" sz="3000" dirty="0"/>
          </a:p>
        </p:txBody>
      </p:sp>
      <p:sp>
        <p:nvSpPr>
          <p:cNvPr id="6" name="Shape 4"/>
          <p:cNvSpPr/>
          <p:nvPr/>
        </p:nvSpPr>
        <p:spPr>
          <a:xfrm>
            <a:off x="658368" y="1481328"/>
            <a:ext cx="10872216" cy="1024128"/>
          </a:xfrm>
          <a:prstGeom prst="roundRect">
            <a:avLst>
              <a:gd name="adj" fmla="val 7143"/>
            </a:avLst>
          </a:prstGeom>
          <a:solidFill>
            <a:srgbClr val="E3EEF3"/>
          </a:solidFill>
          <a:ln w="12700">
            <a:solidFill>
              <a:srgbClr val="E3EEF3"/>
            </a:solidFill>
            <a:prstDash val="solid"/>
          </a:ln>
          <a:effectLst>
            <a:outerShdw blurRad="127000" dist="25400" dir="5400000" algn="bl" rotWithShape="0">
              <a:srgbClr val="0E1C2B">
                <a:alpha val="10000"/>
              </a:srgbClr>
            </a:outerShdw>
          </a:effectLst>
        </p:spPr>
      </p:sp>
      <p:sp>
        <p:nvSpPr>
          <p:cNvPr id="7" name="Text 5"/>
          <p:cNvSpPr/>
          <p:nvPr/>
        </p:nvSpPr>
        <p:spPr>
          <a:xfrm>
            <a:off x="1024128" y="1591056"/>
            <a:ext cx="5669280" cy="804672"/>
          </a:xfrm>
          <a:prstGeom prst="rect">
            <a:avLst/>
          </a:prstGeom>
          <a:noFill/>
          <a:ln/>
        </p:spPr>
        <p:txBody>
          <a:bodyPr wrap="square" lIns="0" tIns="0" rIns="0" bIns="0" rtlCol="0" anchor="ctr"/>
          <a:lstStyle/>
          <a:p>
            <a:pPr marL="0" indent="0">
              <a:buNone/>
            </a:pPr>
            <a:r>
              <a:rPr lang="en-US" sz="3000" b="1" dirty="0">
                <a:solidFill>
                  <a:srgbClr val="0E1C2B"/>
                </a:solidFill>
                <a:latin typeface="Cambria" pitchFamily="34" charset="0"/>
                <a:ea typeface="Cambria" pitchFamily="34" charset="-122"/>
                <a:cs typeface="Cambria" pitchFamily="34" charset="-120"/>
              </a:rPr>
              <a:t>Sₜ  =  { Oₜ ,  Rₜ ,  Hₜ ,  Lₜ }</a:t>
            </a:r>
            <a:endParaRPr lang="en-US" sz="3000" dirty="0"/>
          </a:p>
        </p:txBody>
      </p:sp>
      <p:sp>
        <p:nvSpPr>
          <p:cNvPr id="8" name="Text 6"/>
          <p:cNvSpPr/>
          <p:nvPr/>
        </p:nvSpPr>
        <p:spPr>
          <a:xfrm>
            <a:off x="6784848" y="1664208"/>
            <a:ext cx="4379976" cy="365760"/>
          </a:xfrm>
          <a:prstGeom prst="rect">
            <a:avLst/>
          </a:prstGeom>
          <a:noFill/>
          <a:ln/>
        </p:spPr>
        <p:txBody>
          <a:bodyPr wrap="square" lIns="0" tIns="0" rIns="0" bIns="0" rtlCol="0" anchor="ctr"/>
          <a:lstStyle/>
          <a:p>
            <a:pPr marL="0" indent="0">
              <a:buNone/>
            </a:pPr>
            <a:r>
              <a:rPr lang="en-US" sz="1700" b="1" dirty="0">
                <a:solidFill>
                  <a:srgbClr val="1C7293"/>
                </a:solidFill>
                <a:latin typeface="Calibri" pitchFamily="34" charset="0"/>
                <a:ea typeface="Calibri" pitchFamily="34" charset="-122"/>
                <a:cs typeface="Calibri" pitchFamily="34" charset="-120"/>
              </a:rPr>
              <a:t>oᵢ  =  { cᵢ , pᵢ , qᵢ , ℓᵢ , sᵢ , bᵢ }</a:t>
            </a:r>
            <a:endParaRPr lang="en-US" sz="1700" dirty="0"/>
          </a:p>
        </p:txBody>
      </p:sp>
      <p:sp>
        <p:nvSpPr>
          <p:cNvPr id="9" name="Text 7"/>
          <p:cNvSpPr/>
          <p:nvPr/>
        </p:nvSpPr>
        <p:spPr>
          <a:xfrm>
            <a:off x="6784848" y="2011680"/>
            <a:ext cx="4379976" cy="292608"/>
          </a:xfrm>
          <a:prstGeom prst="rect">
            <a:avLst/>
          </a:prstGeom>
          <a:noFill/>
          <a:ln/>
        </p:spPr>
        <p:txBody>
          <a:bodyPr wrap="square" lIns="0" tIns="0" rIns="0" bIns="0" rtlCol="0" anchor="ctr"/>
          <a:lstStyle/>
          <a:p>
            <a:pPr marL="0" indent="0">
              <a:buNone/>
            </a:pPr>
            <a:r>
              <a:rPr lang="en-US" sz="1250" i="1" dirty="0">
                <a:solidFill>
                  <a:srgbClr val="5A6B7A"/>
                </a:solidFill>
                <a:latin typeface="Calibri" pitchFamily="34" charset="0"/>
                <a:ea typeface="Calibri" pitchFamily="34" charset="-122"/>
                <a:cs typeface="Calibri" pitchFamily="34" charset="-120"/>
              </a:rPr>
              <a:t>per-object symbolic record</a:t>
            </a:r>
            <a:endParaRPr lang="en-US" sz="1250" dirty="0"/>
          </a:p>
        </p:txBody>
      </p:sp>
      <p:sp>
        <p:nvSpPr>
          <p:cNvPr id="10" name="Shape 8"/>
          <p:cNvSpPr/>
          <p:nvPr/>
        </p:nvSpPr>
        <p:spPr>
          <a:xfrm>
            <a:off x="658368" y="2706624"/>
            <a:ext cx="2546604" cy="1773936"/>
          </a:xfrm>
          <a:prstGeom prst="roundRect">
            <a:avLst>
              <a:gd name="adj" fmla="val 4124"/>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1" name="Text 9"/>
          <p:cNvSpPr/>
          <p:nvPr/>
        </p:nvSpPr>
        <p:spPr>
          <a:xfrm>
            <a:off x="896112" y="2834640"/>
            <a:ext cx="2071116" cy="420624"/>
          </a:xfrm>
          <a:prstGeom prst="rect">
            <a:avLst/>
          </a:prstGeom>
          <a:noFill/>
          <a:ln/>
        </p:spPr>
        <p:txBody>
          <a:bodyPr wrap="square" lIns="0" tIns="0" rIns="0" bIns="0" rtlCol="0" anchor="ctr"/>
          <a:lstStyle/>
          <a:p>
            <a:pPr marL="0" indent="0">
              <a:buNone/>
            </a:pPr>
            <a:r>
              <a:rPr lang="en-US" sz="2400" b="1" dirty="0">
                <a:solidFill>
                  <a:srgbClr val="F2A65A"/>
                </a:solidFill>
                <a:latin typeface="Cambria" pitchFamily="34" charset="0"/>
                <a:ea typeface="Cambria" pitchFamily="34" charset="-122"/>
                <a:cs typeface="Cambria" pitchFamily="34" charset="-120"/>
              </a:rPr>
              <a:t>Oₜ</a:t>
            </a:r>
            <a:endParaRPr lang="en-US" sz="2400" dirty="0"/>
          </a:p>
        </p:txBody>
      </p:sp>
      <p:sp>
        <p:nvSpPr>
          <p:cNvPr id="12" name="Text 10"/>
          <p:cNvSpPr/>
          <p:nvPr/>
        </p:nvSpPr>
        <p:spPr>
          <a:xfrm>
            <a:off x="896112" y="3273552"/>
            <a:ext cx="2071116" cy="310896"/>
          </a:xfrm>
          <a:prstGeom prst="rect">
            <a:avLst/>
          </a:prstGeom>
          <a:noFill/>
          <a:ln/>
        </p:spPr>
        <p:txBody>
          <a:bodyPr wrap="square" lIns="0" tIns="0" rIns="0" bIns="0" rtlCol="0" anchor="ctr"/>
          <a:lstStyle/>
          <a:p>
            <a:pPr marL="0" indent="0">
              <a:buNone/>
            </a:pPr>
            <a:r>
              <a:rPr lang="en-US" sz="1400" b="1" dirty="0">
                <a:solidFill>
                  <a:srgbClr val="0E1C2B"/>
                </a:solidFill>
                <a:latin typeface="Calibri" pitchFamily="34" charset="0"/>
                <a:ea typeface="Calibri" pitchFamily="34" charset="-122"/>
                <a:cs typeface="Calibri" pitchFamily="34" charset="-120"/>
              </a:rPr>
              <a:t>Task-relevant objects</a:t>
            </a:r>
            <a:endParaRPr lang="en-US" sz="1400" dirty="0"/>
          </a:p>
        </p:txBody>
      </p:sp>
      <p:sp>
        <p:nvSpPr>
          <p:cNvPr id="13" name="Text 11"/>
          <p:cNvSpPr/>
          <p:nvPr/>
        </p:nvSpPr>
        <p:spPr>
          <a:xfrm>
            <a:off x="896112" y="3621024"/>
            <a:ext cx="2071116" cy="786384"/>
          </a:xfrm>
          <a:prstGeom prst="rect">
            <a:avLst/>
          </a:prstGeom>
          <a:noFill/>
          <a:ln/>
        </p:spPr>
        <p:txBody>
          <a:bodyPr wrap="square" lIns="0" tIns="0" rIns="0" bIns="0" rtlCol="0" anchor="t"/>
          <a:lstStyle/>
          <a:p>
            <a:pPr marL="0" indent="0">
              <a:lnSpc>
                <a:spcPts val="1700"/>
              </a:lnSpc>
              <a:buNone/>
            </a:pPr>
            <a:r>
              <a:rPr lang="en-US" sz="1200" dirty="0">
                <a:solidFill>
                  <a:srgbClr val="5A6B7A"/>
                </a:solidFill>
                <a:latin typeface="Calibri" pitchFamily="34" charset="0"/>
                <a:ea typeface="Calibri" pitchFamily="34" charset="-122"/>
                <a:cs typeface="Calibri" pitchFamily="34" charset="-120"/>
              </a:rPr>
              <a:t>Table-related items only — furniture and unrelated entities are excluded.</a:t>
            </a:r>
            <a:endParaRPr lang="en-US" sz="1200" dirty="0"/>
          </a:p>
        </p:txBody>
      </p:sp>
      <p:sp>
        <p:nvSpPr>
          <p:cNvPr id="14" name="Shape 12"/>
          <p:cNvSpPr/>
          <p:nvPr/>
        </p:nvSpPr>
        <p:spPr>
          <a:xfrm>
            <a:off x="3433572" y="2706624"/>
            <a:ext cx="2546604" cy="1773936"/>
          </a:xfrm>
          <a:prstGeom prst="roundRect">
            <a:avLst>
              <a:gd name="adj" fmla="val 4124"/>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5" name="Text 13"/>
          <p:cNvSpPr/>
          <p:nvPr/>
        </p:nvSpPr>
        <p:spPr>
          <a:xfrm>
            <a:off x="3671316" y="2834640"/>
            <a:ext cx="2071116" cy="420624"/>
          </a:xfrm>
          <a:prstGeom prst="rect">
            <a:avLst/>
          </a:prstGeom>
          <a:noFill/>
          <a:ln/>
        </p:spPr>
        <p:txBody>
          <a:bodyPr wrap="square" lIns="0" tIns="0" rIns="0" bIns="0" rtlCol="0" anchor="ctr"/>
          <a:lstStyle/>
          <a:p>
            <a:pPr marL="0" indent="0">
              <a:buNone/>
            </a:pPr>
            <a:r>
              <a:rPr lang="en-US" sz="2400" b="1" dirty="0">
                <a:solidFill>
                  <a:srgbClr val="F2A65A"/>
                </a:solidFill>
                <a:latin typeface="Cambria" pitchFamily="34" charset="0"/>
                <a:ea typeface="Cambria" pitchFamily="34" charset="-122"/>
                <a:cs typeface="Cambria" pitchFamily="34" charset="-120"/>
              </a:rPr>
              <a:t>Rₜ</a:t>
            </a:r>
            <a:endParaRPr lang="en-US" sz="2400" dirty="0"/>
          </a:p>
        </p:txBody>
      </p:sp>
      <p:sp>
        <p:nvSpPr>
          <p:cNvPr id="16" name="Text 14"/>
          <p:cNvSpPr/>
          <p:nvPr/>
        </p:nvSpPr>
        <p:spPr>
          <a:xfrm>
            <a:off x="3671316" y="3273552"/>
            <a:ext cx="2071116" cy="310896"/>
          </a:xfrm>
          <a:prstGeom prst="rect">
            <a:avLst/>
          </a:prstGeom>
          <a:noFill/>
          <a:ln/>
        </p:spPr>
        <p:txBody>
          <a:bodyPr wrap="square" lIns="0" tIns="0" rIns="0" bIns="0" rtlCol="0" anchor="ctr"/>
          <a:lstStyle/>
          <a:p>
            <a:pPr marL="0" indent="0">
              <a:buNone/>
            </a:pPr>
            <a:r>
              <a:rPr lang="en-US" sz="1400" b="1" dirty="0">
                <a:solidFill>
                  <a:srgbClr val="0E1C2B"/>
                </a:solidFill>
                <a:latin typeface="Calibri" pitchFamily="34" charset="0"/>
                <a:ea typeface="Calibri" pitchFamily="34" charset="-122"/>
                <a:cs typeface="Calibri" pitchFamily="34" charset="-120"/>
              </a:rPr>
              <a:t>Symbolic relations</a:t>
            </a:r>
            <a:endParaRPr lang="en-US" sz="1400" dirty="0"/>
          </a:p>
        </p:txBody>
      </p:sp>
      <p:sp>
        <p:nvSpPr>
          <p:cNvPr id="17" name="Text 15"/>
          <p:cNvSpPr/>
          <p:nvPr/>
        </p:nvSpPr>
        <p:spPr>
          <a:xfrm>
            <a:off x="3671316" y="3621024"/>
            <a:ext cx="2071116" cy="786384"/>
          </a:xfrm>
          <a:prstGeom prst="rect">
            <a:avLst/>
          </a:prstGeom>
          <a:noFill/>
          <a:ln/>
        </p:spPr>
        <p:txBody>
          <a:bodyPr wrap="square" lIns="0" tIns="0" rIns="0" bIns="0" rtlCol="0" anchor="t"/>
          <a:lstStyle/>
          <a:p>
            <a:pPr marL="0" indent="0">
              <a:lnSpc>
                <a:spcPts val="1700"/>
              </a:lnSpc>
              <a:buNone/>
            </a:pPr>
            <a:r>
              <a:rPr lang="en-US" sz="1200" dirty="0">
                <a:solidFill>
                  <a:srgbClr val="5A6B7A"/>
                </a:solidFill>
                <a:latin typeface="Calibri" pitchFamily="34" charset="0"/>
                <a:ea typeface="Calibri" pitchFamily="34" charset="-122"/>
                <a:cs typeface="Calibri" pitchFamily="34" charset="-120"/>
              </a:rPr>
              <a:t>Object-to-object and object-to-surface dependencies that gate manipulation.</a:t>
            </a:r>
            <a:endParaRPr lang="en-US" sz="1200" dirty="0"/>
          </a:p>
        </p:txBody>
      </p:sp>
      <p:sp>
        <p:nvSpPr>
          <p:cNvPr id="18" name="Shape 16"/>
          <p:cNvSpPr/>
          <p:nvPr/>
        </p:nvSpPr>
        <p:spPr>
          <a:xfrm>
            <a:off x="6208776" y="2706624"/>
            <a:ext cx="2546604" cy="1773936"/>
          </a:xfrm>
          <a:prstGeom prst="roundRect">
            <a:avLst>
              <a:gd name="adj" fmla="val 4124"/>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9" name="Text 17"/>
          <p:cNvSpPr/>
          <p:nvPr/>
        </p:nvSpPr>
        <p:spPr>
          <a:xfrm>
            <a:off x="6446520" y="2834640"/>
            <a:ext cx="2071116" cy="420624"/>
          </a:xfrm>
          <a:prstGeom prst="rect">
            <a:avLst/>
          </a:prstGeom>
          <a:noFill/>
          <a:ln/>
        </p:spPr>
        <p:txBody>
          <a:bodyPr wrap="square" lIns="0" tIns="0" rIns="0" bIns="0" rtlCol="0" anchor="ctr"/>
          <a:lstStyle/>
          <a:p>
            <a:pPr marL="0" indent="0">
              <a:buNone/>
            </a:pPr>
            <a:r>
              <a:rPr lang="en-US" sz="2400" b="1" dirty="0">
                <a:solidFill>
                  <a:srgbClr val="F2A65A"/>
                </a:solidFill>
                <a:latin typeface="Cambria" pitchFamily="34" charset="0"/>
                <a:ea typeface="Cambria" pitchFamily="34" charset="-122"/>
                <a:cs typeface="Cambria" pitchFamily="34" charset="-120"/>
              </a:rPr>
              <a:t>Hₜ</a:t>
            </a:r>
            <a:endParaRPr lang="en-US" sz="2400" dirty="0"/>
          </a:p>
        </p:txBody>
      </p:sp>
      <p:sp>
        <p:nvSpPr>
          <p:cNvPr id="20" name="Text 18"/>
          <p:cNvSpPr/>
          <p:nvPr/>
        </p:nvSpPr>
        <p:spPr>
          <a:xfrm>
            <a:off x="6446520" y="3273552"/>
            <a:ext cx="2071116" cy="310896"/>
          </a:xfrm>
          <a:prstGeom prst="rect">
            <a:avLst/>
          </a:prstGeom>
          <a:noFill/>
          <a:ln/>
        </p:spPr>
        <p:txBody>
          <a:bodyPr wrap="square" lIns="0" tIns="0" rIns="0" bIns="0" rtlCol="0" anchor="ctr"/>
          <a:lstStyle/>
          <a:p>
            <a:pPr marL="0" indent="0">
              <a:buNone/>
            </a:pPr>
            <a:r>
              <a:rPr lang="en-US" sz="1400" b="1" dirty="0">
                <a:solidFill>
                  <a:srgbClr val="0E1C2B"/>
                </a:solidFill>
                <a:latin typeface="Calibri" pitchFamily="34" charset="0"/>
                <a:ea typeface="Calibri" pitchFamily="34" charset="-122"/>
                <a:cs typeface="Calibri" pitchFamily="34" charset="-120"/>
              </a:rPr>
              <a:t>Robot holding state</a:t>
            </a:r>
            <a:endParaRPr lang="en-US" sz="1400" dirty="0"/>
          </a:p>
        </p:txBody>
      </p:sp>
      <p:sp>
        <p:nvSpPr>
          <p:cNvPr id="21" name="Text 19"/>
          <p:cNvSpPr/>
          <p:nvPr/>
        </p:nvSpPr>
        <p:spPr>
          <a:xfrm>
            <a:off x="6446520" y="3621024"/>
            <a:ext cx="2071116" cy="786384"/>
          </a:xfrm>
          <a:prstGeom prst="rect">
            <a:avLst/>
          </a:prstGeom>
          <a:noFill/>
          <a:ln/>
        </p:spPr>
        <p:txBody>
          <a:bodyPr wrap="square" lIns="0" tIns="0" rIns="0" bIns="0" rtlCol="0" anchor="t"/>
          <a:lstStyle/>
          <a:p>
            <a:pPr marL="0" indent="0">
              <a:lnSpc>
                <a:spcPts val="1700"/>
              </a:lnSpc>
              <a:buNone/>
            </a:pPr>
            <a:r>
              <a:rPr lang="en-US" sz="1200" dirty="0">
                <a:solidFill>
                  <a:srgbClr val="5A6B7A"/>
                </a:solidFill>
                <a:latin typeface="Calibri" pitchFamily="34" charset="0"/>
                <a:ea typeface="Calibri" pitchFamily="34" charset="-122"/>
                <a:cs typeface="Calibri" pitchFamily="34" charset="-120"/>
              </a:rPr>
              <a:t>Flags an active grasp, so pick / place order stays consistent.</a:t>
            </a:r>
            <a:endParaRPr lang="en-US" sz="1200" dirty="0"/>
          </a:p>
        </p:txBody>
      </p:sp>
      <p:sp>
        <p:nvSpPr>
          <p:cNvPr id="22" name="Shape 20"/>
          <p:cNvSpPr/>
          <p:nvPr/>
        </p:nvSpPr>
        <p:spPr>
          <a:xfrm>
            <a:off x="8983980" y="2706624"/>
            <a:ext cx="2546604" cy="1773936"/>
          </a:xfrm>
          <a:prstGeom prst="roundRect">
            <a:avLst>
              <a:gd name="adj" fmla="val 4124"/>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23" name="Text 21"/>
          <p:cNvSpPr/>
          <p:nvPr/>
        </p:nvSpPr>
        <p:spPr>
          <a:xfrm>
            <a:off x="9221724" y="2834640"/>
            <a:ext cx="2071116" cy="420624"/>
          </a:xfrm>
          <a:prstGeom prst="rect">
            <a:avLst/>
          </a:prstGeom>
          <a:noFill/>
          <a:ln/>
        </p:spPr>
        <p:txBody>
          <a:bodyPr wrap="square" lIns="0" tIns="0" rIns="0" bIns="0" rtlCol="0" anchor="ctr"/>
          <a:lstStyle/>
          <a:p>
            <a:pPr marL="0" indent="0">
              <a:buNone/>
            </a:pPr>
            <a:r>
              <a:rPr lang="en-US" sz="2400" b="1" dirty="0">
                <a:solidFill>
                  <a:srgbClr val="F2A65A"/>
                </a:solidFill>
                <a:latin typeface="Cambria" pitchFamily="34" charset="0"/>
                <a:ea typeface="Cambria" pitchFamily="34" charset="-122"/>
                <a:cs typeface="Cambria" pitchFamily="34" charset="-120"/>
              </a:rPr>
              <a:t>Lₜ</a:t>
            </a:r>
            <a:endParaRPr lang="en-US" sz="2400" dirty="0"/>
          </a:p>
        </p:txBody>
      </p:sp>
      <p:sp>
        <p:nvSpPr>
          <p:cNvPr id="24" name="Text 22"/>
          <p:cNvSpPr/>
          <p:nvPr/>
        </p:nvSpPr>
        <p:spPr>
          <a:xfrm>
            <a:off x="9221724" y="3273552"/>
            <a:ext cx="2071116" cy="310896"/>
          </a:xfrm>
          <a:prstGeom prst="rect">
            <a:avLst/>
          </a:prstGeom>
          <a:noFill/>
          <a:ln/>
        </p:spPr>
        <p:txBody>
          <a:bodyPr wrap="square" lIns="0" tIns="0" rIns="0" bIns="0" rtlCol="0" anchor="ctr"/>
          <a:lstStyle/>
          <a:p>
            <a:pPr marL="0" indent="0">
              <a:buNone/>
            </a:pPr>
            <a:r>
              <a:rPr lang="en-US" sz="1400" b="1" dirty="0">
                <a:solidFill>
                  <a:srgbClr val="0E1C2B"/>
                </a:solidFill>
                <a:latin typeface="Calibri" pitchFamily="34" charset="0"/>
                <a:ea typeface="Calibri" pitchFamily="34" charset="-122"/>
                <a:cs typeface="Calibri" pitchFamily="34" charset="-120"/>
              </a:rPr>
              <a:t>Available targets</a:t>
            </a:r>
            <a:endParaRPr lang="en-US" sz="1400" dirty="0"/>
          </a:p>
        </p:txBody>
      </p:sp>
      <p:sp>
        <p:nvSpPr>
          <p:cNvPr id="25" name="Text 23"/>
          <p:cNvSpPr/>
          <p:nvPr/>
        </p:nvSpPr>
        <p:spPr>
          <a:xfrm>
            <a:off x="9221724" y="3621024"/>
            <a:ext cx="2071116" cy="786384"/>
          </a:xfrm>
          <a:prstGeom prst="rect">
            <a:avLst/>
          </a:prstGeom>
          <a:noFill/>
          <a:ln/>
        </p:spPr>
        <p:txBody>
          <a:bodyPr wrap="square" lIns="0" tIns="0" rIns="0" bIns="0" rtlCol="0" anchor="t"/>
          <a:lstStyle/>
          <a:p>
            <a:pPr marL="0" indent="0">
              <a:lnSpc>
                <a:spcPts val="1700"/>
              </a:lnSpc>
              <a:buNone/>
            </a:pPr>
            <a:r>
              <a:rPr lang="en-US" sz="1200" dirty="0">
                <a:solidFill>
                  <a:srgbClr val="5A6B7A"/>
                </a:solidFill>
                <a:latin typeface="Calibri" pitchFamily="34" charset="0"/>
                <a:ea typeface="Calibri" pitchFamily="34" charset="-122"/>
                <a:cs typeface="Calibri" pitchFamily="34" charset="-120"/>
              </a:rPr>
              <a:t>Ontology-derived storage destinations for each category.</a:t>
            </a:r>
            <a:endParaRPr lang="en-US" sz="1200" dirty="0"/>
          </a:p>
        </p:txBody>
      </p:sp>
      <p:sp>
        <p:nvSpPr>
          <p:cNvPr id="26" name="Shape 24"/>
          <p:cNvSpPr/>
          <p:nvPr/>
        </p:nvSpPr>
        <p:spPr>
          <a:xfrm>
            <a:off x="658368" y="4681728"/>
            <a:ext cx="10872216" cy="896112"/>
          </a:xfrm>
          <a:prstGeom prst="roundRect">
            <a:avLst>
              <a:gd name="adj" fmla="val 8163"/>
            </a:avLst>
          </a:prstGeom>
          <a:solidFill>
            <a:srgbClr val="0E1C2B"/>
          </a:solidFill>
          <a:ln w="12700">
            <a:solidFill>
              <a:srgbClr val="0E1C2B"/>
            </a:solidFill>
            <a:prstDash val="solid"/>
          </a:ln>
          <a:effectLst>
            <a:outerShdw blurRad="127000" dist="25400" dir="5400000" algn="bl" rotWithShape="0">
              <a:srgbClr val="0E1C2B">
                <a:alpha val="10000"/>
              </a:srgbClr>
            </a:outerShdw>
          </a:effectLst>
        </p:spPr>
      </p:sp>
      <p:sp>
        <p:nvSpPr>
          <p:cNvPr id="27" name="Text 25"/>
          <p:cNvSpPr/>
          <p:nvPr/>
        </p:nvSpPr>
        <p:spPr>
          <a:xfrm>
            <a:off x="987552" y="4828032"/>
            <a:ext cx="10213848" cy="603504"/>
          </a:xfrm>
          <a:prstGeom prst="rect">
            <a:avLst/>
          </a:prstGeom>
          <a:noFill/>
          <a:ln/>
        </p:spPr>
        <p:txBody>
          <a:bodyPr wrap="square" lIns="0" tIns="0" rIns="0" bIns="0" rtlCol="0" anchor="ctr"/>
          <a:lstStyle/>
          <a:p>
            <a:pPr marL="0" indent="0">
              <a:lnSpc>
                <a:spcPts val="2000"/>
              </a:lnSpc>
              <a:buNone/>
            </a:pPr>
            <a:r>
              <a:rPr lang="en-US" sz="1400" b="1" dirty="0">
                <a:solidFill>
                  <a:srgbClr val="F2A65A"/>
                </a:solidFill>
                <a:latin typeface="Calibri" pitchFamily="34" charset="0"/>
                <a:ea typeface="Calibri" pitchFamily="34" charset="-122"/>
                <a:cs typeface="Calibri" pitchFamily="34" charset="-120"/>
              </a:rPr>
              <a:t>The complete ontology is never sent to the LLM.  </a:t>
            </a:r>
            <a:r>
              <a:rPr lang="en-US" sz="1400" dirty="0">
                <a:solidFill>
                  <a:srgbClr val="FFFFFF"/>
                </a:solidFill>
                <a:latin typeface="Calibri" pitchFamily="34" charset="0"/>
                <a:ea typeface="Calibri" pitchFamily="34" charset="-122"/>
                <a:cs typeface="Calibri" pitchFamily="34" charset="-120"/>
              </a:rPr>
              <a:t>Only task-relevant knowledge is retained, which keeps the prompt small and prevents the planner from proposing actions that conflict with the physical scene.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58368" y="6382512"/>
            <a:ext cx="68580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Ontology-Grounded LLM Planning  ·  IEEE RO-MAN 2026</a:t>
            </a:r>
            <a:endParaRPr lang="en-US" sz="950" dirty="0"/>
          </a:p>
        </p:txBody>
      </p:sp>
      <p:sp>
        <p:nvSpPr>
          <p:cNvPr id="3" name="Text 1"/>
          <p:cNvSpPr/>
          <p:nvPr/>
        </p:nvSpPr>
        <p:spPr>
          <a:xfrm>
            <a:off x="10433304" y="6382512"/>
            <a:ext cx="109728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8</a:t>
            </a:r>
            <a:endParaRPr lang="en-US" sz="950" dirty="0"/>
          </a:p>
        </p:txBody>
      </p:sp>
      <p:sp>
        <p:nvSpPr>
          <p:cNvPr id="4" name="Text 2"/>
          <p:cNvSpPr/>
          <p:nvPr/>
        </p:nvSpPr>
        <p:spPr>
          <a:xfrm>
            <a:off x="658368" y="384048"/>
            <a:ext cx="10872216" cy="237744"/>
          </a:xfrm>
          <a:prstGeom prst="rect">
            <a:avLst/>
          </a:prstGeom>
          <a:noFill/>
          <a:ln/>
        </p:spPr>
        <p:txBody>
          <a:bodyPr wrap="square" lIns="0" tIns="0" rIns="0" bIns="0" rtlCol="0" anchor="ctr"/>
          <a:lstStyle/>
          <a:p>
            <a:pPr marL="0" indent="0">
              <a:buNone/>
            </a:pPr>
            <a:r>
              <a:rPr lang="en-US" sz="1050" b="1" kern="0" spc="200" dirty="0">
                <a:solidFill>
                  <a:srgbClr val="F2A65A"/>
                </a:solidFill>
                <a:latin typeface="Calibri" pitchFamily="34" charset="0"/>
                <a:ea typeface="Calibri" pitchFamily="34" charset="-122"/>
                <a:cs typeface="Calibri" pitchFamily="34" charset="-120"/>
              </a:rPr>
              <a:t>METHOD · PLANNING AND VALIDATION</a:t>
            </a:r>
            <a:endParaRPr lang="en-US" sz="1050" dirty="0"/>
          </a:p>
        </p:txBody>
      </p:sp>
      <p:sp>
        <p:nvSpPr>
          <p:cNvPr id="5" name="Text 3"/>
          <p:cNvSpPr/>
          <p:nvPr/>
        </p:nvSpPr>
        <p:spPr>
          <a:xfrm>
            <a:off x="658368" y="676656"/>
            <a:ext cx="10872216" cy="566928"/>
          </a:xfrm>
          <a:prstGeom prst="rect">
            <a:avLst/>
          </a:prstGeom>
          <a:noFill/>
          <a:ln/>
        </p:spPr>
        <p:txBody>
          <a:bodyPr wrap="square" lIns="0" tIns="0" rIns="0" bIns="0" rtlCol="0" anchor="t"/>
          <a:lstStyle/>
          <a:p>
            <a:pPr marL="0" indent="0">
              <a:buNone/>
            </a:pPr>
            <a:r>
              <a:rPr lang="en-US" sz="3000" b="1" dirty="0">
                <a:solidFill>
                  <a:srgbClr val="0E1C2B"/>
                </a:solidFill>
                <a:latin typeface="Cambria" pitchFamily="34" charset="0"/>
                <a:ea typeface="Cambria" pitchFamily="34" charset="-122"/>
                <a:cs typeface="Cambria" pitchFamily="34" charset="-120"/>
              </a:rPr>
              <a:t>Symbolic planning with a hard validity gate</a:t>
            </a:r>
            <a:endParaRPr lang="en-US" sz="3000" dirty="0"/>
          </a:p>
        </p:txBody>
      </p:sp>
      <p:sp>
        <p:nvSpPr>
          <p:cNvPr id="6" name="Shape 4"/>
          <p:cNvSpPr/>
          <p:nvPr/>
        </p:nvSpPr>
        <p:spPr>
          <a:xfrm>
            <a:off x="658368" y="1499616"/>
            <a:ext cx="5532120" cy="1874520"/>
          </a:xfrm>
          <a:prstGeom prst="roundRect">
            <a:avLst>
              <a:gd name="adj" fmla="val 3902"/>
            </a:avLst>
          </a:prstGeom>
          <a:solidFill>
            <a:srgbClr val="0E1C2B"/>
          </a:solidFill>
          <a:ln w="12700">
            <a:solidFill>
              <a:srgbClr val="0E1C2B"/>
            </a:solidFill>
            <a:prstDash val="solid"/>
          </a:ln>
          <a:effectLst>
            <a:outerShdw blurRad="127000" dist="25400" dir="5400000" algn="bl" rotWithShape="0">
              <a:srgbClr val="0E1C2B">
                <a:alpha val="10000"/>
              </a:srgbClr>
            </a:outerShdw>
          </a:effectLst>
        </p:spPr>
      </p:sp>
      <p:sp>
        <p:nvSpPr>
          <p:cNvPr id="7" name="Text 5"/>
          <p:cNvSpPr/>
          <p:nvPr/>
        </p:nvSpPr>
        <p:spPr>
          <a:xfrm>
            <a:off x="969264" y="1682496"/>
            <a:ext cx="4937760" cy="256032"/>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PLANNING FUNCTION</a:t>
            </a:r>
            <a:endParaRPr lang="en-US" sz="1100" dirty="0"/>
          </a:p>
        </p:txBody>
      </p:sp>
      <p:sp>
        <p:nvSpPr>
          <p:cNvPr id="8" name="Text 6"/>
          <p:cNvSpPr/>
          <p:nvPr/>
        </p:nvSpPr>
        <p:spPr>
          <a:xfrm>
            <a:off x="969264" y="1993392"/>
            <a:ext cx="4937760" cy="45720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πₜ  =  F_LLM ( x , Sₜ , 𝒜 )</a:t>
            </a:r>
            <a:endParaRPr lang="en-US" sz="2500" dirty="0"/>
          </a:p>
        </p:txBody>
      </p:sp>
      <p:sp>
        <p:nvSpPr>
          <p:cNvPr id="9" name="Text 7"/>
          <p:cNvSpPr/>
          <p:nvPr/>
        </p:nvSpPr>
        <p:spPr>
          <a:xfrm>
            <a:off x="969264" y="2523744"/>
            <a:ext cx="4937760" cy="713232"/>
          </a:xfrm>
          <a:prstGeom prst="rect">
            <a:avLst/>
          </a:prstGeom>
          <a:noFill/>
          <a:ln/>
        </p:spPr>
        <p:txBody>
          <a:bodyPr wrap="square" lIns="0" tIns="0" rIns="0" bIns="0" rtlCol="0" anchor="ctr"/>
          <a:lstStyle/>
          <a:p>
            <a:pPr marL="0" indent="0">
              <a:lnSpc>
                <a:spcPts val="1800"/>
              </a:lnSpc>
              <a:buNone/>
            </a:pPr>
            <a:r>
              <a:rPr lang="en-US" sz="1250" dirty="0">
                <a:solidFill>
                  <a:srgbClr val="CFE0E9"/>
                </a:solidFill>
                <a:latin typeface="Calibri" pitchFamily="34" charset="0"/>
                <a:ea typeface="Calibri" pitchFamily="34" charset="-122"/>
                <a:cs typeface="Calibri" pitchFamily="34" charset="-120"/>
              </a:rPr>
              <a:t>𝒜  =  { pick ,  place ,  move_home }   — the planner stays purely symbolic; the prompt carries the instruction, the scene, the permitted actions and a required JSON schema.</a:t>
            </a:r>
            <a:endParaRPr lang="en-US" sz="1250" dirty="0"/>
          </a:p>
        </p:txBody>
      </p:sp>
      <p:sp>
        <p:nvSpPr>
          <p:cNvPr id="10" name="Shape 8"/>
          <p:cNvSpPr/>
          <p:nvPr/>
        </p:nvSpPr>
        <p:spPr>
          <a:xfrm>
            <a:off x="6510528" y="1499616"/>
            <a:ext cx="5020056" cy="1874520"/>
          </a:xfrm>
          <a:prstGeom prst="roundRect">
            <a:avLst>
              <a:gd name="adj" fmla="val 3902"/>
            </a:avLst>
          </a:prstGeom>
          <a:solidFill>
            <a:srgbClr val="FCEEDD"/>
          </a:solidFill>
          <a:ln w="12700">
            <a:solidFill>
              <a:srgbClr val="FCEEDD"/>
            </a:solidFill>
            <a:prstDash val="solid"/>
          </a:ln>
          <a:effectLst>
            <a:outerShdw blurRad="127000" dist="25400" dir="5400000" algn="bl" rotWithShape="0">
              <a:srgbClr val="0E1C2B">
                <a:alpha val="10000"/>
              </a:srgbClr>
            </a:outerShdw>
          </a:effectLst>
        </p:spPr>
      </p:sp>
      <p:sp>
        <p:nvSpPr>
          <p:cNvPr id="11" name="Text 9"/>
          <p:cNvSpPr/>
          <p:nvPr/>
        </p:nvSpPr>
        <p:spPr>
          <a:xfrm>
            <a:off x="6821424" y="1682496"/>
            <a:ext cx="4572000" cy="256032"/>
          </a:xfrm>
          <a:prstGeom prst="rect">
            <a:avLst/>
          </a:prstGeom>
          <a:noFill/>
          <a:ln/>
        </p:spPr>
        <p:txBody>
          <a:bodyPr wrap="square" lIns="0" tIns="0" rIns="0" bIns="0" rtlCol="0" anchor="ctr"/>
          <a:lstStyle/>
          <a:p>
            <a:pPr marL="0" indent="0">
              <a:buNone/>
            </a:pPr>
            <a:r>
              <a:rPr lang="en-US" sz="1100" b="1" kern="0" spc="150" dirty="0">
                <a:solidFill>
                  <a:srgbClr val="B26A1E"/>
                </a:solidFill>
                <a:latin typeface="Calibri" pitchFamily="34" charset="0"/>
                <a:ea typeface="Calibri" pitchFamily="34" charset="-122"/>
                <a:cs typeface="Calibri" pitchFamily="34" charset="-120"/>
              </a:rPr>
              <a:t>VALIDATION FUNCTION</a:t>
            </a:r>
            <a:endParaRPr lang="en-US" sz="1100" dirty="0"/>
          </a:p>
        </p:txBody>
      </p:sp>
      <p:sp>
        <p:nvSpPr>
          <p:cNvPr id="12" name="Text 10"/>
          <p:cNvSpPr/>
          <p:nvPr/>
        </p:nvSpPr>
        <p:spPr>
          <a:xfrm>
            <a:off x="6821424" y="1993392"/>
            <a:ext cx="4572000" cy="457200"/>
          </a:xfrm>
          <a:prstGeom prst="rect">
            <a:avLst/>
          </a:prstGeom>
          <a:noFill/>
          <a:ln/>
        </p:spPr>
        <p:txBody>
          <a:bodyPr wrap="square" lIns="0" tIns="0" rIns="0" bIns="0" rtlCol="0" anchor="ctr"/>
          <a:lstStyle/>
          <a:p>
            <a:pPr marL="0" indent="0">
              <a:buNone/>
            </a:pPr>
            <a:r>
              <a:rPr lang="en-US" sz="2500" b="1" dirty="0">
                <a:solidFill>
                  <a:srgbClr val="0E1C2B"/>
                </a:solidFill>
                <a:latin typeface="Cambria" pitchFamily="34" charset="0"/>
                <a:ea typeface="Cambria" pitchFamily="34" charset="-122"/>
                <a:cs typeface="Cambria" pitchFamily="34" charset="-120"/>
              </a:rPr>
              <a:t>V ( πₜ , Sₜ )  ∈  { 0 , 1 }</a:t>
            </a:r>
            <a:endParaRPr lang="en-US" sz="2500" dirty="0"/>
          </a:p>
        </p:txBody>
      </p:sp>
      <p:sp>
        <p:nvSpPr>
          <p:cNvPr id="13" name="Text 11"/>
          <p:cNvSpPr/>
          <p:nvPr/>
        </p:nvSpPr>
        <p:spPr>
          <a:xfrm>
            <a:off x="6821424" y="2523744"/>
            <a:ext cx="4572000" cy="713232"/>
          </a:xfrm>
          <a:prstGeom prst="rect">
            <a:avLst/>
          </a:prstGeom>
          <a:noFill/>
          <a:ln/>
        </p:spPr>
        <p:txBody>
          <a:bodyPr wrap="square" lIns="0" tIns="0" rIns="0" bIns="0" rtlCol="0" anchor="ctr"/>
          <a:lstStyle/>
          <a:p>
            <a:pPr marL="0" indent="0">
              <a:lnSpc>
                <a:spcPts val="1800"/>
              </a:lnSpc>
              <a:buNone/>
            </a:pPr>
            <a:r>
              <a:rPr lang="en-US" sz="1250" dirty="0">
                <a:solidFill>
                  <a:srgbClr val="6B4A22"/>
                </a:solidFill>
                <a:latin typeface="Calibri" pitchFamily="34" charset="0"/>
                <a:ea typeface="Calibri" pitchFamily="34" charset="-122"/>
                <a:cs typeface="Calibri" pitchFamily="34" charset="-120"/>
              </a:rPr>
              <a:t>Invalid plans are returned to the LLM together with the validation errors, for at most two repair attempts.</a:t>
            </a:r>
            <a:endParaRPr lang="en-US" sz="1250" dirty="0"/>
          </a:p>
        </p:txBody>
      </p:sp>
      <p:sp>
        <p:nvSpPr>
          <p:cNvPr id="14" name="Shape 12"/>
          <p:cNvSpPr/>
          <p:nvPr/>
        </p:nvSpPr>
        <p:spPr>
          <a:xfrm>
            <a:off x="658368" y="3584448"/>
            <a:ext cx="2546604" cy="1060704"/>
          </a:xfrm>
          <a:prstGeom prst="roundRect">
            <a:avLst>
              <a:gd name="adj" fmla="val 6897"/>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5" name="Text 13"/>
          <p:cNvSpPr/>
          <p:nvPr/>
        </p:nvSpPr>
        <p:spPr>
          <a:xfrm>
            <a:off x="877824" y="3712464"/>
            <a:ext cx="2107692" cy="457200"/>
          </a:xfrm>
          <a:prstGeom prst="rect">
            <a:avLst/>
          </a:prstGeom>
          <a:noFill/>
          <a:ln/>
        </p:spPr>
        <p:txBody>
          <a:bodyPr wrap="square" lIns="0" tIns="0" rIns="0" bIns="0" rtlCol="0" anchor="t"/>
          <a:lstStyle/>
          <a:p>
            <a:pPr marL="0" indent="0">
              <a:buNone/>
            </a:pPr>
            <a:r>
              <a:rPr lang="en-US" sz="1350" b="1" dirty="0">
                <a:solidFill>
                  <a:srgbClr val="1C7293"/>
                </a:solidFill>
                <a:latin typeface="Calibri" pitchFamily="34" charset="0"/>
                <a:ea typeface="Calibri" pitchFamily="34" charset="-122"/>
                <a:cs typeface="Calibri" pitchFamily="34" charset="-120"/>
              </a:rPr>
              <a:t>Non-empty plan</a:t>
            </a:r>
            <a:endParaRPr lang="en-US" sz="1350" dirty="0"/>
          </a:p>
        </p:txBody>
      </p:sp>
      <p:sp>
        <p:nvSpPr>
          <p:cNvPr id="16" name="Text 14"/>
          <p:cNvSpPr/>
          <p:nvPr/>
        </p:nvSpPr>
        <p:spPr>
          <a:xfrm>
            <a:off x="877824" y="4114800"/>
            <a:ext cx="2107692" cy="457200"/>
          </a:xfrm>
          <a:prstGeom prst="rect">
            <a:avLst/>
          </a:prstGeom>
          <a:noFill/>
          <a:ln/>
        </p:spPr>
        <p:txBody>
          <a:bodyPr wrap="square" lIns="0" tIns="0" rIns="0" bIns="0" rtlCol="0" anchor="t"/>
          <a:lstStyle/>
          <a:p>
            <a:pPr marL="0" indent="0">
              <a:lnSpc>
                <a:spcPts val="1600"/>
              </a:lnSpc>
              <a:buNone/>
            </a:pPr>
            <a:r>
              <a:rPr lang="en-US" sz="1150" dirty="0">
                <a:solidFill>
                  <a:srgbClr val="5A6B7A"/>
                </a:solidFill>
                <a:latin typeface="Calibri" pitchFamily="34" charset="0"/>
                <a:ea typeface="Calibri" pitchFamily="34" charset="-122"/>
                <a:cs typeface="Calibri" pitchFamily="34" charset="-120"/>
              </a:rPr>
              <a:t>and only permitted actions from 𝒜</a:t>
            </a:r>
            <a:endParaRPr lang="en-US" sz="1150" dirty="0"/>
          </a:p>
        </p:txBody>
      </p:sp>
      <p:sp>
        <p:nvSpPr>
          <p:cNvPr id="17" name="Shape 15"/>
          <p:cNvSpPr/>
          <p:nvPr/>
        </p:nvSpPr>
        <p:spPr>
          <a:xfrm>
            <a:off x="3433572" y="3584448"/>
            <a:ext cx="2546604" cy="1060704"/>
          </a:xfrm>
          <a:prstGeom prst="roundRect">
            <a:avLst>
              <a:gd name="adj" fmla="val 6897"/>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8" name="Text 16"/>
          <p:cNvSpPr/>
          <p:nvPr/>
        </p:nvSpPr>
        <p:spPr>
          <a:xfrm>
            <a:off x="3653028" y="3712464"/>
            <a:ext cx="2107692" cy="457200"/>
          </a:xfrm>
          <a:prstGeom prst="rect">
            <a:avLst/>
          </a:prstGeom>
          <a:noFill/>
          <a:ln/>
        </p:spPr>
        <p:txBody>
          <a:bodyPr wrap="square" lIns="0" tIns="0" rIns="0" bIns="0" rtlCol="0" anchor="t"/>
          <a:lstStyle/>
          <a:p>
            <a:pPr marL="0" indent="0">
              <a:buNone/>
            </a:pPr>
            <a:r>
              <a:rPr lang="en-US" sz="1350" b="1" dirty="0">
                <a:solidFill>
                  <a:srgbClr val="1C7293"/>
                </a:solidFill>
                <a:latin typeface="Calibri" pitchFamily="34" charset="0"/>
                <a:ea typeface="Calibri" pitchFamily="34" charset="-122"/>
                <a:cs typeface="Calibri" pitchFamily="34" charset="-120"/>
              </a:rPr>
              <a:t>Known objects and targets</a:t>
            </a:r>
            <a:endParaRPr lang="en-US" sz="1350" dirty="0"/>
          </a:p>
        </p:txBody>
      </p:sp>
      <p:sp>
        <p:nvSpPr>
          <p:cNvPr id="19" name="Text 17"/>
          <p:cNvSpPr/>
          <p:nvPr/>
        </p:nvSpPr>
        <p:spPr>
          <a:xfrm>
            <a:off x="3653028" y="4114800"/>
            <a:ext cx="2107692" cy="457200"/>
          </a:xfrm>
          <a:prstGeom prst="rect">
            <a:avLst/>
          </a:prstGeom>
          <a:noFill/>
          <a:ln/>
        </p:spPr>
        <p:txBody>
          <a:bodyPr wrap="square" lIns="0" tIns="0" rIns="0" bIns="0" rtlCol="0" anchor="t"/>
          <a:lstStyle/>
          <a:p>
            <a:pPr marL="0" indent="0">
              <a:lnSpc>
                <a:spcPts val="1600"/>
              </a:lnSpc>
              <a:buNone/>
            </a:pPr>
            <a:r>
              <a:rPr lang="en-US" sz="1150" dirty="0">
                <a:solidFill>
                  <a:srgbClr val="5A6B7A"/>
                </a:solidFill>
                <a:latin typeface="Calibri" pitchFamily="34" charset="0"/>
                <a:ea typeface="Calibri" pitchFamily="34" charset="-122"/>
                <a:cs typeface="Calibri" pitchFamily="34" charset="-120"/>
              </a:rPr>
              <a:t>every referent must exist in Sₜ</a:t>
            </a:r>
            <a:endParaRPr lang="en-US" sz="1150" dirty="0"/>
          </a:p>
        </p:txBody>
      </p:sp>
      <p:sp>
        <p:nvSpPr>
          <p:cNvPr id="20" name="Shape 18"/>
          <p:cNvSpPr/>
          <p:nvPr/>
        </p:nvSpPr>
        <p:spPr>
          <a:xfrm>
            <a:off x="6208776" y="3584448"/>
            <a:ext cx="2546604" cy="1060704"/>
          </a:xfrm>
          <a:prstGeom prst="roundRect">
            <a:avLst>
              <a:gd name="adj" fmla="val 6897"/>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21" name="Text 19"/>
          <p:cNvSpPr/>
          <p:nvPr/>
        </p:nvSpPr>
        <p:spPr>
          <a:xfrm>
            <a:off x="6428232" y="3712464"/>
            <a:ext cx="2107692" cy="457200"/>
          </a:xfrm>
          <a:prstGeom prst="rect">
            <a:avLst/>
          </a:prstGeom>
          <a:noFill/>
          <a:ln/>
        </p:spPr>
        <p:txBody>
          <a:bodyPr wrap="square" lIns="0" tIns="0" rIns="0" bIns="0" rtlCol="0" anchor="t"/>
          <a:lstStyle/>
          <a:p>
            <a:pPr marL="0" indent="0">
              <a:buNone/>
            </a:pPr>
            <a:r>
              <a:rPr lang="en-US" sz="1350" b="1" dirty="0">
                <a:solidFill>
                  <a:srgbClr val="1C7293"/>
                </a:solidFill>
                <a:latin typeface="Calibri" pitchFamily="34" charset="0"/>
                <a:ea typeface="Calibri" pitchFamily="34" charset="-122"/>
                <a:cs typeface="Calibri" pitchFamily="34" charset="-120"/>
              </a:rPr>
              <a:t>Holding-state consistency</a:t>
            </a:r>
            <a:endParaRPr lang="en-US" sz="1350" dirty="0"/>
          </a:p>
        </p:txBody>
      </p:sp>
      <p:sp>
        <p:nvSpPr>
          <p:cNvPr id="22" name="Text 20"/>
          <p:cNvSpPr/>
          <p:nvPr/>
        </p:nvSpPr>
        <p:spPr>
          <a:xfrm>
            <a:off x="6428232" y="4114800"/>
            <a:ext cx="2107692" cy="457200"/>
          </a:xfrm>
          <a:prstGeom prst="rect">
            <a:avLst/>
          </a:prstGeom>
          <a:noFill/>
          <a:ln/>
        </p:spPr>
        <p:txBody>
          <a:bodyPr wrap="square" lIns="0" tIns="0" rIns="0" bIns="0" rtlCol="0" anchor="t"/>
          <a:lstStyle/>
          <a:p>
            <a:pPr marL="0" indent="0">
              <a:lnSpc>
                <a:spcPts val="1600"/>
              </a:lnSpc>
              <a:buNone/>
            </a:pPr>
            <a:r>
              <a:rPr lang="en-US" sz="1150" dirty="0">
                <a:solidFill>
                  <a:srgbClr val="5A6B7A"/>
                </a:solidFill>
                <a:latin typeface="Calibri" pitchFamily="34" charset="0"/>
                <a:ea typeface="Calibri" pitchFamily="34" charset="-122"/>
                <a:cs typeface="Calibri" pitchFamily="34" charset="-120"/>
              </a:rPr>
              <a:t>no pick while already holding an object</a:t>
            </a:r>
            <a:endParaRPr lang="en-US" sz="1150" dirty="0"/>
          </a:p>
        </p:txBody>
      </p:sp>
      <p:sp>
        <p:nvSpPr>
          <p:cNvPr id="23" name="Shape 21"/>
          <p:cNvSpPr/>
          <p:nvPr/>
        </p:nvSpPr>
        <p:spPr>
          <a:xfrm>
            <a:off x="8983980" y="3584448"/>
            <a:ext cx="2546604" cy="1060704"/>
          </a:xfrm>
          <a:prstGeom prst="roundRect">
            <a:avLst>
              <a:gd name="adj" fmla="val 6897"/>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24" name="Text 22"/>
          <p:cNvSpPr/>
          <p:nvPr/>
        </p:nvSpPr>
        <p:spPr>
          <a:xfrm>
            <a:off x="9203436" y="3712464"/>
            <a:ext cx="2107692" cy="457200"/>
          </a:xfrm>
          <a:prstGeom prst="rect">
            <a:avLst/>
          </a:prstGeom>
          <a:noFill/>
          <a:ln/>
        </p:spPr>
        <p:txBody>
          <a:bodyPr wrap="square" lIns="0" tIns="0" rIns="0" bIns="0" rtlCol="0" anchor="t"/>
          <a:lstStyle/>
          <a:p>
            <a:pPr marL="0" indent="0">
              <a:buNone/>
            </a:pPr>
            <a:r>
              <a:rPr lang="en-US" sz="1350" b="1" dirty="0">
                <a:solidFill>
                  <a:srgbClr val="1C7293"/>
                </a:solidFill>
                <a:latin typeface="Calibri" pitchFamily="34" charset="0"/>
                <a:ea typeface="Calibri" pitchFamily="34" charset="-122"/>
                <a:cs typeface="Calibri" pitchFamily="34" charset="-120"/>
              </a:rPr>
              <a:t>Correct place semantics</a:t>
            </a:r>
            <a:endParaRPr lang="en-US" sz="1350" dirty="0"/>
          </a:p>
        </p:txBody>
      </p:sp>
      <p:sp>
        <p:nvSpPr>
          <p:cNvPr id="25" name="Text 23"/>
          <p:cNvSpPr/>
          <p:nvPr/>
        </p:nvSpPr>
        <p:spPr>
          <a:xfrm>
            <a:off x="9203436" y="4114800"/>
            <a:ext cx="2107692" cy="457200"/>
          </a:xfrm>
          <a:prstGeom prst="rect">
            <a:avLst/>
          </a:prstGeom>
          <a:noFill/>
          <a:ln/>
        </p:spPr>
        <p:txBody>
          <a:bodyPr wrap="square" lIns="0" tIns="0" rIns="0" bIns="0" rtlCol="0" anchor="t"/>
          <a:lstStyle/>
          <a:p>
            <a:pPr marL="0" indent="0">
              <a:lnSpc>
                <a:spcPts val="1600"/>
              </a:lnSpc>
              <a:buNone/>
            </a:pPr>
            <a:r>
              <a:rPr lang="en-US" sz="1150" dirty="0">
                <a:solidFill>
                  <a:srgbClr val="5A6B7A"/>
                </a:solidFill>
                <a:latin typeface="Calibri" pitchFamily="34" charset="0"/>
                <a:ea typeface="Calibri" pitchFamily="34" charset="-122"/>
                <a:cs typeface="Calibri" pitchFamily="34" charset="-120"/>
              </a:rPr>
              <a:t>no place with an empty hand or the wrong object</a:t>
            </a:r>
            <a:endParaRPr lang="en-US" sz="1150" dirty="0"/>
          </a:p>
        </p:txBody>
      </p:sp>
      <p:sp>
        <p:nvSpPr>
          <p:cNvPr id="26" name="Text 24"/>
          <p:cNvSpPr/>
          <p:nvPr/>
        </p:nvSpPr>
        <p:spPr>
          <a:xfrm>
            <a:off x="658368" y="4882896"/>
            <a:ext cx="10872216" cy="402336"/>
          </a:xfrm>
          <a:prstGeom prst="rect">
            <a:avLst/>
          </a:prstGeom>
          <a:noFill/>
          <a:ln/>
        </p:spPr>
        <p:txBody>
          <a:bodyPr wrap="square" lIns="0" tIns="0" rIns="0" bIns="0" rtlCol="0" anchor="ctr"/>
          <a:lstStyle/>
          <a:p>
            <a:pPr marL="0" indent="0">
              <a:buNone/>
            </a:pPr>
            <a:r>
              <a:rPr lang="en-US" sz="1450" i="1" dirty="0">
                <a:solidFill>
                  <a:srgbClr val="0E1C2B"/>
                </a:solidFill>
                <a:latin typeface="Calibri" pitchFamily="34" charset="0"/>
                <a:ea typeface="Calibri" pitchFamily="34" charset="-122"/>
                <a:cs typeface="Calibri" pitchFamily="34" charset="-120"/>
              </a:rPr>
              <a:t>Every validated symbolic action is mapped to a predefined manipulation skill — high-level reasoning stays decoupled from low-level control.</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58368" y="6382512"/>
            <a:ext cx="68580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Ontology-Grounded LLM Planning  ·  IEEE RO-MAN 2026</a:t>
            </a:r>
            <a:endParaRPr lang="en-US" sz="950" dirty="0"/>
          </a:p>
        </p:txBody>
      </p:sp>
      <p:sp>
        <p:nvSpPr>
          <p:cNvPr id="3" name="Text 1"/>
          <p:cNvSpPr/>
          <p:nvPr/>
        </p:nvSpPr>
        <p:spPr>
          <a:xfrm>
            <a:off x="10433304" y="6382512"/>
            <a:ext cx="109728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9</a:t>
            </a:r>
            <a:endParaRPr lang="en-US" sz="950" dirty="0"/>
          </a:p>
        </p:txBody>
      </p:sp>
      <p:sp>
        <p:nvSpPr>
          <p:cNvPr id="4" name="Text 2"/>
          <p:cNvSpPr/>
          <p:nvPr/>
        </p:nvSpPr>
        <p:spPr>
          <a:xfrm>
            <a:off x="658368" y="384048"/>
            <a:ext cx="10872216" cy="237744"/>
          </a:xfrm>
          <a:prstGeom prst="rect">
            <a:avLst/>
          </a:prstGeom>
          <a:noFill/>
          <a:ln/>
        </p:spPr>
        <p:txBody>
          <a:bodyPr wrap="square" lIns="0" tIns="0" rIns="0" bIns="0" rtlCol="0" anchor="ctr"/>
          <a:lstStyle/>
          <a:p>
            <a:pPr marL="0" indent="0">
              <a:buNone/>
            </a:pPr>
            <a:r>
              <a:rPr lang="en-US" sz="1050" b="1" kern="0" spc="200" dirty="0">
                <a:solidFill>
                  <a:srgbClr val="F2A65A"/>
                </a:solidFill>
                <a:latin typeface="Calibri" pitchFamily="34" charset="0"/>
                <a:ea typeface="Calibri" pitchFamily="34" charset="-122"/>
                <a:cs typeface="Calibri" pitchFamily="34" charset="-120"/>
              </a:rPr>
              <a:t>METHOD · CLOSED LOOP</a:t>
            </a:r>
            <a:endParaRPr lang="en-US" sz="1050" dirty="0"/>
          </a:p>
        </p:txBody>
      </p:sp>
      <p:sp>
        <p:nvSpPr>
          <p:cNvPr id="5" name="Text 3"/>
          <p:cNvSpPr/>
          <p:nvPr/>
        </p:nvSpPr>
        <p:spPr>
          <a:xfrm>
            <a:off x="658368" y="676656"/>
            <a:ext cx="10872216" cy="566928"/>
          </a:xfrm>
          <a:prstGeom prst="rect">
            <a:avLst/>
          </a:prstGeom>
          <a:noFill/>
          <a:ln/>
        </p:spPr>
        <p:txBody>
          <a:bodyPr wrap="square" lIns="0" tIns="0" rIns="0" bIns="0" rtlCol="0" anchor="t"/>
          <a:lstStyle/>
          <a:p>
            <a:pPr marL="0" indent="0">
              <a:buNone/>
            </a:pPr>
            <a:r>
              <a:rPr lang="en-US" sz="3000" b="1" dirty="0">
                <a:solidFill>
                  <a:srgbClr val="0E1C2B"/>
                </a:solidFill>
                <a:latin typeface="Cambria" pitchFamily="34" charset="0"/>
                <a:ea typeface="Cambria" pitchFamily="34" charset="-122"/>
                <a:cs typeface="Cambria" pitchFamily="34" charset="-120"/>
              </a:rPr>
              <a:t>Failure is a trigger, not a dead end</a:t>
            </a:r>
            <a:endParaRPr lang="en-US" sz="3000" dirty="0"/>
          </a:p>
        </p:txBody>
      </p:sp>
      <p:sp>
        <p:nvSpPr>
          <p:cNvPr id="6" name="Shape 4"/>
          <p:cNvSpPr/>
          <p:nvPr/>
        </p:nvSpPr>
        <p:spPr>
          <a:xfrm>
            <a:off x="658368" y="1572768"/>
            <a:ext cx="2048256" cy="1060704"/>
          </a:xfrm>
          <a:prstGeom prst="roundRect">
            <a:avLst>
              <a:gd name="adj" fmla="val 6897"/>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7" name="Shape 5"/>
          <p:cNvSpPr/>
          <p:nvPr/>
        </p:nvSpPr>
        <p:spPr>
          <a:xfrm>
            <a:off x="877824" y="1737360"/>
            <a:ext cx="329184" cy="329184"/>
          </a:xfrm>
          <a:prstGeom prst="ellipse">
            <a:avLst/>
          </a:prstGeom>
          <a:solidFill>
            <a:srgbClr val="F2A65A"/>
          </a:solidFill>
          <a:ln w="12700">
            <a:solidFill>
              <a:srgbClr val="F2A65A"/>
            </a:solidFill>
            <a:prstDash val="solid"/>
          </a:ln>
        </p:spPr>
      </p:sp>
      <p:sp>
        <p:nvSpPr>
          <p:cNvPr id="8" name="Text 6"/>
          <p:cNvSpPr/>
          <p:nvPr/>
        </p:nvSpPr>
        <p:spPr>
          <a:xfrm>
            <a:off x="877824" y="1737360"/>
            <a:ext cx="329184" cy="329184"/>
          </a:xfrm>
          <a:prstGeom prst="rect">
            <a:avLst/>
          </a:prstGeom>
          <a:noFill/>
          <a:ln/>
        </p:spPr>
        <p:txBody>
          <a:bodyPr wrap="square" lIns="0" tIns="0" rIns="0" bIns="0" rtlCol="0" anchor="ctr"/>
          <a:lstStyle/>
          <a:p>
            <a:pPr marL="0" indent="0" algn="ctr">
              <a:buNone/>
            </a:pPr>
            <a:r>
              <a:rPr lang="en-US" sz="1300" b="1" dirty="0">
                <a:solidFill>
                  <a:srgbClr val="0E1C2B"/>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859536" y="2139696"/>
            <a:ext cx="1645920" cy="384048"/>
          </a:xfrm>
          <a:prstGeom prst="rect">
            <a:avLst/>
          </a:prstGeom>
          <a:noFill/>
          <a:ln/>
        </p:spPr>
        <p:txBody>
          <a:bodyPr wrap="square" lIns="0" tIns="0" rIns="0" bIns="0" rtlCol="0" anchor="ctr"/>
          <a:lstStyle/>
          <a:p>
            <a:pPr marL="0" indent="0">
              <a:buNone/>
            </a:pPr>
            <a:r>
              <a:rPr lang="en-US" sz="1400" b="1" dirty="0">
                <a:solidFill>
                  <a:srgbClr val="0E1C2B"/>
                </a:solidFill>
                <a:latin typeface="Calibri" pitchFamily="34" charset="0"/>
                <a:ea typeface="Calibri" pitchFamily="34" charset="-122"/>
                <a:cs typeface="Calibri" pitchFamily="34" charset="-120"/>
              </a:rPr>
              <a:t>Generate plan</a:t>
            </a:r>
            <a:endParaRPr lang="en-US" sz="1400" dirty="0"/>
          </a:p>
        </p:txBody>
      </p:sp>
      <p:sp>
        <p:nvSpPr>
          <p:cNvPr id="10" name="Shape 8"/>
          <p:cNvSpPr/>
          <p:nvPr/>
        </p:nvSpPr>
        <p:spPr>
          <a:xfrm>
            <a:off x="2734056" y="1993392"/>
            <a:ext cx="164592" cy="219456"/>
          </a:xfrm>
          <a:prstGeom prst="rightArrow">
            <a:avLst/>
          </a:prstGeom>
          <a:solidFill>
            <a:srgbClr val="F2A65A"/>
          </a:solidFill>
          <a:ln w="12700">
            <a:solidFill>
              <a:srgbClr val="F2A65A"/>
            </a:solidFill>
            <a:prstDash val="solid"/>
          </a:ln>
        </p:spPr>
      </p:sp>
      <p:sp>
        <p:nvSpPr>
          <p:cNvPr id="11" name="Shape 9"/>
          <p:cNvSpPr/>
          <p:nvPr/>
        </p:nvSpPr>
        <p:spPr>
          <a:xfrm>
            <a:off x="2926080" y="1572768"/>
            <a:ext cx="2048256" cy="1060704"/>
          </a:xfrm>
          <a:prstGeom prst="roundRect">
            <a:avLst>
              <a:gd name="adj" fmla="val 6897"/>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2" name="Shape 10"/>
          <p:cNvSpPr/>
          <p:nvPr/>
        </p:nvSpPr>
        <p:spPr>
          <a:xfrm>
            <a:off x="3145536" y="1737360"/>
            <a:ext cx="329184" cy="329184"/>
          </a:xfrm>
          <a:prstGeom prst="ellipse">
            <a:avLst/>
          </a:prstGeom>
          <a:solidFill>
            <a:srgbClr val="F2A65A"/>
          </a:solidFill>
          <a:ln w="12700">
            <a:solidFill>
              <a:srgbClr val="F2A65A"/>
            </a:solidFill>
            <a:prstDash val="solid"/>
          </a:ln>
        </p:spPr>
      </p:sp>
      <p:sp>
        <p:nvSpPr>
          <p:cNvPr id="13" name="Text 11"/>
          <p:cNvSpPr/>
          <p:nvPr/>
        </p:nvSpPr>
        <p:spPr>
          <a:xfrm>
            <a:off x="3145536" y="1737360"/>
            <a:ext cx="329184" cy="329184"/>
          </a:xfrm>
          <a:prstGeom prst="rect">
            <a:avLst/>
          </a:prstGeom>
          <a:noFill/>
          <a:ln/>
        </p:spPr>
        <p:txBody>
          <a:bodyPr wrap="square" lIns="0" tIns="0" rIns="0" bIns="0" rtlCol="0" anchor="ctr"/>
          <a:lstStyle/>
          <a:p>
            <a:pPr marL="0" indent="0" algn="ctr">
              <a:buNone/>
            </a:pPr>
            <a:r>
              <a:rPr lang="en-US" sz="1300" b="1" dirty="0">
                <a:solidFill>
                  <a:srgbClr val="0E1C2B"/>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3127248" y="2139696"/>
            <a:ext cx="1645920" cy="384048"/>
          </a:xfrm>
          <a:prstGeom prst="rect">
            <a:avLst/>
          </a:prstGeom>
          <a:noFill/>
          <a:ln/>
        </p:spPr>
        <p:txBody>
          <a:bodyPr wrap="square" lIns="0" tIns="0" rIns="0" bIns="0" rtlCol="0" anchor="ctr"/>
          <a:lstStyle/>
          <a:p>
            <a:pPr marL="0" indent="0">
              <a:buNone/>
            </a:pPr>
            <a:r>
              <a:rPr lang="en-US" sz="1400" b="1" dirty="0">
                <a:solidFill>
                  <a:srgbClr val="0E1C2B"/>
                </a:solidFill>
                <a:latin typeface="Calibri" pitchFamily="34" charset="0"/>
                <a:ea typeface="Calibri" pitchFamily="34" charset="-122"/>
                <a:cs typeface="Calibri" pitchFamily="34" charset="-120"/>
              </a:rPr>
              <a:t>Validate plan</a:t>
            </a:r>
            <a:endParaRPr lang="en-US" sz="1400" dirty="0"/>
          </a:p>
        </p:txBody>
      </p:sp>
      <p:sp>
        <p:nvSpPr>
          <p:cNvPr id="15" name="Shape 13"/>
          <p:cNvSpPr/>
          <p:nvPr/>
        </p:nvSpPr>
        <p:spPr>
          <a:xfrm>
            <a:off x="5001768" y="1993392"/>
            <a:ext cx="164592" cy="219456"/>
          </a:xfrm>
          <a:prstGeom prst="rightArrow">
            <a:avLst/>
          </a:prstGeom>
          <a:solidFill>
            <a:srgbClr val="F2A65A"/>
          </a:solidFill>
          <a:ln w="12700">
            <a:solidFill>
              <a:srgbClr val="F2A65A"/>
            </a:solidFill>
            <a:prstDash val="solid"/>
          </a:ln>
        </p:spPr>
      </p:sp>
      <p:sp>
        <p:nvSpPr>
          <p:cNvPr id="16" name="Shape 14"/>
          <p:cNvSpPr/>
          <p:nvPr/>
        </p:nvSpPr>
        <p:spPr>
          <a:xfrm>
            <a:off x="5193792" y="1572768"/>
            <a:ext cx="2048256" cy="1060704"/>
          </a:xfrm>
          <a:prstGeom prst="roundRect">
            <a:avLst>
              <a:gd name="adj" fmla="val 6897"/>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7" name="Shape 15"/>
          <p:cNvSpPr/>
          <p:nvPr/>
        </p:nvSpPr>
        <p:spPr>
          <a:xfrm>
            <a:off x="5413248" y="1737360"/>
            <a:ext cx="329184" cy="329184"/>
          </a:xfrm>
          <a:prstGeom prst="ellipse">
            <a:avLst/>
          </a:prstGeom>
          <a:solidFill>
            <a:srgbClr val="F2A65A"/>
          </a:solidFill>
          <a:ln w="12700">
            <a:solidFill>
              <a:srgbClr val="F2A65A"/>
            </a:solidFill>
            <a:prstDash val="solid"/>
          </a:ln>
        </p:spPr>
      </p:sp>
      <p:sp>
        <p:nvSpPr>
          <p:cNvPr id="18" name="Text 16"/>
          <p:cNvSpPr/>
          <p:nvPr/>
        </p:nvSpPr>
        <p:spPr>
          <a:xfrm>
            <a:off x="5413248" y="1737360"/>
            <a:ext cx="329184" cy="329184"/>
          </a:xfrm>
          <a:prstGeom prst="rect">
            <a:avLst/>
          </a:prstGeom>
          <a:noFill/>
          <a:ln/>
        </p:spPr>
        <p:txBody>
          <a:bodyPr wrap="square" lIns="0" tIns="0" rIns="0" bIns="0" rtlCol="0" anchor="ctr"/>
          <a:lstStyle/>
          <a:p>
            <a:pPr marL="0" indent="0" algn="ctr">
              <a:buNone/>
            </a:pPr>
            <a:r>
              <a:rPr lang="en-US" sz="1300" b="1" dirty="0">
                <a:solidFill>
                  <a:srgbClr val="0E1C2B"/>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5394960" y="2139696"/>
            <a:ext cx="1645920" cy="384048"/>
          </a:xfrm>
          <a:prstGeom prst="rect">
            <a:avLst/>
          </a:prstGeom>
          <a:noFill/>
          <a:ln/>
        </p:spPr>
        <p:txBody>
          <a:bodyPr wrap="square" lIns="0" tIns="0" rIns="0" bIns="0" rtlCol="0" anchor="ctr"/>
          <a:lstStyle/>
          <a:p>
            <a:pPr marL="0" indent="0">
              <a:buNone/>
            </a:pPr>
            <a:r>
              <a:rPr lang="en-US" sz="1400" b="1" dirty="0">
                <a:solidFill>
                  <a:srgbClr val="0E1C2B"/>
                </a:solidFill>
                <a:latin typeface="Calibri" pitchFamily="34" charset="0"/>
                <a:ea typeface="Calibri" pitchFamily="34" charset="-122"/>
                <a:cs typeface="Calibri" pitchFamily="34" charset="-120"/>
              </a:rPr>
              <a:t>Execute action</a:t>
            </a:r>
            <a:endParaRPr lang="en-US" sz="1400" dirty="0"/>
          </a:p>
        </p:txBody>
      </p:sp>
      <p:sp>
        <p:nvSpPr>
          <p:cNvPr id="20" name="Shape 18"/>
          <p:cNvSpPr/>
          <p:nvPr/>
        </p:nvSpPr>
        <p:spPr>
          <a:xfrm>
            <a:off x="7269480" y="1993392"/>
            <a:ext cx="164592" cy="219456"/>
          </a:xfrm>
          <a:prstGeom prst="rightArrow">
            <a:avLst/>
          </a:prstGeom>
          <a:solidFill>
            <a:srgbClr val="F2A65A"/>
          </a:solidFill>
          <a:ln w="12700">
            <a:solidFill>
              <a:srgbClr val="F2A65A"/>
            </a:solidFill>
            <a:prstDash val="solid"/>
          </a:ln>
        </p:spPr>
      </p:sp>
      <p:sp>
        <p:nvSpPr>
          <p:cNvPr id="21" name="Shape 19"/>
          <p:cNvSpPr/>
          <p:nvPr/>
        </p:nvSpPr>
        <p:spPr>
          <a:xfrm>
            <a:off x="7461504" y="1572768"/>
            <a:ext cx="2048256" cy="1060704"/>
          </a:xfrm>
          <a:prstGeom prst="roundRect">
            <a:avLst>
              <a:gd name="adj" fmla="val 6897"/>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22" name="Shape 20"/>
          <p:cNvSpPr/>
          <p:nvPr/>
        </p:nvSpPr>
        <p:spPr>
          <a:xfrm>
            <a:off x="7680960" y="1737360"/>
            <a:ext cx="329184" cy="329184"/>
          </a:xfrm>
          <a:prstGeom prst="ellipse">
            <a:avLst/>
          </a:prstGeom>
          <a:solidFill>
            <a:srgbClr val="F2A65A"/>
          </a:solidFill>
          <a:ln w="12700">
            <a:solidFill>
              <a:srgbClr val="F2A65A"/>
            </a:solidFill>
            <a:prstDash val="solid"/>
          </a:ln>
        </p:spPr>
      </p:sp>
      <p:sp>
        <p:nvSpPr>
          <p:cNvPr id="23" name="Text 21"/>
          <p:cNvSpPr/>
          <p:nvPr/>
        </p:nvSpPr>
        <p:spPr>
          <a:xfrm>
            <a:off x="7680960" y="1737360"/>
            <a:ext cx="329184" cy="329184"/>
          </a:xfrm>
          <a:prstGeom prst="rect">
            <a:avLst/>
          </a:prstGeom>
          <a:noFill/>
          <a:ln/>
        </p:spPr>
        <p:txBody>
          <a:bodyPr wrap="square" lIns="0" tIns="0" rIns="0" bIns="0" rtlCol="0" anchor="ctr"/>
          <a:lstStyle/>
          <a:p>
            <a:pPr marL="0" indent="0" algn="ctr">
              <a:buNone/>
            </a:pPr>
            <a:r>
              <a:rPr lang="en-US" sz="1300" b="1" dirty="0">
                <a:solidFill>
                  <a:srgbClr val="0E1C2B"/>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7662672" y="2139696"/>
            <a:ext cx="1645920" cy="384048"/>
          </a:xfrm>
          <a:prstGeom prst="rect">
            <a:avLst/>
          </a:prstGeom>
          <a:noFill/>
          <a:ln/>
        </p:spPr>
        <p:txBody>
          <a:bodyPr wrap="square" lIns="0" tIns="0" rIns="0" bIns="0" rtlCol="0" anchor="ctr"/>
          <a:lstStyle/>
          <a:p>
            <a:pPr marL="0" indent="0">
              <a:buNone/>
            </a:pPr>
            <a:r>
              <a:rPr lang="en-US" sz="1400" b="1" dirty="0">
                <a:solidFill>
                  <a:srgbClr val="0E1C2B"/>
                </a:solidFill>
                <a:latin typeface="Calibri" pitchFamily="34" charset="0"/>
                <a:ea typeface="Calibri" pitchFamily="34" charset="-122"/>
                <a:cs typeface="Calibri" pitchFamily="34" charset="-120"/>
              </a:rPr>
              <a:t>Observe outcome</a:t>
            </a:r>
            <a:endParaRPr lang="en-US" sz="1400" dirty="0"/>
          </a:p>
        </p:txBody>
      </p:sp>
      <p:sp>
        <p:nvSpPr>
          <p:cNvPr id="25" name="Shape 23"/>
          <p:cNvSpPr/>
          <p:nvPr/>
        </p:nvSpPr>
        <p:spPr>
          <a:xfrm>
            <a:off x="9537192" y="1993392"/>
            <a:ext cx="164592" cy="219456"/>
          </a:xfrm>
          <a:prstGeom prst="rightArrow">
            <a:avLst/>
          </a:prstGeom>
          <a:solidFill>
            <a:srgbClr val="F2A65A"/>
          </a:solidFill>
          <a:ln w="12700">
            <a:solidFill>
              <a:srgbClr val="F2A65A"/>
            </a:solidFill>
            <a:prstDash val="solid"/>
          </a:ln>
        </p:spPr>
      </p:sp>
      <p:sp>
        <p:nvSpPr>
          <p:cNvPr id="26" name="Shape 24"/>
          <p:cNvSpPr/>
          <p:nvPr/>
        </p:nvSpPr>
        <p:spPr>
          <a:xfrm>
            <a:off x="9729216" y="1572768"/>
            <a:ext cx="2048256" cy="1060704"/>
          </a:xfrm>
          <a:prstGeom prst="roundRect">
            <a:avLst>
              <a:gd name="adj" fmla="val 6897"/>
            </a:avLst>
          </a:prstGeom>
          <a:solidFill>
            <a:srgbClr val="E3EEF3"/>
          </a:solidFill>
          <a:ln w="12700">
            <a:solidFill>
              <a:srgbClr val="E3EEF3"/>
            </a:solidFill>
            <a:prstDash val="solid"/>
          </a:ln>
          <a:effectLst>
            <a:outerShdw blurRad="127000" dist="25400" dir="5400000" algn="bl" rotWithShape="0">
              <a:srgbClr val="0E1C2B">
                <a:alpha val="10000"/>
              </a:srgbClr>
            </a:outerShdw>
          </a:effectLst>
        </p:spPr>
      </p:sp>
      <p:sp>
        <p:nvSpPr>
          <p:cNvPr id="27" name="Shape 25"/>
          <p:cNvSpPr/>
          <p:nvPr/>
        </p:nvSpPr>
        <p:spPr>
          <a:xfrm>
            <a:off x="9948672" y="1737360"/>
            <a:ext cx="329184" cy="329184"/>
          </a:xfrm>
          <a:prstGeom prst="ellipse">
            <a:avLst/>
          </a:prstGeom>
          <a:solidFill>
            <a:srgbClr val="F2A65A"/>
          </a:solidFill>
          <a:ln w="12700">
            <a:solidFill>
              <a:srgbClr val="F2A65A"/>
            </a:solidFill>
            <a:prstDash val="solid"/>
          </a:ln>
        </p:spPr>
      </p:sp>
      <p:sp>
        <p:nvSpPr>
          <p:cNvPr id="28" name="Text 26"/>
          <p:cNvSpPr/>
          <p:nvPr/>
        </p:nvSpPr>
        <p:spPr>
          <a:xfrm>
            <a:off x="9948672" y="1737360"/>
            <a:ext cx="329184" cy="329184"/>
          </a:xfrm>
          <a:prstGeom prst="rect">
            <a:avLst/>
          </a:prstGeom>
          <a:noFill/>
          <a:ln/>
        </p:spPr>
        <p:txBody>
          <a:bodyPr wrap="square" lIns="0" tIns="0" rIns="0" bIns="0" rtlCol="0" anchor="ctr"/>
          <a:lstStyle/>
          <a:p>
            <a:pPr marL="0" indent="0" algn="ctr">
              <a:buNone/>
            </a:pPr>
            <a:r>
              <a:rPr lang="en-US" sz="1300" b="1" dirty="0">
                <a:solidFill>
                  <a:srgbClr val="0E1C2B"/>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9930384" y="2139696"/>
            <a:ext cx="1645920" cy="384048"/>
          </a:xfrm>
          <a:prstGeom prst="rect">
            <a:avLst/>
          </a:prstGeom>
          <a:noFill/>
          <a:ln/>
        </p:spPr>
        <p:txBody>
          <a:bodyPr wrap="square" lIns="0" tIns="0" rIns="0" bIns="0" rtlCol="0" anchor="ctr"/>
          <a:lstStyle/>
          <a:p>
            <a:pPr marL="0" indent="0">
              <a:buNone/>
            </a:pPr>
            <a:r>
              <a:rPr lang="en-US" sz="1400" b="1" dirty="0">
                <a:solidFill>
                  <a:srgbClr val="0E1C2B"/>
                </a:solidFill>
                <a:latin typeface="Calibri" pitchFamily="34" charset="0"/>
                <a:ea typeface="Calibri" pitchFamily="34" charset="-122"/>
                <a:cs typeface="Calibri" pitchFamily="34" charset="-120"/>
              </a:rPr>
              <a:t>Update world state</a:t>
            </a:r>
            <a:endParaRPr lang="en-US" sz="1400" dirty="0"/>
          </a:p>
        </p:txBody>
      </p:sp>
      <p:sp>
        <p:nvSpPr>
          <p:cNvPr id="30" name="Shape 28"/>
          <p:cNvSpPr/>
          <p:nvPr/>
        </p:nvSpPr>
        <p:spPr>
          <a:xfrm>
            <a:off x="10506456" y="2633472"/>
            <a:ext cx="0" cy="457200"/>
          </a:xfrm>
          <a:prstGeom prst="line">
            <a:avLst/>
          </a:prstGeom>
          <a:noFill/>
          <a:ln w="22225">
            <a:solidFill>
              <a:srgbClr val="1C7293"/>
            </a:solidFill>
            <a:prstDash val="solid"/>
          </a:ln>
        </p:spPr>
      </p:sp>
      <p:sp>
        <p:nvSpPr>
          <p:cNvPr id="31" name="Shape 29"/>
          <p:cNvSpPr/>
          <p:nvPr/>
        </p:nvSpPr>
        <p:spPr>
          <a:xfrm>
            <a:off x="1682496" y="3090672"/>
            <a:ext cx="8823960" cy="0"/>
          </a:xfrm>
          <a:prstGeom prst="line">
            <a:avLst/>
          </a:prstGeom>
          <a:noFill/>
          <a:ln w="22225">
            <a:solidFill>
              <a:srgbClr val="1C7293"/>
            </a:solidFill>
            <a:prstDash val="solid"/>
            <a:headEnd type="triangle"/>
          </a:ln>
        </p:spPr>
      </p:sp>
      <p:sp>
        <p:nvSpPr>
          <p:cNvPr id="32" name="Shape 30"/>
          <p:cNvSpPr/>
          <p:nvPr/>
        </p:nvSpPr>
        <p:spPr>
          <a:xfrm>
            <a:off x="1682496" y="2633472"/>
            <a:ext cx="0" cy="457200"/>
          </a:xfrm>
          <a:prstGeom prst="line">
            <a:avLst/>
          </a:prstGeom>
          <a:noFill/>
          <a:ln w="22225">
            <a:solidFill>
              <a:srgbClr val="1C7293"/>
            </a:solidFill>
            <a:prstDash val="solid"/>
          </a:ln>
        </p:spPr>
      </p:sp>
      <p:sp>
        <p:nvSpPr>
          <p:cNvPr id="33" name="Shape 31"/>
          <p:cNvSpPr/>
          <p:nvPr/>
        </p:nvSpPr>
        <p:spPr>
          <a:xfrm>
            <a:off x="658368" y="3346704"/>
            <a:ext cx="5532120" cy="1810512"/>
          </a:xfrm>
          <a:prstGeom prst="roundRect">
            <a:avLst>
              <a:gd name="adj" fmla="val 4040"/>
            </a:avLst>
          </a:prstGeom>
          <a:solidFill>
            <a:srgbClr val="0E1C2B"/>
          </a:solidFill>
          <a:ln w="12700">
            <a:solidFill>
              <a:srgbClr val="0E1C2B"/>
            </a:solidFill>
            <a:prstDash val="solid"/>
          </a:ln>
          <a:effectLst>
            <a:outerShdw blurRad="127000" dist="25400" dir="5400000" algn="bl" rotWithShape="0">
              <a:srgbClr val="0E1C2B">
                <a:alpha val="10000"/>
              </a:srgbClr>
            </a:outerShdw>
          </a:effectLst>
        </p:spPr>
      </p:sp>
      <p:sp>
        <p:nvSpPr>
          <p:cNvPr id="34" name="Text 32"/>
          <p:cNvSpPr/>
          <p:nvPr/>
        </p:nvSpPr>
        <p:spPr>
          <a:xfrm>
            <a:off x="969264" y="3511296"/>
            <a:ext cx="4937760" cy="256032"/>
          </a:xfrm>
          <a:prstGeom prst="rect">
            <a:avLst/>
          </a:prstGeom>
          <a:noFill/>
          <a:ln/>
        </p:spPr>
        <p:txBody>
          <a:bodyPr wrap="square" lIns="0" tIns="0" rIns="0" bIns="0" rtlCol="0" anchor="ctr"/>
          <a:lstStyle/>
          <a:p>
            <a:pPr marL="0" indent="0">
              <a:buNone/>
            </a:pPr>
            <a:r>
              <a:rPr lang="en-US" sz="1100" b="1" kern="0" spc="150" dirty="0">
                <a:solidFill>
                  <a:srgbClr val="F2A65A"/>
                </a:solidFill>
                <a:latin typeface="Calibri" pitchFamily="34" charset="0"/>
                <a:ea typeface="Calibri" pitchFamily="34" charset="-122"/>
                <a:cs typeface="Calibri" pitchFamily="34" charset="-120"/>
              </a:rPr>
              <a:t>ON SKILL FAILURE</a:t>
            </a:r>
            <a:endParaRPr lang="en-US" sz="1100" dirty="0"/>
          </a:p>
        </p:txBody>
      </p:sp>
      <p:sp>
        <p:nvSpPr>
          <p:cNvPr id="35" name="Text 33"/>
          <p:cNvSpPr/>
          <p:nvPr/>
        </p:nvSpPr>
        <p:spPr>
          <a:xfrm>
            <a:off x="969264" y="3840480"/>
            <a:ext cx="4937760" cy="1097280"/>
          </a:xfrm>
          <a:prstGeom prst="rect">
            <a:avLst/>
          </a:prstGeom>
          <a:noFill/>
          <a:ln/>
        </p:spPr>
        <p:txBody>
          <a:bodyPr wrap="square" lIns="0" tIns="0" rIns="0" bIns="0" rtlCol="0" anchor="ctr"/>
          <a:lstStyle/>
          <a:p>
            <a:pPr marL="342900" indent="-342900">
              <a:lnSpc>
                <a:spcPts val="1900"/>
              </a:lnSpc>
              <a:spcAft>
                <a:spcPts val="700"/>
              </a:spcAft>
              <a:buSzPct val="100000"/>
              <a:buChar char="•"/>
            </a:pPr>
            <a:r>
              <a:rPr lang="en-US" sz="1350" dirty="0">
                <a:solidFill>
                  <a:srgbClr val="CFE0E9"/>
                </a:solidFill>
                <a:latin typeface="Calibri" pitchFamily="34" charset="0"/>
                <a:ea typeface="Calibri" pitchFamily="34" charset="-122"/>
                <a:cs typeface="Calibri" pitchFamily="34" charset="-120"/>
              </a:rPr>
              <a:t>Reconstruct Sₜ from the latest ontology and simulator information</a:t>
            </a:r>
            <a:endParaRPr lang="en-US" sz="1350" dirty="0"/>
          </a:p>
          <a:p>
            <a:pPr marL="342900" indent="-342900">
              <a:lnSpc>
                <a:spcPts val="1900"/>
              </a:lnSpc>
              <a:spcAft>
                <a:spcPts val="700"/>
              </a:spcAft>
              <a:buSzPct val="100000"/>
              <a:buChar char="•"/>
            </a:pPr>
            <a:r>
              <a:rPr lang="en-US" sz="1350" dirty="0">
                <a:solidFill>
                  <a:srgbClr val="CFE0E9"/>
                </a:solidFill>
                <a:latin typeface="Calibri" pitchFamily="34" charset="0"/>
                <a:ea typeface="Calibri" pitchFamily="34" charset="-122"/>
                <a:cs typeface="Calibri" pitchFamily="34" charset="-120"/>
              </a:rPr>
              <a:t>Replan only the remaining task, from the updated state</a:t>
            </a:r>
            <a:endParaRPr lang="en-US" sz="1350" dirty="0"/>
          </a:p>
          <a:p>
            <a:pPr marL="342900" indent="-342900">
              <a:lnSpc>
                <a:spcPts val="1900"/>
              </a:lnSpc>
              <a:spcAft>
                <a:spcPts val="700"/>
              </a:spcAft>
              <a:buSzPct val="100000"/>
              <a:buChar char="•"/>
            </a:pPr>
            <a:r>
              <a:rPr lang="en-US" sz="1350" dirty="0">
                <a:solidFill>
                  <a:srgbClr val="CFE0E9"/>
                </a:solidFill>
                <a:latin typeface="Calibri" pitchFamily="34" charset="0"/>
                <a:ea typeface="Calibri" pitchFamily="34" charset="-122"/>
                <a:cs typeface="Calibri" pitchFamily="34" charset="-120"/>
              </a:rPr>
              <a:t>No separate external cue is given to the LLM</a:t>
            </a:r>
            <a:endParaRPr lang="en-US" sz="1350" dirty="0"/>
          </a:p>
        </p:txBody>
      </p:sp>
      <p:sp>
        <p:nvSpPr>
          <p:cNvPr id="36" name="Shape 34"/>
          <p:cNvSpPr/>
          <p:nvPr/>
        </p:nvSpPr>
        <p:spPr>
          <a:xfrm>
            <a:off x="6510528" y="3346704"/>
            <a:ext cx="5020056" cy="859536"/>
          </a:xfrm>
          <a:prstGeom prst="roundRect">
            <a:avLst>
              <a:gd name="adj" fmla="val 8511"/>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37" name="Text 35"/>
          <p:cNvSpPr/>
          <p:nvPr/>
        </p:nvSpPr>
        <p:spPr>
          <a:xfrm>
            <a:off x="6784848" y="3456432"/>
            <a:ext cx="4480560" cy="256032"/>
          </a:xfrm>
          <a:prstGeom prst="rect">
            <a:avLst/>
          </a:prstGeom>
          <a:noFill/>
          <a:ln/>
        </p:spPr>
        <p:txBody>
          <a:bodyPr wrap="square" lIns="0" tIns="0" rIns="0" bIns="0" rtlCol="0" anchor="ctr"/>
          <a:lstStyle/>
          <a:p>
            <a:pPr marL="0" indent="0">
              <a:buNone/>
            </a:pPr>
            <a:r>
              <a:rPr lang="en-US" sz="1300" b="1" dirty="0">
                <a:solidFill>
                  <a:srgbClr val="1C7293"/>
                </a:solidFill>
                <a:latin typeface="Courier New" pitchFamily="34" charset="0"/>
                <a:ea typeface="Courier New" pitchFamily="34" charset="-122"/>
                <a:cs typeface="Courier New" pitchFamily="34" charset="-120"/>
              </a:rPr>
              <a:t>pick fails when</a:t>
            </a:r>
            <a:endParaRPr lang="en-US" sz="1300" dirty="0"/>
          </a:p>
        </p:txBody>
      </p:sp>
      <p:sp>
        <p:nvSpPr>
          <p:cNvPr id="38" name="Text 36"/>
          <p:cNvSpPr/>
          <p:nvPr/>
        </p:nvSpPr>
        <p:spPr>
          <a:xfrm>
            <a:off x="6784848" y="3730752"/>
            <a:ext cx="4572000" cy="402336"/>
          </a:xfrm>
          <a:prstGeom prst="rect">
            <a:avLst/>
          </a:prstGeom>
          <a:noFill/>
          <a:ln/>
        </p:spPr>
        <p:txBody>
          <a:bodyPr wrap="square" lIns="0" tIns="0" rIns="0" bIns="0" rtlCol="0" anchor="ctr"/>
          <a:lstStyle/>
          <a:p>
            <a:pPr marL="0" indent="0">
              <a:lnSpc>
                <a:spcPts val="1600"/>
              </a:lnSpc>
              <a:buNone/>
            </a:pPr>
            <a:r>
              <a:rPr lang="en-US" sz="1150" dirty="0">
                <a:solidFill>
                  <a:srgbClr val="5A6B7A"/>
                </a:solidFill>
                <a:latin typeface="Calibri" pitchFamily="34" charset="0"/>
                <a:ea typeface="Calibri" pitchFamily="34" charset="-122"/>
                <a:cs typeface="Calibri" pitchFamily="34" charset="-120"/>
              </a:rPr>
              <a:t>the object is unavailable, the robot already holds another object, an onTopOf relation blocks it, or grasp verification fails</a:t>
            </a:r>
            <a:endParaRPr lang="en-US" sz="1150" dirty="0"/>
          </a:p>
        </p:txBody>
      </p:sp>
      <p:sp>
        <p:nvSpPr>
          <p:cNvPr id="39" name="Shape 37"/>
          <p:cNvSpPr/>
          <p:nvPr/>
        </p:nvSpPr>
        <p:spPr>
          <a:xfrm>
            <a:off x="6510528" y="4297680"/>
            <a:ext cx="5020056" cy="859536"/>
          </a:xfrm>
          <a:prstGeom prst="roundRect">
            <a:avLst>
              <a:gd name="adj" fmla="val 8511"/>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40" name="Text 38"/>
          <p:cNvSpPr/>
          <p:nvPr/>
        </p:nvSpPr>
        <p:spPr>
          <a:xfrm>
            <a:off x="6784848" y="4407408"/>
            <a:ext cx="4480560" cy="256032"/>
          </a:xfrm>
          <a:prstGeom prst="rect">
            <a:avLst/>
          </a:prstGeom>
          <a:noFill/>
          <a:ln/>
        </p:spPr>
        <p:txBody>
          <a:bodyPr wrap="square" lIns="0" tIns="0" rIns="0" bIns="0" rtlCol="0" anchor="ctr"/>
          <a:lstStyle/>
          <a:p>
            <a:pPr marL="0" indent="0">
              <a:buNone/>
            </a:pPr>
            <a:r>
              <a:rPr lang="en-US" sz="1300" b="1" dirty="0">
                <a:solidFill>
                  <a:srgbClr val="1C7293"/>
                </a:solidFill>
                <a:latin typeface="Courier New" pitchFamily="34" charset="0"/>
                <a:ea typeface="Courier New" pitchFamily="34" charset="-122"/>
                <a:cs typeface="Courier New" pitchFamily="34" charset="-120"/>
              </a:rPr>
              <a:t>place fails when</a:t>
            </a:r>
            <a:endParaRPr lang="en-US" sz="1300" dirty="0"/>
          </a:p>
        </p:txBody>
      </p:sp>
      <p:sp>
        <p:nvSpPr>
          <p:cNvPr id="41" name="Text 39"/>
          <p:cNvSpPr/>
          <p:nvPr/>
        </p:nvSpPr>
        <p:spPr>
          <a:xfrm>
            <a:off x="6784848" y="4681728"/>
            <a:ext cx="4572000" cy="402336"/>
          </a:xfrm>
          <a:prstGeom prst="rect">
            <a:avLst/>
          </a:prstGeom>
          <a:noFill/>
          <a:ln/>
        </p:spPr>
        <p:txBody>
          <a:bodyPr wrap="square" lIns="0" tIns="0" rIns="0" bIns="0" rtlCol="0" anchor="ctr"/>
          <a:lstStyle/>
          <a:p>
            <a:pPr marL="0" indent="0">
              <a:lnSpc>
                <a:spcPts val="1600"/>
              </a:lnSpc>
              <a:buNone/>
            </a:pPr>
            <a:r>
              <a:rPr lang="en-US" sz="1150" dirty="0">
                <a:solidFill>
                  <a:srgbClr val="5A6B7A"/>
                </a:solidFill>
                <a:latin typeface="Calibri" pitchFamily="34" charset="0"/>
                <a:ea typeface="Calibri" pitchFamily="34" charset="-122"/>
                <a:cs typeface="Calibri" pitchFamily="34" charset="-120"/>
              </a:rPr>
              <a:t>the hand is empty, the wrong object is held, the target is unknown, or the placement check fails</a:t>
            </a:r>
            <a:endParaRPr lang="en-US" sz="1150" dirty="0"/>
          </a:p>
        </p:txBody>
      </p:sp>
      <p:sp>
        <p:nvSpPr>
          <p:cNvPr id="42" name="Text 40"/>
          <p:cNvSpPr/>
          <p:nvPr/>
        </p:nvSpPr>
        <p:spPr>
          <a:xfrm>
            <a:off x="658368" y="5358384"/>
            <a:ext cx="10872216" cy="365760"/>
          </a:xfrm>
          <a:prstGeom prst="rect">
            <a:avLst/>
          </a:prstGeom>
          <a:noFill/>
          <a:ln/>
        </p:spPr>
        <p:txBody>
          <a:bodyPr wrap="square" lIns="0" tIns="0" rIns="0" bIns="0" rtlCol="0" anchor="ctr"/>
          <a:lstStyle/>
          <a:p>
            <a:pPr marL="0" indent="0">
              <a:buNone/>
            </a:pPr>
            <a:r>
              <a:rPr lang="en-US" sz="1300" i="1" dirty="0">
                <a:solidFill>
                  <a:srgbClr val="5A6B7A"/>
                </a:solidFill>
                <a:latin typeface="Calibri" pitchFamily="34" charset="0"/>
                <a:ea typeface="Calibri" pitchFamily="34" charset="-122"/>
                <a:cs typeface="Calibri" pitchFamily="34" charset="-120"/>
              </a:rPr>
              <a:t>Ontology–simulator differences are recorded, but they do not independently trigger replanning.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58368" y="6382512"/>
            <a:ext cx="68580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Ontology-Grounded LLM Planning  ·  IEEE RO-MAN 2026</a:t>
            </a:r>
            <a:endParaRPr lang="en-US" sz="950" dirty="0"/>
          </a:p>
        </p:txBody>
      </p:sp>
      <p:sp>
        <p:nvSpPr>
          <p:cNvPr id="3" name="Text 1"/>
          <p:cNvSpPr/>
          <p:nvPr/>
        </p:nvSpPr>
        <p:spPr>
          <a:xfrm>
            <a:off x="10433304" y="6382512"/>
            <a:ext cx="109728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10</a:t>
            </a:r>
            <a:endParaRPr lang="en-US" sz="950" dirty="0"/>
          </a:p>
        </p:txBody>
      </p:sp>
      <p:sp>
        <p:nvSpPr>
          <p:cNvPr id="4" name="Text 2"/>
          <p:cNvSpPr/>
          <p:nvPr/>
        </p:nvSpPr>
        <p:spPr>
          <a:xfrm>
            <a:off x="658368" y="384048"/>
            <a:ext cx="10872216" cy="237744"/>
          </a:xfrm>
          <a:prstGeom prst="rect">
            <a:avLst/>
          </a:prstGeom>
          <a:noFill/>
          <a:ln/>
        </p:spPr>
        <p:txBody>
          <a:bodyPr wrap="square" lIns="0" tIns="0" rIns="0" bIns="0" rtlCol="0" anchor="ctr"/>
          <a:lstStyle/>
          <a:p>
            <a:pPr marL="0" indent="0">
              <a:buNone/>
            </a:pPr>
            <a:r>
              <a:rPr lang="en-US" sz="1050" b="1" kern="0" spc="200" dirty="0">
                <a:solidFill>
                  <a:srgbClr val="F2A65A"/>
                </a:solidFill>
                <a:latin typeface="Calibri" pitchFamily="34" charset="0"/>
                <a:ea typeface="Calibri" pitchFamily="34" charset="-122"/>
                <a:cs typeface="Calibri" pitchFamily="34" charset="-120"/>
              </a:rPr>
              <a:t>EVALUATION · SETUP</a:t>
            </a:r>
            <a:endParaRPr lang="en-US" sz="1050" dirty="0"/>
          </a:p>
        </p:txBody>
      </p:sp>
      <p:sp>
        <p:nvSpPr>
          <p:cNvPr id="5" name="Text 3"/>
          <p:cNvSpPr/>
          <p:nvPr/>
        </p:nvSpPr>
        <p:spPr>
          <a:xfrm>
            <a:off x="658368" y="676656"/>
            <a:ext cx="10872216" cy="566928"/>
          </a:xfrm>
          <a:prstGeom prst="rect">
            <a:avLst/>
          </a:prstGeom>
          <a:noFill/>
          <a:ln/>
        </p:spPr>
        <p:txBody>
          <a:bodyPr wrap="square" lIns="0" tIns="0" rIns="0" bIns="0" rtlCol="0" anchor="t"/>
          <a:lstStyle/>
          <a:p>
            <a:pPr marL="0" indent="0">
              <a:buNone/>
            </a:pPr>
            <a:r>
              <a:rPr lang="en-US" sz="3000" b="1" dirty="0">
                <a:solidFill>
                  <a:srgbClr val="0E1C2B"/>
                </a:solidFill>
                <a:latin typeface="Cambria" pitchFamily="34" charset="0"/>
                <a:ea typeface="Cambria" pitchFamily="34" charset="-122"/>
                <a:cs typeface="Cambria" pitchFamily="34" charset="-120"/>
              </a:rPr>
              <a:t>Table clearing in PyBullet with a Kuka LBR iiwa</a:t>
            </a:r>
            <a:endParaRPr lang="en-US" sz="3000" dirty="0"/>
          </a:p>
        </p:txBody>
      </p:sp>
      <p:sp>
        <p:nvSpPr>
          <p:cNvPr id="6" name="Shape 4"/>
          <p:cNvSpPr/>
          <p:nvPr/>
        </p:nvSpPr>
        <p:spPr>
          <a:xfrm>
            <a:off x="658368" y="1517904"/>
            <a:ext cx="3471672" cy="914400"/>
          </a:xfrm>
          <a:prstGeom prst="roundRect">
            <a:avLst>
              <a:gd name="adj" fmla="val 8000"/>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7" name="Text 5"/>
          <p:cNvSpPr/>
          <p:nvPr/>
        </p:nvSpPr>
        <p:spPr>
          <a:xfrm>
            <a:off x="896112" y="1627632"/>
            <a:ext cx="2996184" cy="274320"/>
          </a:xfrm>
          <a:prstGeom prst="rect">
            <a:avLst/>
          </a:prstGeom>
          <a:noFill/>
          <a:ln/>
        </p:spPr>
        <p:txBody>
          <a:bodyPr wrap="square" lIns="0" tIns="0" rIns="0" bIns="0" rtlCol="0" anchor="ctr"/>
          <a:lstStyle/>
          <a:p>
            <a:pPr marL="0" indent="0">
              <a:buNone/>
            </a:pPr>
            <a:r>
              <a:rPr lang="en-US" sz="1100" b="1" kern="0" spc="120" dirty="0">
                <a:solidFill>
                  <a:srgbClr val="1C7293"/>
                </a:solidFill>
                <a:latin typeface="Calibri" pitchFamily="34" charset="0"/>
                <a:ea typeface="Calibri" pitchFamily="34" charset="-122"/>
                <a:cs typeface="Calibri" pitchFamily="34" charset="-120"/>
              </a:rPr>
              <a:t>Simulator</a:t>
            </a:r>
            <a:endParaRPr lang="en-US" sz="1100" dirty="0"/>
          </a:p>
        </p:txBody>
      </p:sp>
      <p:sp>
        <p:nvSpPr>
          <p:cNvPr id="8" name="Text 6"/>
          <p:cNvSpPr/>
          <p:nvPr/>
        </p:nvSpPr>
        <p:spPr>
          <a:xfrm>
            <a:off x="896112" y="1901952"/>
            <a:ext cx="2996184" cy="457200"/>
          </a:xfrm>
          <a:prstGeom prst="rect">
            <a:avLst/>
          </a:prstGeom>
          <a:noFill/>
          <a:ln/>
        </p:spPr>
        <p:txBody>
          <a:bodyPr wrap="square" lIns="0" tIns="0" rIns="0" bIns="0" rtlCol="0" anchor="ctr"/>
          <a:lstStyle/>
          <a:p>
            <a:pPr marL="0" indent="0">
              <a:lnSpc>
                <a:spcPts val="1700"/>
              </a:lnSpc>
              <a:buNone/>
            </a:pPr>
            <a:r>
              <a:rPr lang="en-US" sz="1300" b="1" dirty="0">
                <a:solidFill>
                  <a:srgbClr val="0E1C2B"/>
                </a:solidFill>
                <a:latin typeface="Calibri" pitchFamily="34" charset="0"/>
                <a:ea typeface="Calibri" pitchFamily="34" charset="-122"/>
                <a:cs typeface="Calibri" pitchFamily="34" charset="-120"/>
              </a:rPr>
              <a:t>PyBullet — dining table, storage area, household objects</a:t>
            </a:r>
            <a:endParaRPr lang="en-US" sz="1300" dirty="0"/>
          </a:p>
        </p:txBody>
      </p:sp>
      <p:sp>
        <p:nvSpPr>
          <p:cNvPr id="9" name="Shape 7"/>
          <p:cNvSpPr/>
          <p:nvPr/>
        </p:nvSpPr>
        <p:spPr>
          <a:xfrm>
            <a:off x="4358640" y="1517904"/>
            <a:ext cx="3471672" cy="914400"/>
          </a:xfrm>
          <a:prstGeom prst="roundRect">
            <a:avLst>
              <a:gd name="adj" fmla="val 8000"/>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0" name="Text 8"/>
          <p:cNvSpPr/>
          <p:nvPr/>
        </p:nvSpPr>
        <p:spPr>
          <a:xfrm>
            <a:off x="4596384" y="1627632"/>
            <a:ext cx="2996184" cy="274320"/>
          </a:xfrm>
          <a:prstGeom prst="rect">
            <a:avLst/>
          </a:prstGeom>
          <a:noFill/>
          <a:ln/>
        </p:spPr>
        <p:txBody>
          <a:bodyPr wrap="square" lIns="0" tIns="0" rIns="0" bIns="0" rtlCol="0" anchor="ctr"/>
          <a:lstStyle/>
          <a:p>
            <a:pPr marL="0" indent="0">
              <a:buNone/>
            </a:pPr>
            <a:r>
              <a:rPr lang="en-US" sz="1100" b="1" kern="0" spc="120" dirty="0">
                <a:solidFill>
                  <a:srgbClr val="1C7293"/>
                </a:solidFill>
                <a:latin typeface="Calibri" pitchFamily="34" charset="0"/>
                <a:ea typeface="Calibri" pitchFamily="34" charset="-122"/>
                <a:cs typeface="Calibri" pitchFamily="34" charset="-120"/>
              </a:rPr>
              <a:t>Robot</a:t>
            </a:r>
            <a:endParaRPr lang="en-US" sz="1100" dirty="0"/>
          </a:p>
        </p:txBody>
      </p:sp>
      <p:sp>
        <p:nvSpPr>
          <p:cNvPr id="11" name="Text 9"/>
          <p:cNvSpPr/>
          <p:nvPr/>
        </p:nvSpPr>
        <p:spPr>
          <a:xfrm>
            <a:off x="4596384" y="1901952"/>
            <a:ext cx="2996184" cy="457200"/>
          </a:xfrm>
          <a:prstGeom prst="rect">
            <a:avLst/>
          </a:prstGeom>
          <a:noFill/>
          <a:ln/>
        </p:spPr>
        <p:txBody>
          <a:bodyPr wrap="square" lIns="0" tIns="0" rIns="0" bIns="0" rtlCol="0" anchor="ctr"/>
          <a:lstStyle/>
          <a:p>
            <a:pPr marL="0" indent="0">
              <a:lnSpc>
                <a:spcPts val="1700"/>
              </a:lnSpc>
              <a:buNone/>
            </a:pPr>
            <a:r>
              <a:rPr lang="en-US" sz="1300" b="1" dirty="0">
                <a:solidFill>
                  <a:srgbClr val="0E1C2B"/>
                </a:solidFill>
                <a:latin typeface="Calibri" pitchFamily="34" charset="0"/>
                <a:ea typeface="Calibri" pitchFamily="34" charset="-122"/>
                <a:cs typeface="Calibri" pitchFamily="34" charset="-120"/>
              </a:rPr>
              <a:t>Kuka LBR iiwa manipulator</a:t>
            </a:r>
            <a:endParaRPr lang="en-US" sz="1300" dirty="0"/>
          </a:p>
        </p:txBody>
      </p:sp>
      <p:sp>
        <p:nvSpPr>
          <p:cNvPr id="12" name="Shape 10"/>
          <p:cNvSpPr/>
          <p:nvPr/>
        </p:nvSpPr>
        <p:spPr>
          <a:xfrm>
            <a:off x="8058912" y="1517904"/>
            <a:ext cx="3471672" cy="914400"/>
          </a:xfrm>
          <a:prstGeom prst="roundRect">
            <a:avLst>
              <a:gd name="adj" fmla="val 8000"/>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3" name="Text 11"/>
          <p:cNvSpPr/>
          <p:nvPr/>
        </p:nvSpPr>
        <p:spPr>
          <a:xfrm>
            <a:off x="8296656" y="1627632"/>
            <a:ext cx="2996184" cy="274320"/>
          </a:xfrm>
          <a:prstGeom prst="rect">
            <a:avLst/>
          </a:prstGeom>
          <a:noFill/>
          <a:ln/>
        </p:spPr>
        <p:txBody>
          <a:bodyPr wrap="square" lIns="0" tIns="0" rIns="0" bIns="0" rtlCol="0" anchor="ctr"/>
          <a:lstStyle/>
          <a:p>
            <a:pPr marL="0" indent="0">
              <a:buNone/>
            </a:pPr>
            <a:r>
              <a:rPr lang="en-US" sz="1100" b="1" kern="0" spc="120" dirty="0">
                <a:solidFill>
                  <a:srgbClr val="1C7293"/>
                </a:solidFill>
                <a:latin typeface="Calibri" pitchFamily="34" charset="0"/>
                <a:ea typeface="Calibri" pitchFamily="34" charset="-122"/>
                <a:cs typeface="Calibri" pitchFamily="34" charset="-120"/>
              </a:rPr>
              <a:t>LLM backend</a:t>
            </a:r>
            <a:endParaRPr lang="en-US" sz="1100" dirty="0"/>
          </a:p>
        </p:txBody>
      </p:sp>
      <p:sp>
        <p:nvSpPr>
          <p:cNvPr id="14" name="Text 12"/>
          <p:cNvSpPr/>
          <p:nvPr/>
        </p:nvSpPr>
        <p:spPr>
          <a:xfrm>
            <a:off x="8296656" y="1901952"/>
            <a:ext cx="2996184" cy="457200"/>
          </a:xfrm>
          <a:prstGeom prst="rect">
            <a:avLst/>
          </a:prstGeom>
          <a:noFill/>
          <a:ln/>
        </p:spPr>
        <p:txBody>
          <a:bodyPr wrap="square" lIns="0" tIns="0" rIns="0" bIns="0" rtlCol="0" anchor="ctr"/>
          <a:lstStyle/>
          <a:p>
            <a:pPr marL="0" indent="0">
              <a:lnSpc>
                <a:spcPts val="1700"/>
              </a:lnSpc>
              <a:buNone/>
            </a:pPr>
            <a:r>
              <a:rPr lang="en-US" sz="1300" b="1" dirty="0">
                <a:solidFill>
                  <a:srgbClr val="0E1C2B"/>
                </a:solidFill>
                <a:latin typeface="Calibri" pitchFamily="34" charset="0"/>
                <a:ea typeface="Calibri" pitchFamily="34" charset="-122"/>
                <a:cs typeface="Calibri" pitchFamily="34" charset="-120"/>
              </a:rPr>
              <a:t>Qwen2.5 3B, served locally with Ollama</a:t>
            </a:r>
            <a:endParaRPr lang="en-US" sz="1300" dirty="0"/>
          </a:p>
        </p:txBody>
      </p:sp>
      <p:sp>
        <p:nvSpPr>
          <p:cNvPr id="15" name="Shape 13"/>
          <p:cNvSpPr/>
          <p:nvPr/>
        </p:nvSpPr>
        <p:spPr>
          <a:xfrm>
            <a:off x="658368" y="2560320"/>
            <a:ext cx="3471672" cy="914400"/>
          </a:xfrm>
          <a:prstGeom prst="roundRect">
            <a:avLst>
              <a:gd name="adj" fmla="val 8000"/>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6" name="Text 14"/>
          <p:cNvSpPr/>
          <p:nvPr/>
        </p:nvSpPr>
        <p:spPr>
          <a:xfrm>
            <a:off x="896112" y="2670048"/>
            <a:ext cx="2996184" cy="274320"/>
          </a:xfrm>
          <a:prstGeom prst="rect">
            <a:avLst/>
          </a:prstGeom>
          <a:noFill/>
          <a:ln/>
        </p:spPr>
        <p:txBody>
          <a:bodyPr wrap="square" lIns="0" tIns="0" rIns="0" bIns="0" rtlCol="0" anchor="ctr"/>
          <a:lstStyle/>
          <a:p>
            <a:pPr marL="0" indent="0">
              <a:buNone/>
            </a:pPr>
            <a:r>
              <a:rPr lang="en-US" sz="1100" b="1" kern="0" spc="120" dirty="0">
                <a:solidFill>
                  <a:srgbClr val="1C7293"/>
                </a:solidFill>
                <a:latin typeface="Calibri" pitchFamily="34" charset="0"/>
                <a:ea typeface="Calibri" pitchFamily="34" charset="-122"/>
                <a:cs typeface="Calibri" pitchFamily="34" charset="-120"/>
              </a:rPr>
              <a:t>Decoding</a:t>
            </a:r>
            <a:endParaRPr lang="en-US" sz="1100" dirty="0"/>
          </a:p>
        </p:txBody>
      </p:sp>
      <p:sp>
        <p:nvSpPr>
          <p:cNvPr id="17" name="Text 15"/>
          <p:cNvSpPr/>
          <p:nvPr/>
        </p:nvSpPr>
        <p:spPr>
          <a:xfrm>
            <a:off x="896112" y="2944368"/>
            <a:ext cx="2996184" cy="457200"/>
          </a:xfrm>
          <a:prstGeom prst="rect">
            <a:avLst/>
          </a:prstGeom>
          <a:noFill/>
          <a:ln/>
        </p:spPr>
        <p:txBody>
          <a:bodyPr wrap="square" lIns="0" tIns="0" rIns="0" bIns="0" rtlCol="0" anchor="ctr"/>
          <a:lstStyle/>
          <a:p>
            <a:pPr marL="0" indent="0">
              <a:lnSpc>
                <a:spcPts val="1700"/>
              </a:lnSpc>
              <a:buNone/>
            </a:pPr>
            <a:r>
              <a:rPr lang="en-US" sz="1300" b="1" dirty="0">
                <a:solidFill>
                  <a:srgbClr val="0E1C2B"/>
                </a:solidFill>
                <a:latin typeface="Calibri" pitchFamily="34" charset="0"/>
                <a:ea typeface="Calibri" pitchFamily="34" charset="-122"/>
                <a:cs typeface="Calibri" pitchFamily="34" charset="-120"/>
              </a:rPr>
              <a:t>4096-token context · 2048-token output</a:t>
            </a:r>
            <a:endParaRPr lang="en-US" sz="1300" dirty="0"/>
          </a:p>
        </p:txBody>
      </p:sp>
      <p:sp>
        <p:nvSpPr>
          <p:cNvPr id="18" name="Shape 16"/>
          <p:cNvSpPr/>
          <p:nvPr/>
        </p:nvSpPr>
        <p:spPr>
          <a:xfrm>
            <a:off x="4358640" y="2560320"/>
            <a:ext cx="3471672" cy="914400"/>
          </a:xfrm>
          <a:prstGeom prst="roundRect">
            <a:avLst>
              <a:gd name="adj" fmla="val 8000"/>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9" name="Text 17"/>
          <p:cNvSpPr/>
          <p:nvPr/>
        </p:nvSpPr>
        <p:spPr>
          <a:xfrm>
            <a:off x="4596384" y="2670048"/>
            <a:ext cx="2996184" cy="274320"/>
          </a:xfrm>
          <a:prstGeom prst="rect">
            <a:avLst/>
          </a:prstGeom>
          <a:noFill/>
          <a:ln/>
        </p:spPr>
        <p:txBody>
          <a:bodyPr wrap="square" lIns="0" tIns="0" rIns="0" bIns="0" rtlCol="0" anchor="ctr"/>
          <a:lstStyle/>
          <a:p>
            <a:pPr marL="0" indent="0">
              <a:buNone/>
            </a:pPr>
            <a:r>
              <a:rPr lang="en-US" sz="1100" b="1" kern="0" spc="120" dirty="0">
                <a:solidFill>
                  <a:srgbClr val="1C7293"/>
                </a:solidFill>
                <a:latin typeface="Calibri" pitchFamily="34" charset="0"/>
                <a:ea typeface="Calibri" pitchFamily="34" charset="-122"/>
                <a:cs typeface="Calibri" pitchFamily="34" charset="-120"/>
              </a:rPr>
              <a:t>Objects</a:t>
            </a:r>
            <a:endParaRPr lang="en-US" sz="1100" dirty="0"/>
          </a:p>
        </p:txBody>
      </p:sp>
      <p:sp>
        <p:nvSpPr>
          <p:cNvPr id="20" name="Text 18"/>
          <p:cNvSpPr/>
          <p:nvPr/>
        </p:nvSpPr>
        <p:spPr>
          <a:xfrm>
            <a:off x="4596384" y="2944368"/>
            <a:ext cx="2996184" cy="457200"/>
          </a:xfrm>
          <a:prstGeom prst="rect">
            <a:avLst/>
          </a:prstGeom>
          <a:noFill/>
          <a:ln/>
        </p:spPr>
        <p:txBody>
          <a:bodyPr wrap="square" lIns="0" tIns="0" rIns="0" bIns="0" rtlCol="0" anchor="ctr"/>
          <a:lstStyle/>
          <a:p>
            <a:pPr marL="0" indent="0">
              <a:lnSpc>
                <a:spcPts val="1700"/>
              </a:lnSpc>
              <a:buNone/>
            </a:pPr>
            <a:r>
              <a:rPr lang="en-US" sz="1300" b="1" dirty="0">
                <a:solidFill>
                  <a:srgbClr val="0E1C2B"/>
                </a:solidFill>
                <a:latin typeface="Calibri" pitchFamily="34" charset="0"/>
                <a:ea typeface="Calibri" pitchFamily="34" charset="-122"/>
                <a:cs typeface="Calibri" pitchFamily="34" charset="-120"/>
              </a:rPr>
              <a:t>plate · cup · fork · apple container</a:t>
            </a:r>
            <a:endParaRPr lang="en-US" sz="1300" dirty="0"/>
          </a:p>
        </p:txBody>
      </p:sp>
      <p:sp>
        <p:nvSpPr>
          <p:cNvPr id="21" name="Shape 19"/>
          <p:cNvSpPr/>
          <p:nvPr/>
        </p:nvSpPr>
        <p:spPr>
          <a:xfrm>
            <a:off x="8058912" y="2560320"/>
            <a:ext cx="3471672" cy="914400"/>
          </a:xfrm>
          <a:prstGeom prst="roundRect">
            <a:avLst>
              <a:gd name="adj" fmla="val 8000"/>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22" name="Text 20"/>
          <p:cNvSpPr/>
          <p:nvPr/>
        </p:nvSpPr>
        <p:spPr>
          <a:xfrm>
            <a:off x="8296656" y="2670048"/>
            <a:ext cx="2996184" cy="274320"/>
          </a:xfrm>
          <a:prstGeom prst="rect">
            <a:avLst/>
          </a:prstGeom>
          <a:noFill/>
          <a:ln/>
        </p:spPr>
        <p:txBody>
          <a:bodyPr wrap="square" lIns="0" tIns="0" rIns="0" bIns="0" rtlCol="0" anchor="ctr"/>
          <a:lstStyle/>
          <a:p>
            <a:pPr marL="0" indent="0">
              <a:buNone/>
            </a:pPr>
            <a:r>
              <a:rPr lang="en-US" sz="1100" b="1" kern="0" spc="120" dirty="0">
                <a:solidFill>
                  <a:srgbClr val="1C7293"/>
                </a:solidFill>
                <a:latin typeface="Calibri" pitchFamily="34" charset="0"/>
                <a:ea typeface="Calibri" pitchFamily="34" charset="-122"/>
                <a:cs typeface="Calibri" pitchFamily="34" charset="-120"/>
              </a:rPr>
              <a:t>Action space</a:t>
            </a:r>
            <a:endParaRPr lang="en-US" sz="1100" dirty="0"/>
          </a:p>
        </p:txBody>
      </p:sp>
      <p:sp>
        <p:nvSpPr>
          <p:cNvPr id="23" name="Text 21"/>
          <p:cNvSpPr/>
          <p:nvPr/>
        </p:nvSpPr>
        <p:spPr>
          <a:xfrm>
            <a:off x="8296656" y="2944368"/>
            <a:ext cx="2996184" cy="457200"/>
          </a:xfrm>
          <a:prstGeom prst="rect">
            <a:avLst/>
          </a:prstGeom>
          <a:noFill/>
          <a:ln/>
        </p:spPr>
        <p:txBody>
          <a:bodyPr wrap="square" lIns="0" tIns="0" rIns="0" bIns="0" rtlCol="0" anchor="ctr"/>
          <a:lstStyle/>
          <a:p>
            <a:pPr marL="0" indent="0">
              <a:lnSpc>
                <a:spcPts val="1700"/>
              </a:lnSpc>
              <a:buNone/>
            </a:pPr>
            <a:r>
              <a:rPr lang="en-US" sz="1300" b="1" dirty="0">
                <a:solidFill>
                  <a:srgbClr val="0E1C2B"/>
                </a:solidFill>
                <a:latin typeface="Calibri" pitchFamily="34" charset="0"/>
                <a:ea typeface="Calibri" pitchFamily="34" charset="-122"/>
                <a:cs typeface="Calibri" pitchFamily="34" charset="-120"/>
              </a:rPr>
              <a:t>pick · place · move_home</a:t>
            </a:r>
            <a:endParaRPr lang="en-US" sz="1300" dirty="0"/>
          </a:p>
        </p:txBody>
      </p:sp>
      <p:sp>
        <p:nvSpPr>
          <p:cNvPr id="24" name="Shape 22"/>
          <p:cNvSpPr/>
          <p:nvPr/>
        </p:nvSpPr>
        <p:spPr>
          <a:xfrm>
            <a:off x="658368" y="3657600"/>
            <a:ext cx="5532120" cy="1700784"/>
          </a:xfrm>
          <a:prstGeom prst="roundRect">
            <a:avLst>
              <a:gd name="adj" fmla="val 4301"/>
            </a:avLst>
          </a:prstGeom>
          <a:solidFill>
            <a:srgbClr val="E3EEF3"/>
          </a:solidFill>
          <a:ln w="12700">
            <a:solidFill>
              <a:srgbClr val="E3EEF3"/>
            </a:solidFill>
            <a:prstDash val="solid"/>
          </a:ln>
          <a:effectLst>
            <a:outerShdw blurRad="127000" dist="25400" dir="5400000" algn="bl" rotWithShape="0">
              <a:srgbClr val="0E1C2B">
                <a:alpha val="10000"/>
              </a:srgbClr>
            </a:outerShdw>
          </a:effectLst>
        </p:spPr>
      </p:sp>
      <p:sp>
        <p:nvSpPr>
          <p:cNvPr id="25" name="Text 23"/>
          <p:cNvSpPr/>
          <p:nvPr/>
        </p:nvSpPr>
        <p:spPr>
          <a:xfrm>
            <a:off x="969264" y="3803904"/>
            <a:ext cx="4937760" cy="310896"/>
          </a:xfrm>
          <a:prstGeom prst="rect">
            <a:avLst/>
          </a:prstGeom>
          <a:noFill/>
          <a:ln/>
        </p:spPr>
        <p:txBody>
          <a:bodyPr wrap="square" lIns="0" tIns="0" rIns="0" bIns="0" rtlCol="0" anchor="ctr"/>
          <a:lstStyle/>
          <a:p>
            <a:pPr marL="0" indent="0">
              <a:buNone/>
            </a:pPr>
            <a:r>
              <a:rPr lang="en-US" sz="1700" b="1" dirty="0">
                <a:solidFill>
                  <a:srgbClr val="0E1C2B"/>
                </a:solidFill>
                <a:latin typeface="Cambria" pitchFamily="34" charset="0"/>
                <a:ea typeface="Cambria" pitchFamily="34" charset="-122"/>
                <a:cs typeface="Cambria" pitchFamily="34" charset="-120"/>
              </a:rPr>
              <a:t>Two scenario families</a:t>
            </a:r>
            <a:endParaRPr lang="en-US" sz="1700" dirty="0"/>
          </a:p>
        </p:txBody>
      </p:sp>
      <p:sp>
        <p:nvSpPr>
          <p:cNvPr id="26" name="Text 24"/>
          <p:cNvSpPr/>
          <p:nvPr/>
        </p:nvSpPr>
        <p:spPr>
          <a:xfrm>
            <a:off x="969264" y="4169664"/>
            <a:ext cx="4937760" cy="100584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350" dirty="0">
                <a:solidFill>
                  <a:srgbClr val="0E1C2B"/>
                </a:solidFill>
                <a:latin typeface="Calibri" pitchFamily="34" charset="0"/>
                <a:ea typeface="Calibri" pitchFamily="34" charset="-122"/>
                <a:cs typeface="Calibri" pitchFamily="34" charset="-120"/>
              </a:rPr>
              <a:t>Direct instruction following — “clear the table”, no disturbance</a:t>
            </a:r>
            <a:endParaRPr lang="en-US" sz="1350" dirty="0"/>
          </a:p>
          <a:p>
            <a:pPr marL="342900" indent="-342900">
              <a:lnSpc>
                <a:spcPts val="1900"/>
              </a:lnSpc>
              <a:spcAft>
                <a:spcPts val="800"/>
              </a:spcAft>
              <a:buSzPct val="100000"/>
              <a:buChar char="•"/>
            </a:pPr>
            <a:r>
              <a:rPr lang="en-US" sz="1350" dirty="0">
                <a:solidFill>
                  <a:srgbClr val="0E1C2B"/>
                </a:solidFill>
                <a:latin typeface="Calibri" pitchFamily="34" charset="0"/>
                <a:ea typeface="Calibri" pitchFamily="34" charset="-122"/>
                <a:cs typeface="Calibri" pitchFamily="34" charset="-120"/>
              </a:rPr>
              <a:t>Execution-time disturbances — object moved, grasp failure, blocked object</a:t>
            </a:r>
            <a:endParaRPr lang="en-US" sz="1350" dirty="0"/>
          </a:p>
        </p:txBody>
      </p:sp>
      <p:sp>
        <p:nvSpPr>
          <p:cNvPr id="27" name="Shape 25"/>
          <p:cNvSpPr/>
          <p:nvPr/>
        </p:nvSpPr>
        <p:spPr>
          <a:xfrm>
            <a:off x="6510528" y="3657600"/>
            <a:ext cx="5020056" cy="1700784"/>
          </a:xfrm>
          <a:prstGeom prst="roundRect">
            <a:avLst>
              <a:gd name="adj" fmla="val 4301"/>
            </a:avLst>
          </a:prstGeom>
          <a:solidFill>
            <a:srgbClr val="0E1C2B"/>
          </a:solidFill>
          <a:ln w="12700">
            <a:solidFill>
              <a:srgbClr val="0E1C2B"/>
            </a:solidFill>
            <a:prstDash val="solid"/>
          </a:ln>
          <a:effectLst>
            <a:outerShdw blurRad="127000" dist="25400" dir="5400000" algn="bl" rotWithShape="0">
              <a:srgbClr val="0E1C2B">
                <a:alpha val="10000"/>
              </a:srgbClr>
            </a:outerShdw>
          </a:effectLst>
        </p:spPr>
      </p:sp>
      <p:sp>
        <p:nvSpPr>
          <p:cNvPr id="28" name="Text 26"/>
          <p:cNvSpPr/>
          <p:nvPr/>
        </p:nvSpPr>
        <p:spPr>
          <a:xfrm>
            <a:off x="6821424" y="3767328"/>
            <a:ext cx="2011680" cy="749808"/>
          </a:xfrm>
          <a:prstGeom prst="rect">
            <a:avLst/>
          </a:prstGeom>
          <a:noFill/>
          <a:ln/>
        </p:spPr>
        <p:txBody>
          <a:bodyPr wrap="square" lIns="0" tIns="0" rIns="0" bIns="0" rtlCol="0" anchor="ctr"/>
          <a:lstStyle/>
          <a:p>
            <a:pPr marL="0" indent="0">
              <a:buNone/>
            </a:pPr>
            <a:r>
              <a:rPr lang="en-US" sz="4800" b="1" dirty="0">
                <a:solidFill>
                  <a:srgbClr val="F2A65A"/>
                </a:solidFill>
                <a:latin typeface="Cambria" pitchFamily="34" charset="0"/>
                <a:ea typeface="Cambria" pitchFamily="34" charset="-122"/>
                <a:cs typeface="Cambria" pitchFamily="34" charset="-120"/>
              </a:rPr>
              <a:t>120</a:t>
            </a:r>
            <a:endParaRPr lang="en-US" sz="4800" dirty="0"/>
          </a:p>
        </p:txBody>
      </p:sp>
      <p:sp>
        <p:nvSpPr>
          <p:cNvPr id="29" name="Text 27"/>
          <p:cNvSpPr/>
          <p:nvPr/>
        </p:nvSpPr>
        <p:spPr>
          <a:xfrm>
            <a:off x="6821424" y="4517136"/>
            <a:ext cx="2194560" cy="274320"/>
          </a:xfrm>
          <a:prstGeom prst="rect">
            <a:avLst/>
          </a:prstGeom>
          <a:noFill/>
          <a:ln/>
        </p:spPr>
        <p:txBody>
          <a:bodyPr wrap="square" lIns="0" tIns="0" rIns="0" bIns="0" rtlCol="0" anchor="ctr"/>
          <a:lstStyle/>
          <a:p>
            <a:pPr marL="0" indent="0">
              <a:buNone/>
            </a:pPr>
            <a:r>
              <a:rPr lang="en-US" sz="1300" dirty="0">
                <a:solidFill>
                  <a:srgbClr val="CFE0E9"/>
                </a:solidFill>
                <a:latin typeface="Calibri" pitchFamily="34" charset="0"/>
                <a:ea typeface="Calibri" pitchFamily="34" charset="-122"/>
                <a:cs typeface="Calibri" pitchFamily="34" charset="-120"/>
              </a:rPr>
              <a:t>trials in total</a:t>
            </a:r>
            <a:endParaRPr lang="en-US" sz="1300" dirty="0"/>
          </a:p>
        </p:txBody>
      </p:sp>
      <p:sp>
        <p:nvSpPr>
          <p:cNvPr id="30" name="Text 28"/>
          <p:cNvSpPr/>
          <p:nvPr/>
        </p:nvSpPr>
        <p:spPr>
          <a:xfrm>
            <a:off x="8979408" y="3877056"/>
            <a:ext cx="2377440" cy="1188720"/>
          </a:xfrm>
          <a:prstGeom prst="rect">
            <a:avLst/>
          </a:prstGeom>
          <a:noFill/>
          <a:ln/>
        </p:spPr>
        <p:txBody>
          <a:bodyPr wrap="square" lIns="0" tIns="0" rIns="0" bIns="0" rtlCol="0" anchor="ctr"/>
          <a:lstStyle/>
          <a:p>
            <a:pPr marL="0" indent="0">
              <a:lnSpc>
                <a:spcPts val="2100"/>
              </a:lnSpc>
              <a:buNone/>
            </a:pPr>
            <a:r>
              <a:rPr lang="en-US" sz="1350" dirty="0">
                <a:solidFill>
                  <a:srgbClr val="FFFFFF"/>
                </a:solidFill>
                <a:latin typeface="Calibri" pitchFamily="34" charset="0"/>
                <a:ea typeface="Calibri" pitchFamily="34" charset="-122"/>
                <a:cs typeface="Calibri" pitchFamily="34" charset="-120"/>
              </a:rPr>
              <a:t>12 scenario definitions</a:t>
            </a:r>
            <a:endParaRPr lang="en-US" sz="1350" dirty="0"/>
          </a:p>
          <a:p>
            <a:pPr marL="0" indent="0">
              <a:lnSpc>
                <a:spcPts val="2100"/>
              </a:lnSpc>
              <a:buNone/>
            </a:pPr>
            <a:r>
              <a:rPr lang="en-US" sz="1350" dirty="0">
                <a:solidFill>
                  <a:srgbClr val="FFFFFF"/>
                </a:solidFill>
                <a:latin typeface="Calibri" pitchFamily="34" charset="0"/>
                <a:ea typeface="Calibri" pitchFamily="34" charset="-122"/>
                <a:cs typeface="Calibri" pitchFamily="34" charset="-120"/>
              </a:rPr>
              <a:t>× 5 repetitions</a:t>
            </a:r>
            <a:endParaRPr lang="en-US" sz="1350" dirty="0"/>
          </a:p>
          <a:p>
            <a:pPr marL="0" indent="0">
              <a:lnSpc>
                <a:spcPts val="2100"/>
              </a:lnSpc>
              <a:buNone/>
            </a:pPr>
            <a:r>
              <a:rPr lang="en-US" sz="1350" dirty="0">
                <a:solidFill>
                  <a:srgbClr val="FFFFFF"/>
                </a:solidFill>
                <a:latin typeface="Calibri" pitchFamily="34" charset="0"/>
                <a:ea typeface="Calibri" pitchFamily="34" charset="-122"/>
                <a:cs typeface="Calibri" pitchFamily="34" charset="-120"/>
              </a:rPr>
              <a:t>× 2 methods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58368" y="6382512"/>
            <a:ext cx="68580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Ontology-Grounded LLM Planning  ·  IEEE RO-MAN 2026</a:t>
            </a:r>
            <a:endParaRPr lang="en-US" sz="950" dirty="0"/>
          </a:p>
        </p:txBody>
      </p:sp>
      <p:sp>
        <p:nvSpPr>
          <p:cNvPr id="3" name="Text 1"/>
          <p:cNvSpPr/>
          <p:nvPr/>
        </p:nvSpPr>
        <p:spPr>
          <a:xfrm>
            <a:off x="10433304" y="6382512"/>
            <a:ext cx="109728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11</a:t>
            </a:r>
            <a:endParaRPr lang="en-US" sz="950" dirty="0"/>
          </a:p>
        </p:txBody>
      </p:sp>
      <p:sp>
        <p:nvSpPr>
          <p:cNvPr id="4" name="Text 2"/>
          <p:cNvSpPr/>
          <p:nvPr/>
        </p:nvSpPr>
        <p:spPr>
          <a:xfrm>
            <a:off x="658368" y="384048"/>
            <a:ext cx="10872216" cy="237744"/>
          </a:xfrm>
          <a:prstGeom prst="rect">
            <a:avLst/>
          </a:prstGeom>
          <a:noFill/>
          <a:ln/>
        </p:spPr>
        <p:txBody>
          <a:bodyPr wrap="square" lIns="0" tIns="0" rIns="0" bIns="0" rtlCol="0" anchor="ctr"/>
          <a:lstStyle/>
          <a:p>
            <a:pPr marL="0" indent="0">
              <a:buNone/>
            </a:pPr>
            <a:r>
              <a:rPr lang="en-US" sz="1050" b="1" kern="0" spc="200" dirty="0">
                <a:solidFill>
                  <a:srgbClr val="F2A65A"/>
                </a:solidFill>
                <a:latin typeface="Calibri" pitchFamily="34" charset="0"/>
                <a:ea typeface="Calibri" pitchFamily="34" charset="-122"/>
                <a:cs typeface="Calibri" pitchFamily="34" charset="-120"/>
              </a:rPr>
              <a:t>EVALUATION · DESIGN</a:t>
            </a:r>
            <a:endParaRPr lang="en-US" sz="1050" dirty="0"/>
          </a:p>
        </p:txBody>
      </p:sp>
      <p:sp>
        <p:nvSpPr>
          <p:cNvPr id="5" name="Text 3"/>
          <p:cNvSpPr/>
          <p:nvPr/>
        </p:nvSpPr>
        <p:spPr>
          <a:xfrm>
            <a:off x="658368" y="676656"/>
            <a:ext cx="10872216" cy="566928"/>
          </a:xfrm>
          <a:prstGeom prst="rect">
            <a:avLst/>
          </a:prstGeom>
          <a:noFill/>
          <a:ln/>
        </p:spPr>
        <p:txBody>
          <a:bodyPr wrap="square" lIns="0" tIns="0" rIns="0" bIns="0" rtlCol="0" anchor="t"/>
          <a:lstStyle/>
          <a:p>
            <a:pPr marL="0" indent="0">
              <a:buNone/>
            </a:pPr>
            <a:r>
              <a:rPr lang="en-US" sz="3000" b="1" dirty="0">
                <a:solidFill>
                  <a:srgbClr val="0E1C2B"/>
                </a:solidFill>
                <a:latin typeface="Cambria" pitchFamily="34" charset="0"/>
                <a:ea typeface="Cambria" pitchFamily="34" charset="-122"/>
                <a:cs typeface="Cambria" pitchFamily="34" charset="-120"/>
              </a:rPr>
              <a:t>What is compared, and how it is measured</a:t>
            </a:r>
            <a:endParaRPr lang="en-US" sz="3000" dirty="0"/>
          </a:p>
        </p:txBody>
      </p:sp>
      <p:sp>
        <p:nvSpPr>
          <p:cNvPr id="6" name="Shape 4"/>
          <p:cNvSpPr/>
          <p:nvPr/>
        </p:nvSpPr>
        <p:spPr>
          <a:xfrm>
            <a:off x="658368" y="1517904"/>
            <a:ext cx="5532120" cy="1463040"/>
          </a:xfrm>
          <a:prstGeom prst="roundRect">
            <a:avLst>
              <a:gd name="adj" fmla="val 5000"/>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7" name="Text 5"/>
          <p:cNvSpPr/>
          <p:nvPr/>
        </p:nvSpPr>
        <p:spPr>
          <a:xfrm>
            <a:off x="950976" y="1664208"/>
            <a:ext cx="4937760" cy="310896"/>
          </a:xfrm>
          <a:prstGeom prst="rect">
            <a:avLst/>
          </a:prstGeom>
          <a:noFill/>
          <a:ln/>
        </p:spPr>
        <p:txBody>
          <a:bodyPr wrap="square" lIns="0" tIns="0" rIns="0" bIns="0" rtlCol="0" anchor="ctr"/>
          <a:lstStyle/>
          <a:p>
            <a:pPr marL="0" indent="0">
              <a:buNone/>
            </a:pPr>
            <a:r>
              <a:rPr lang="en-US" sz="1700" b="1" dirty="0">
                <a:solidFill>
                  <a:srgbClr val="5A6B7A"/>
                </a:solidFill>
                <a:latin typeface="Cambria" pitchFamily="34" charset="0"/>
                <a:ea typeface="Cambria" pitchFamily="34" charset="-122"/>
                <a:cs typeface="Cambria" pitchFamily="34" charset="-120"/>
              </a:rPr>
              <a:t>LLM-only planning  (baseline)</a:t>
            </a:r>
            <a:endParaRPr lang="en-US" sz="1700" dirty="0"/>
          </a:p>
        </p:txBody>
      </p:sp>
      <p:sp>
        <p:nvSpPr>
          <p:cNvPr id="8" name="Text 6"/>
          <p:cNvSpPr/>
          <p:nvPr/>
        </p:nvSpPr>
        <p:spPr>
          <a:xfrm>
            <a:off x="950976" y="2011680"/>
            <a:ext cx="4983480" cy="786384"/>
          </a:xfrm>
          <a:prstGeom prst="rect">
            <a:avLst/>
          </a:prstGeom>
          <a:noFill/>
          <a:ln/>
        </p:spPr>
        <p:txBody>
          <a:bodyPr wrap="square" lIns="0" tIns="0" rIns="0" bIns="0" rtlCol="0" anchor="ctr"/>
          <a:lstStyle/>
          <a:p>
            <a:pPr marL="0" indent="0">
              <a:lnSpc>
                <a:spcPts val="1900"/>
              </a:lnSpc>
              <a:buNone/>
            </a:pPr>
            <a:r>
              <a:rPr lang="en-US" sz="1300" dirty="0">
                <a:solidFill>
                  <a:srgbClr val="0E1C2B"/>
                </a:solidFill>
                <a:latin typeface="Calibri" pitchFamily="34" charset="0"/>
                <a:ea typeface="Calibri" pitchFamily="34" charset="-122"/>
                <a:cs typeface="Calibri" pitchFamily="34" charset="-120"/>
              </a:rPr>
              <a:t>Receives a simplified textual summary of the simulator state and generates the complete symbolic action sequence.</a:t>
            </a:r>
            <a:endParaRPr lang="en-US" sz="1300" dirty="0"/>
          </a:p>
        </p:txBody>
      </p:sp>
      <p:sp>
        <p:nvSpPr>
          <p:cNvPr id="9" name="Shape 7"/>
          <p:cNvSpPr/>
          <p:nvPr/>
        </p:nvSpPr>
        <p:spPr>
          <a:xfrm>
            <a:off x="6510528" y="1517904"/>
            <a:ext cx="5020056" cy="1463040"/>
          </a:xfrm>
          <a:prstGeom prst="roundRect">
            <a:avLst>
              <a:gd name="adj" fmla="val 5000"/>
            </a:avLst>
          </a:prstGeom>
          <a:solidFill>
            <a:srgbClr val="E3EEF3"/>
          </a:solidFill>
          <a:ln w="12700">
            <a:solidFill>
              <a:srgbClr val="E3EEF3"/>
            </a:solidFill>
            <a:prstDash val="solid"/>
          </a:ln>
          <a:effectLst>
            <a:outerShdw blurRad="127000" dist="25400" dir="5400000" algn="bl" rotWithShape="0">
              <a:srgbClr val="0E1C2B">
                <a:alpha val="10000"/>
              </a:srgbClr>
            </a:outerShdw>
          </a:effectLst>
        </p:spPr>
      </p:sp>
      <p:sp>
        <p:nvSpPr>
          <p:cNvPr id="10" name="Text 8"/>
          <p:cNvSpPr/>
          <p:nvPr/>
        </p:nvSpPr>
        <p:spPr>
          <a:xfrm>
            <a:off x="6803136" y="1664208"/>
            <a:ext cx="4663440" cy="310896"/>
          </a:xfrm>
          <a:prstGeom prst="rect">
            <a:avLst/>
          </a:prstGeom>
          <a:noFill/>
          <a:ln/>
        </p:spPr>
        <p:txBody>
          <a:bodyPr wrap="square" lIns="0" tIns="0" rIns="0" bIns="0" rtlCol="0" anchor="ctr"/>
          <a:lstStyle/>
          <a:p>
            <a:pPr marL="0" indent="0">
              <a:buNone/>
            </a:pPr>
            <a:r>
              <a:rPr lang="en-US" sz="1700" b="1" dirty="0">
                <a:solidFill>
                  <a:srgbClr val="1C7293"/>
                </a:solidFill>
                <a:latin typeface="Cambria" pitchFamily="34" charset="0"/>
                <a:ea typeface="Cambria" pitchFamily="34" charset="-122"/>
                <a:cs typeface="Cambria" pitchFamily="34" charset="-120"/>
              </a:rPr>
              <a:t>Ontology-grounded planning  (proposed)</a:t>
            </a:r>
            <a:endParaRPr lang="en-US" sz="1700" dirty="0"/>
          </a:p>
        </p:txBody>
      </p:sp>
      <p:sp>
        <p:nvSpPr>
          <p:cNvPr id="11" name="Text 9"/>
          <p:cNvSpPr/>
          <p:nvPr/>
        </p:nvSpPr>
        <p:spPr>
          <a:xfrm>
            <a:off x="6803136" y="2011680"/>
            <a:ext cx="4617720" cy="786384"/>
          </a:xfrm>
          <a:prstGeom prst="rect">
            <a:avLst/>
          </a:prstGeom>
          <a:noFill/>
          <a:ln/>
        </p:spPr>
        <p:txBody>
          <a:bodyPr wrap="square" lIns="0" tIns="0" rIns="0" bIns="0" rtlCol="0" anchor="ctr"/>
          <a:lstStyle/>
          <a:p>
            <a:pPr marL="0" indent="0">
              <a:lnSpc>
                <a:spcPts val="1900"/>
              </a:lnSpc>
              <a:buNone/>
            </a:pPr>
            <a:r>
              <a:rPr lang="en-US" sz="1300" dirty="0">
                <a:solidFill>
                  <a:srgbClr val="0E1C2B"/>
                </a:solidFill>
                <a:latin typeface="Calibri" pitchFamily="34" charset="0"/>
                <a:ea typeface="Calibri" pitchFamily="34" charset="-122"/>
                <a:cs typeface="Calibri" pitchFamily="34" charset="-120"/>
              </a:rPr>
              <a:t>Receives table-related objects with their ontology-derived storage targets and returns an ordered sequence of grounded object–target transfers.</a:t>
            </a:r>
            <a:endParaRPr lang="en-US" sz="1300" dirty="0"/>
          </a:p>
        </p:txBody>
      </p:sp>
      <p:sp>
        <p:nvSpPr>
          <p:cNvPr id="12" name="Text 10"/>
          <p:cNvSpPr/>
          <p:nvPr/>
        </p:nvSpPr>
        <p:spPr>
          <a:xfrm>
            <a:off x="658368" y="3054096"/>
            <a:ext cx="10872216" cy="310896"/>
          </a:xfrm>
          <a:prstGeom prst="rect">
            <a:avLst/>
          </a:prstGeom>
          <a:noFill/>
          <a:ln/>
        </p:spPr>
        <p:txBody>
          <a:bodyPr wrap="square" lIns="0" tIns="0" rIns="0" bIns="0" rtlCol="0" anchor="ctr"/>
          <a:lstStyle/>
          <a:p>
            <a:pPr marL="0" indent="0" algn="ctr">
              <a:buNone/>
            </a:pPr>
            <a:r>
              <a:rPr lang="en-US" sz="1350" b="1" i="1" dirty="0">
                <a:solidFill>
                  <a:srgbClr val="1C7293"/>
                </a:solidFill>
                <a:latin typeface="Calibri" pitchFamily="34" charset="0"/>
                <a:ea typeface="Calibri" pitchFamily="34" charset="-122"/>
                <a:cs typeface="Calibri" pitchFamily="34" charset="-120"/>
              </a:rPr>
              <a:t>Same LLM backend · same validator · same robot skills · same replanning mechanism</a:t>
            </a:r>
            <a:endParaRPr lang="en-US" sz="1350" dirty="0"/>
          </a:p>
        </p:txBody>
      </p:sp>
      <p:sp>
        <p:nvSpPr>
          <p:cNvPr id="13" name="Shape 11"/>
          <p:cNvSpPr/>
          <p:nvPr/>
        </p:nvSpPr>
        <p:spPr>
          <a:xfrm>
            <a:off x="658368" y="3493008"/>
            <a:ext cx="2546604" cy="1700784"/>
          </a:xfrm>
          <a:prstGeom prst="roundRect">
            <a:avLst>
              <a:gd name="adj" fmla="val 4301"/>
            </a:avLst>
          </a:prstGeom>
          <a:solidFill>
            <a:srgbClr val="0E1C2B"/>
          </a:solidFill>
          <a:ln w="12700">
            <a:solidFill>
              <a:srgbClr val="0E1C2B"/>
            </a:solidFill>
            <a:prstDash val="solid"/>
          </a:ln>
          <a:effectLst>
            <a:outerShdw blurRad="127000" dist="25400" dir="5400000" algn="bl" rotWithShape="0">
              <a:srgbClr val="0E1C2B">
                <a:alpha val="10000"/>
              </a:srgbClr>
            </a:outerShdw>
          </a:effectLst>
        </p:spPr>
      </p:sp>
      <p:sp>
        <p:nvSpPr>
          <p:cNvPr id="14" name="Text 12"/>
          <p:cNvSpPr/>
          <p:nvPr/>
        </p:nvSpPr>
        <p:spPr>
          <a:xfrm>
            <a:off x="896112" y="3621024"/>
            <a:ext cx="2071116" cy="310896"/>
          </a:xfrm>
          <a:prstGeom prst="rect">
            <a:avLst/>
          </a:prstGeom>
          <a:noFill/>
          <a:ln/>
        </p:spPr>
        <p:txBody>
          <a:bodyPr wrap="square" lIns="0" tIns="0" rIns="0" bIns="0" rtlCol="0" anchor="ctr"/>
          <a:lstStyle/>
          <a:p>
            <a:pPr marL="0" indent="0">
              <a:buNone/>
            </a:pPr>
            <a:r>
              <a:rPr lang="en-US" sz="1700" b="1" dirty="0">
                <a:solidFill>
                  <a:srgbClr val="F2A65A"/>
                </a:solidFill>
                <a:latin typeface="Cambria" pitchFamily="34" charset="0"/>
                <a:ea typeface="Cambria" pitchFamily="34" charset="-122"/>
                <a:cs typeface="Cambria" pitchFamily="34" charset="-120"/>
              </a:rPr>
              <a:t>Feasibility</a:t>
            </a:r>
            <a:endParaRPr lang="en-US" sz="1700" dirty="0"/>
          </a:p>
        </p:txBody>
      </p:sp>
      <p:sp>
        <p:nvSpPr>
          <p:cNvPr id="15" name="Text 13"/>
          <p:cNvSpPr/>
          <p:nvPr/>
        </p:nvSpPr>
        <p:spPr>
          <a:xfrm>
            <a:off x="896112" y="3968496"/>
            <a:ext cx="2071116" cy="841248"/>
          </a:xfrm>
          <a:prstGeom prst="rect">
            <a:avLst/>
          </a:prstGeom>
          <a:noFill/>
          <a:ln/>
        </p:spPr>
        <p:txBody>
          <a:bodyPr wrap="square" lIns="0" tIns="0" rIns="0" bIns="0" rtlCol="0" anchor="ctr"/>
          <a:lstStyle/>
          <a:p>
            <a:pPr marL="0" indent="0">
              <a:lnSpc>
                <a:spcPts val="1700"/>
              </a:lnSpc>
              <a:buNone/>
            </a:pPr>
            <a:r>
              <a:rPr lang="en-US" sz="1200" dirty="0">
                <a:solidFill>
                  <a:srgbClr val="CFE0E9"/>
                </a:solidFill>
                <a:latin typeface="Calibri" pitchFamily="34" charset="0"/>
                <a:ea typeface="Calibri" pitchFamily="34" charset="-122"/>
                <a:cs typeface="Calibri" pitchFamily="34" charset="-120"/>
              </a:rPr>
              <a:t>Trials whose initial symbolic plan is valid under the current scene constraints</a:t>
            </a:r>
            <a:endParaRPr lang="en-US" sz="1200" dirty="0"/>
          </a:p>
        </p:txBody>
      </p:sp>
      <p:sp>
        <p:nvSpPr>
          <p:cNvPr id="16" name="Text 14"/>
          <p:cNvSpPr/>
          <p:nvPr/>
        </p:nvSpPr>
        <p:spPr>
          <a:xfrm>
            <a:off x="896112" y="4809744"/>
            <a:ext cx="2071116" cy="274320"/>
          </a:xfrm>
          <a:prstGeom prst="rect">
            <a:avLst/>
          </a:prstGeom>
          <a:noFill/>
          <a:ln/>
        </p:spPr>
        <p:txBody>
          <a:bodyPr wrap="square" lIns="0" tIns="0" rIns="0" bIns="0" rtlCol="0" anchor="ctr"/>
          <a:lstStyle/>
          <a:p>
            <a:pPr marL="0" indent="0">
              <a:buNone/>
            </a:pPr>
            <a:r>
              <a:rPr lang="en-US" sz="1150" dirty="0">
                <a:solidFill>
                  <a:srgbClr val="FFFFFF"/>
                </a:solidFill>
                <a:latin typeface="Courier New" pitchFamily="34" charset="0"/>
                <a:ea typeface="Courier New" pitchFamily="34" charset="-122"/>
                <a:cs typeface="Courier New" pitchFamily="34" charset="-120"/>
              </a:rPr>
              <a:t>N_f / N × 100</a:t>
            </a:r>
            <a:endParaRPr lang="en-US" sz="1150" dirty="0"/>
          </a:p>
        </p:txBody>
      </p:sp>
      <p:sp>
        <p:nvSpPr>
          <p:cNvPr id="17" name="Shape 15"/>
          <p:cNvSpPr/>
          <p:nvPr/>
        </p:nvSpPr>
        <p:spPr>
          <a:xfrm>
            <a:off x="3433572" y="3493008"/>
            <a:ext cx="2546604" cy="1700784"/>
          </a:xfrm>
          <a:prstGeom prst="roundRect">
            <a:avLst>
              <a:gd name="adj" fmla="val 4301"/>
            </a:avLst>
          </a:prstGeom>
          <a:solidFill>
            <a:srgbClr val="0E1C2B"/>
          </a:solidFill>
          <a:ln w="12700">
            <a:solidFill>
              <a:srgbClr val="0E1C2B"/>
            </a:solidFill>
            <a:prstDash val="solid"/>
          </a:ln>
          <a:effectLst>
            <a:outerShdw blurRad="127000" dist="25400" dir="5400000" algn="bl" rotWithShape="0">
              <a:srgbClr val="0E1C2B">
                <a:alpha val="10000"/>
              </a:srgbClr>
            </a:outerShdw>
          </a:effectLst>
        </p:spPr>
      </p:sp>
      <p:sp>
        <p:nvSpPr>
          <p:cNvPr id="18" name="Text 16"/>
          <p:cNvSpPr/>
          <p:nvPr/>
        </p:nvSpPr>
        <p:spPr>
          <a:xfrm>
            <a:off x="3671316" y="3621024"/>
            <a:ext cx="2071116" cy="310896"/>
          </a:xfrm>
          <a:prstGeom prst="rect">
            <a:avLst/>
          </a:prstGeom>
          <a:noFill/>
          <a:ln/>
        </p:spPr>
        <p:txBody>
          <a:bodyPr wrap="square" lIns="0" tIns="0" rIns="0" bIns="0" rtlCol="0" anchor="ctr"/>
          <a:lstStyle/>
          <a:p>
            <a:pPr marL="0" indent="0">
              <a:buNone/>
            </a:pPr>
            <a:r>
              <a:rPr lang="en-US" sz="1700" b="1" dirty="0">
                <a:solidFill>
                  <a:srgbClr val="F2A65A"/>
                </a:solidFill>
                <a:latin typeface="Cambria" pitchFamily="34" charset="0"/>
                <a:ea typeface="Cambria" pitchFamily="34" charset="-122"/>
                <a:cs typeface="Cambria" pitchFamily="34" charset="-120"/>
              </a:rPr>
              <a:t>Success</a:t>
            </a:r>
            <a:endParaRPr lang="en-US" sz="1700" dirty="0"/>
          </a:p>
        </p:txBody>
      </p:sp>
      <p:sp>
        <p:nvSpPr>
          <p:cNvPr id="19" name="Text 17"/>
          <p:cNvSpPr/>
          <p:nvPr/>
        </p:nvSpPr>
        <p:spPr>
          <a:xfrm>
            <a:off x="3671316" y="3968496"/>
            <a:ext cx="2071116" cy="841248"/>
          </a:xfrm>
          <a:prstGeom prst="rect">
            <a:avLst/>
          </a:prstGeom>
          <a:noFill/>
          <a:ln/>
        </p:spPr>
        <p:txBody>
          <a:bodyPr wrap="square" lIns="0" tIns="0" rIns="0" bIns="0" rtlCol="0" anchor="ctr"/>
          <a:lstStyle/>
          <a:p>
            <a:pPr marL="0" indent="0">
              <a:lnSpc>
                <a:spcPts val="1700"/>
              </a:lnSpc>
              <a:buNone/>
            </a:pPr>
            <a:r>
              <a:rPr lang="en-US" sz="1200" dirty="0">
                <a:solidFill>
                  <a:srgbClr val="CFE0E9"/>
                </a:solidFill>
                <a:latin typeface="Calibri" pitchFamily="34" charset="0"/>
                <a:ea typeface="Calibri" pitchFamily="34" charset="-122"/>
                <a:cs typeface="Calibri" pitchFamily="34" charset="-120"/>
              </a:rPr>
              <a:t>Trials in which the robot reaches the intended final task state</a:t>
            </a:r>
            <a:endParaRPr lang="en-US" sz="1200" dirty="0"/>
          </a:p>
        </p:txBody>
      </p:sp>
      <p:sp>
        <p:nvSpPr>
          <p:cNvPr id="20" name="Text 18"/>
          <p:cNvSpPr/>
          <p:nvPr/>
        </p:nvSpPr>
        <p:spPr>
          <a:xfrm>
            <a:off x="3671316" y="4809744"/>
            <a:ext cx="2071116" cy="274320"/>
          </a:xfrm>
          <a:prstGeom prst="rect">
            <a:avLst/>
          </a:prstGeom>
          <a:noFill/>
          <a:ln/>
        </p:spPr>
        <p:txBody>
          <a:bodyPr wrap="square" lIns="0" tIns="0" rIns="0" bIns="0" rtlCol="0" anchor="ctr"/>
          <a:lstStyle/>
          <a:p>
            <a:pPr marL="0" indent="0">
              <a:buNone/>
            </a:pPr>
            <a:r>
              <a:rPr lang="en-US" sz="1150" dirty="0">
                <a:solidFill>
                  <a:srgbClr val="FFFFFF"/>
                </a:solidFill>
                <a:latin typeface="Courier New" pitchFamily="34" charset="0"/>
                <a:ea typeface="Courier New" pitchFamily="34" charset="-122"/>
                <a:cs typeface="Courier New" pitchFamily="34" charset="-120"/>
              </a:rPr>
              <a:t>N_s / N × 100</a:t>
            </a:r>
            <a:endParaRPr lang="en-US" sz="1150" dirty="0"/>
          </a:p>
        </p:txBody>
      </p:sp>
      <p:sp>
        <p:nvSpPr>
          <p:cNvPr id="21" name="Shape 19"/>
          <p:cNvSpPr/>
          <p:nvPr/>
        </p:nvSpPr>
        <p:spPr>
          <a:xfrm>
            <a:off x="6208776" y="3493008"/>
            <a:ext cx="2546604" cy="1700784"/>
          </a:xfrm>
          <a:prstGeom prst="roundRect">
            <a:avLst>
              <a:gd name="adj" fmla="val 4301"/>
            </a:avLst>
          </a:prstGeom>
          <a:solidFill>
            <a:srgbClr val="0E1C2B"/>
          </a:solidFill>
          <a:ln w="12700">
            <a:solidFill>
              <a:srgbClr val="0E1C2B"/>
            </a:solidFill>
            <a:prstDash val="solid"/>
          </a:ln>
          <a:effectLst>
            <a:outerShdw blurRad="127000" dist="25400" dir="5400000" algn="bl" rotWithShape="0">
              <a:srgbClr val="0E1C2B">
                <a:alpha val="10000"/>
              </a:srgbClr>
            </a:outerShdw>
          </a:effectLst>
        </p:spPr>
      </p:sp>
      <p:sp>
        <p:nvSpPr>
          <p:cNvPr id="22" name="Text 20"/>
          <p:cNvSpPr/>
          <p:nvPr/>
        </p:nvSpPr>
        <p:spPr>
          <a:xfrm>
            <a:off x="6446520" y="3621024"/>
            <a:ext cx="2071116" cy="310896"/>
          </a:xfrm>
          <a:prstGeom prst="rect">
            <a:avLst/>
          </a:prstGeom>
          <a:noFill/>
          <a:ln/>
        </p:spPr>
        <p:txBody>
          <a:bodyPr wrap="square" lIns="0" tIns="0" rIns="0" bIns="0" rtlCol="0" anchor="ctr"/>
          <a:lstStyle/>
          <a:p>
            <a:pPr marL="0" indent="0">
              <a:buNone/>
            </a:pPr>
            <a:r>
              <a:rPr lang="en-US" sz="1700" b="1" dirty="0">
                <a:solidFill>
                  <a:srgbClr val="F2A65A"/>
                </a:solidFill>
                <a:latin typeface="Cambria" pitchFamily="34" charset="0"/>
                <a:ea typeface="Cambria" pitchFamily="34" charset="-122"/>
                <a:cs typeface="Cambria" pitchFamily="34" charset="-120"/>
              </a:rPr>
              <a:t>Replanning</a:t>
            </a:r>
            <a:endParaRPr lang="en-US" sz="1700" dirty="0"/>
          </a:p>
        </p:txBody>
      </p:sp>
      <p:sp>
        <p:nvSpPr>
          <p:cNvPr id="23" name="Text 21"/>
          <p:cNvSpPr/>
          <p:nvPr/>
        </p:nvSpPr>
        <p:spPr>
          <a:xfrm>
            <a:off x="6446520" y="3968496"/>
            <a:ext cx="2071116" cy="841248"/>
          </a:xfrm>
          <a:prstGeom prst="rect">
            <a:avLst/>
          </a:prstGeom>
          <a:noFill/>
          <a:ln/>
        </p:spPr>
        <p:txBody>
          <a:bodyPr wrap="square" lIns="0" tIns="0" rIns="0" bIns="0" rtlCol="0" anchor="ctr"/>
          <a:lstStyle/>
          <a:p>
            <a:pPr marL="0" indent="0">
              <a:lnSpc>
                <a:spcPts val="1700"/>
              </a:lnSpc>
              <a:buNone/>
            </a:pPr>
            <a:r>
              <a:rPr lang="en-US" sz="1200" dirty="0">
                <a:solidFill>
                  <a:srgbClr val="CFE0E9"/>
                </a:solidFill>
                <a:latin typeface="Calibri" pitchFamily="34" charset="0"/>
                <a:ea typeface="Calibri" pitchFamily="34" charset="-122"/>
                <a:cs typeface="Calibri" pitchFamily="34" charset="-120"/>
              </a:rPr>
              <a:t>Disturbed trials in which the system recovers and completes the task</a:t>
            </a:r>
            <a:endParaRPr lang="en-US" sz="1200" dirty="0"/>
          </a:p>
        </p:txBody>
      </p:sp>
      <p:sp>
        <p:nvSpPr>
          <p:cNvPr id="24" name="Text 22"/>
          <p:cNvSpPr/>
          <p:nvPr/>
        </p:nvSpPr>
        <p:spPr>
          <a:xfrm>
            <a:off x="6446520" y="4809744"/>
            <a:ext cx="2071116" cy="274320"/>
          </a:xfrm>
          <a:prstGeom prst="rect">
            <a:avLst/>
          </a:prstGeom>
          <a:noFill/>
          <a:ln/>
        </p:spPr>
        <p:txBody>
          <a:bodyPr wrap="square" lIns="0" tIns="0" rIns="0" bIns="0" rtlCol="0" anchor="ctr"/>
          <a:lstStyle/>
          <a:p>
            <a:pPr marL="0" indent="0">
              <a:buNone/>
            </a:pPr>
            <a:r>
              <a:rPr lang="en-US" sz="1150" dirty="0">
                <a:solidFill>
                  <a:srgbClr val="FFFFFF"/>
                </a:solidFill>
                <a:latin typeface="Courier New" pitchFamily="34" charset="0"/>
                <a:ea typeface="Courier New" pitchFamily="34" charset="-122"/>
                <a:cs typeface="Courier New" pitchFamily="34" charset="-120"/>
              </a:rPr>
              <a:t>N_r / N_d × 100</a:t>
            </a:r>
            <a:endParaRPr lang="en-US" sz="1150" dirty="0"/>
          </a:p>
        </p:txBody>
      </p:sp>
      <p:sp>
        <p:nvSpPr>
          <p:cNvPr id="25" name="Shape 23"/>
          <p:cNvSpPr/>
          <p:nvPr/>
        </p:nvSpPr>
        <p:spPr>
          <a:xfrm>
            <a:off x="8983980" y="3493008"/>
            <a:ext cx="2546604" cy="1700784"/>
          </a:xfrm>
          <a:prstGeom prst="roundRect">
            <a:avLst>
              <a:gd name="adj" fmla="val 4301"/>
            </a:avLst>
          </a:prstGeom>
          <a:solidFill>
            <a:srgbClr val="0E1C2B"/>
          </a:solidFill>
          <a:ln w="12700">
            <a:solidFill>
              <a:srgbClr val="0E1C2B"/>
            </a:solidFill>
            <a:prstDash val="solid"/>
          </a:ln>
          <a:effectLst>
            <a:outerShdw blurRad="127000" dist="25400" dir="5400000" algn="bl" rotWithShape="0">
              <a:srgbClr val="0E1C2B">
                <a:alpha val="10000"/>
              </a:srgbClr>
            </a:outerShdw>
          </a:effectLst>
        </p:spPr>
      </p:sp>
      <p:sp>
        <p:nvSpPr>
          <p:cNvPr id="26" name="Text 24"/>
          <p:cNvSpPr/>
          <p:nvPr/>
        </p:nvSpPr>
        <p:spPr>
          <a:xfrm>
            <a:off x="9221724" y="3621024"/>
            <a:ext cx="2071116" cy="310896"/>
          </a:xfrm>
          <a:prstGeom prst="rect">
            <a:avLst/>
          </a:prstGeom>
          <a:noFill/>
          <a:ln/>
        </p:spPr>
        <p:txBody>
          <a:bodyPr wrap="square" lIns="0" tIns="0" rIns="0" bIns="0" rtlCol="0" anchor="ctr"/>
          <a:lstStyle/>
          <a:p>
            <a:pPr marL="0" indent="0">
              <a:buNone/>
            </a:pPr>
            <a:r>
              <a:rPr lang="en-US" sz="1700" b="1" dirty="0">
                <a:solidFill>
                  <a:srgbClr val="F2A65A"/>
                </a:solidFill>
                <a:latin typeface="Cambria" pitchFamily="34" charset="0"/>
                <a:ea typeface="Cambria" pitchFamily="34" charset="-122"/>
                <a:cs typeface="Cambria" pitchFamily="34" charset="-120"/>
              </a:rPr>
              <a:t>Planning time</a:t>
            </a:r>
            <a:endParaRPr lang="en-US" sz="1700" dirty="0"/>
          </a:p>
        </p:txBody>
      </p:sp>
      <p:sp>
        <p:nvSpPr>
          <p:cNvPr id="27" name="Text 25"/>
          <p:cNvSpPr/>
          <p:nvPr/>
        </p:nvSpPr>
        <p:spPr>
          <a:xfrm>
            <a:off x="9221724" y="3968496"/>
            <a:ext cx="2071116" cy="841248"/>
          </a:xfrm>
          <a:prstGeom prst="rect">
            <a:avLst/>
          </a:prstGeom>
          <a:noFill/>
          <a:ln/>
        </p:spPr>
        <p:txBody>
          <a:bodyPr wrap="square" lIns="0" tIns="0" rIns="0" bIns="0" rtlCol="0" anchor="ctr"/>
          <a:lstStyle/>
          <a:p>
            <a:pPr marL="0" indent="0">
              <a:lnSpc>
                <a:spcPts val="1700"/>
              </a:lnSpc>
              <a:buNone/>
            </a:pPr>
            <a:r>
              <a:rPr lang="en-US" sz="1200" dirty="0">
                <a:solidFill>
                  <a:srgbClr val="CFE0E9"/>
                </a:solidFill>
                <a:latin typeface="Calibri" pitchFamily="34" charset="0"/>
                <a:ea typeface="Calibri" pitchFamily="34" charset="-122"/>
                <a:cs typeface="Calibri" pitchFamily="34" charset="-120"/>
              </a:rPr>
              <a:t>Mean time to generate a valid symbolic plan across all evaluated trials</a:t>
            </a:r>
            <a:endParaRPr lang="en-US" sz="1200" dirty="0"/>
          </a:p>
        </p:txBody>
      </p:sp>
      <p:sp>
        <p:nvSpPr>
          <p:cNvPr id="28" name="Text 26"/>
          <p:cNvSpPr/>
          <p:nvPr/>
        </p:nvSpPr>
        <p:spPr>
          <a:xfrm>
            <a:off x="9221724" y="4809744"/>
            <a:ext cx="2071116" cy="274320"/>
          </a:xfrm>
          <a:prstGeom prst="rect">
            <a:avLst/>
          </a:prstGeom>
          <a:noFill/>
          <a:ln/>
        </p:spPr>
        <p:txBody>
          <a:bodyPr wrap="square" lIns="0" tIns="0" rIns="0" bIns="0" rtlCol="0" anchor="ctr"/>
          <a:lstStyle/>
          <a:p>
            <a:pPr marL="0" indent="0">
              <a:buNone/>
            </a:pPr>
            <a:r>
              <a:rPr lang="en-US" sz="1150" dirty="0">
                <a:solidFill>
                  <a:srgbClr val="FFFFFF"/>
                </a:solidFill>
                <a:latin typeface="Courier New" pitchFamily="34" charset="0"/>
                <a:ea typeface="Courier New" pitchFamily="34" charset="-122"/>
                <a:cs typeface="Courier New" pitchFamily="34" charset="-120"/>
              </a:rPr>
              <a:t>(1/N) Σ Tᵢ</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58368" y="6382512"/>
            <a:ext cx="68580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Ontology-Grounded LLM Planning  ·  IEEE RO-MAN 2026</a:t>
            </a:r>
            <a:endParaRPr lang="en-US" sz="950" dirty="0"/>
          </a:p>
        </p:txBody>
      </p:sp>
      <p:sp>
        <p:nvSpPr>
          <p:cNvPr id="3" name="Text 1"/>
          <p:cNvSpPr/>
          <p:nvPr/>
        </p:nvSpPr>
        <p:spPr>
          <a:xfrm>
            <a:off x="10433304" y="6382512"/>
            <a:ext cx="109728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12</a:t>
            </a:r>
            <a:endParaRPr lang="en-US" sz="950" dirty="0"/>
          </a:p>
        </p:txBody>
      </p:sp>
      <p:sp>
        <p:nvSpPr>
          <p:cNvPr id="4" name="Text 2"/>
          <p:cNvSpPr/>
          <p:nvPr/>
        </p:nvSpPr>
        <p:spPr>
          <a:xfrm>
            <a:off x="658368" y="384048"/>
            <a:ext cx="10872216" cy="237744"/>
          </a:xfrm>
          <a:prstGeom prst="rect">
            <a:avLst/>
          </a:prstGeom>
          <a:noFill/>
          <a:ln/>
        </p:spPr>
        <p:txBody>
          <a:bodyPr wrap="square" lIns="0" tIns="0" rIns="0" bIns="0" rtlCol="0" anchor="ctr"/>
          <a:lstStyle/>
          <a:p>
            <a:pPr marL="0" indent="0">
              <a:buNone/>
            </a:pPr>
            <a:r>
              <a:rPr lang="en-US" sz="1050" b="1" kern="0" spc="200" dirty="0">
                <a:solidFill>
                  <a:srgbClr val="F2A65A"/>
                </a:solidFill>
                <a:latin typeface="Calibri" pitchFamily="34" charset="0"/>
                <a:ea typeface="Calibri" pitchFamily="34" charset="-122"/>
                <a:cs typeface="Calibri" pitchFamily="34" charset="-120"/>
              </a:rPr>
              <a:t>RESULTS</a:t>
            </a:r>
            <a:endParaRPr lang="en-US" sz="1050" dirty="0"/>
          </a:p>
        </p:txBody>
      </p:sp>
      <p:sp>
        <p:nvSpPr>
          <p:cNvPr id="5" name="Text 3"/>
          <p:cNvSpPr/>
          <p:nvPr/>
        </p:nvSpPr>
        <p:spPr>
          <a:xfrm>
            <a:off x="658368" y="676656"/>
            <a:ext cx="10872216" cy="566928"/>
          </a:xfrm>
          <a:prstGeom prst="rect">
            <a:avLst/>
          </a:prstGeom>
          <a:noFill/>
          <a:ln/>
        </p:spPr>
        <p:txBody>
          <a:bodyPr wrap="square" lIns="0" tIns="0" rIns="0" bIns="0" rtlCol="0" anchor="t"/>
          <a:lstStyle/>
          <a:p>
            <a:pPr marL="0" indent="0">
              <a:buNone/>
            </a:pPr>
            <a:r>
              <a:rPr lang="en-US" sz="3000" b="1" dirty="0">
                <a:solidFill>
                  <a:srgbClr val="0E1C2B"/>
                </a:solidFill>
                <a:latin typeface="Cambria" pitchFamily="34" charset="0"/>
                <a:ea typeface="Cambria" pitchFamily="34" charset="-122"/>
                <a:cs typeface="Cambria" pitchFamily="34" charset="-120"/>
              </a:rPr>
              <a:t>Grounding improves feasibility, success and recovery</a:t>
            </a:r>
            <a:endParaRPr lang="en-US" sz="3000" dirty="0"/>
          </a:p>
        </p:txBody>
      </p:sp>
      <p:graphicFrame>
        <p:nvGraphicFramePr>
          <p:cNvPr id="6" name="Chart 0"/>
          <p:cNvGraphicFramePr/>
          <p:nvPr/>
        </p:nvGraphicFramePr>
        <p:xfrm>
          <a:off x="658368" y="1481328"/>
          <a:ext cx="745236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8476488" y="1481328"/>
            <a:ext cx="3054096" cy="1700784"/>
          </a:xfrm>
          <a:prstGeom prst="roundRect">
            <a:avLst>
              <a:gd name="adj" fmla="val 4301"/>
            </a:avLst>
          </a:prstGeom>
          <a:solidFill>
            <a:srgbClr val="0E1C2B"/>
          </a:solidFill>
          <a:ln w="12700">
            <a:solidFill>
              <a:srgbClr val="0E1C2B"/>
            </a:solidFill>
            <a:prstDash val="solid"/>
          </a:ln>
          <a:effectLst>
            <a:outerShdw blurRad="127000" dist="25400" dir="5400000" algn="bl" rotWithShape="0">
              <a:srgbClr val="0E1C2B">
                <a:alpha val="10000"/>
              </a:srgbClr>
            </a:outerShdw>
          </a:effectLst>
        </p:spPr>
      </p:sp>
      <p:sp>
        <p:nvSpPr>
          <p:cNvPr id="8" name="Text 5"/>
          <p:cNvSpPr/>
          <p:nvPr/>
        </p:nvSpPr>
        <p:spPr>
          <a:xfrm>
            <a:off x="8750808" y="1627632"/>
            <a:ext cx="2926080" cy="256032"/>
          </a:xfrm>
          <a:prstGeom prst="rect">
            <a:avLst/>
          </a:prstGeom>
          <a:noFill/>
          <a:ln/>
        </p:spPr>
        <p:txBody>
          <a:bodyPr wrap="square" lIns="0" tIns="0" rIns="0" bIns="0" rtlCol="0" anchor="ctr"/>
          <a:lstStyle/>
          <a:p>
            <a:pPr marL="0" indent="0">
              <a:buNone/>
            </a:pPr>
            <a:r>
              <a:rPr lang="en-US" sz="1050" b="1" kern="0" spc="130" dirty="0">
                <a:solidFill>
                  <a:srgbClr val="F2A65A"/>
                </a:solidFill>
                <a:latin typeface="Calibri" pitchFamily="34" charset="0"/>
                <a:ea typeface="Calibri" pitchFamily="34" charset="-122"/>
                <a:cs typeface="Calibri" pitchFamily="34" charset="-120"/>
              </a:rPr>
              <a:t>INITIAL PLANNING TIME</a:t>
            </a:r>
            <a:endParaRPr lang="en-US" sz="1050" dirty="0"/>
          </a:p>
        </p:txBody>
      </p:sp>
      <p:sp>
        <p:nvSpPr>
          <p:cNvPr id="9" name="Text 6"/>
          <p:cNvSpPr/>
          <p:nvPr/>
        </p:nvSpPr>
        <p:spPr>
          <a:xfrm>
            <a:off x="8750808" y="1920240"/>
            <a:ext cx="3291840" cy="640080"/>
          </a:xfrm>
          <a:prstGeom prst="rect">
            <a:avLst/>
          </a:prstGeom>
          <a:noFill/>
          <a:ln/>
        </p:spPr>
        <p:txBody>
          <a:bodyPr wrap="square" lIns="0" tIns="0" rIns="0" bIns="0" rtlCol="0" anchor="ctr"/>
          <a:lstStyle/>
          <a:p>
            <a:pPr marL="0" indent="0">
              <a:buNone/>
            </a:pPr>
            <a:r>
              <a:rPr lang="en-US" sz="2600" b="1" strike="sngStrike" dirty="0">
                <a:solidFill>
                  <a:srgbClr val="B0BEC8"/>
                </a:solidFill>
                <a:latin typeface="Cambria" pitchFamily="34" charset="0"/>
                <a:ea typeface="Cambria" pitchFamily="34" charset="-122"/>
                <a:cs typeface="Cambria" pitchFamily="34" charset="-120"/>
              </a:rPr>
              <a:t>65.5</a:t>
            </a:r>
            <a:r>
              <a:rPr lang="en-US" sz="2000" b="1" dirty="0">
                <a:solidFill>
                  <a:srgbClr val="FFFFFF"/>
                </a:solidFill>
                <a:latin typeface="Cambria" pitchFamily="34" charset="0"/>
                <a:ea typeface="Cambria" pitchFamily="34" charset="-122"/>
                <a:cs typeface="Cambria" pitchFamily="34" charset="-120"/>
              </a:rPr>
              <a:t>  →  </a:t>
            </a:r>
            <a:r>
              <a:rPr lang="en-US" sz="3800" b="1" dirty="0">
                <a:solidFill>
                  <a:srgbClr val="F2A65A"/>
                </a:solidFill>
                <a:latin typeface="Cambria" pitchFamily="34" charset="0"/>
                <a:ea typeface="Cambria" pitchFamily="34" charset="-122"/>
                <a:cs typeface="Cambria" pitchFamily="34" charset="-120"/>
              </a:rPr>
              <a:t>15.2</a:t>
            </a:r>
            <a:r>
              <a:rPr lang="en-US" sz="2000" b="1" dirty="0">
                <a:solidFill>
                  <a:srgbClr val="FFFFFF"/>
                </a:solidFill>
                <a:latin typeface="Cambria" pitchFamily="34" charset="0"/>
                <a:ea typeface="Cambria" pitchFamily="34" charset="-122"/>
                <a:cs typeface="Cambria" pitchFamily="34" charset="-120"/>
              </a:rPr>
              <a:t> s</a:t>
            </a:r>
            <a:endParaRPr lang="en-US" sz="2600" dirty="0"/>
          </a:p>
        </p:txBody>
      </p:sp>
      <p:sp>
        <p:nvSpPr>
          <p:cNvPr id="10" name="Text 7"/>
          <p:cNvSpPr/>
          <p:nvPr/>
        </p:nvSpPr>
        <p:spPr>
          <a:xfrm>
            <a:off x="8750808" y="2615184"/>
            <a:ext cx="3291840" cy="274320"/>
          </a:xfrm>
          <a:prstGeom prst="rect">
            <a:avLst/>
          </a:prstGeom>
          <a:noFill/>
          <a:ln/>
        </p:spPr>
        <p:txBody>
          <a:bodyPr wrap="square" lIns="0" tIns="0" rIns="0" bIns="0" rtlCol="0" anchor="ctr"/>
          <a:lstStyle/>
          <a:p>
            <a:pPr marL="0" indent="0">
              <a:buNone/>
            </a:pPr>
            <a:r>
              <a:rPr lang="en-US" sz="1250" dirty="0">
                <a:solidFill>
                  <a:srgbClr val="CFE0E9"/>
                </a:solidFill>
                <a:latin typeface="Calibri" pitchFamily="34" charset="0"/>
                <a:ea typeface="Calibri" pitchFamily="34" charset="-122"/>
                <a:cs typeface="Calibri" pitchFamily="34" charset="-120"/>
              </a:rPr>
              <a:t>≈ 77% faster to a valid plan</a:t>
            </a:r>
            <a:endParaRPr lang="en-US" sz="1250" dirty="0"/>
          </a:p>
        </p:txBody>
      </p:sp>
      <p:sp>
        <p:nvSpPr>
          <p:cNvPr id="11" name="Shape 8"/>
          <p:cNvSpPr/>
          <p:nvPr/>
        </p:nvSpPr>
        <p:spPr>
          <a:xfrm>
            <a:off x="8476488" y="3346704"/>
            <a:ext cx="3054096" cy="566928"/>
          </a:xfrm>
          <a:prstGeom prst="roundRect">
            <a:avLst>
              <a:gd name="adj" fmla="val 12903"/>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2" name="Text 9"/>
          <p:cNvSpPr/>
          <p:nvPr/>
        </p:nvSpPr>
        <p:spPr>
          <a:xfrm>
            <a:off x="8723376" y="3474720"/>
            <a:ext cx="1417320" cy="310896"/>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Feasibility</a:t>
            </a:r>
            <a:endParaRPr lang="en-US" sz="1200" dirty="0"/>
          </a:p>
        </p:txBody>
      </p:sp>
      <p:sp>
        <p:nvSpPr>
          <p:cNvPr id="13" name="Text 10"/>
          <p:cNvSpPr/>
          <p:nvPr/>
        </p:nvSpPr>
        <p:spPr>
          <a:xfrm>
            <a:off x="9345168" y="3474720"/>
            <a:ext cx="1938528" cy="310896"/>
          </a:xfrm>
          <a:prstGeom prst="rect">
            <a:avLst/>
          </a:prstGeom>
          <a:noFill/>
          <a:ln/>
        </p:spPr>
        <p:txBody>
          <a:bodyPr wrap="square" lIns="0" tIns="0" rIns="0" bIns="0" rtlCol="0" anchor="ctr"/>
          <a:lstStyle/>
          <a:p>
            <a:pPr marL="0" indent="0" algn="r">
              <a:buNone/>
            </a:pPr>
            <a:r>
              <a:rPr lang="en-US" sz="1200" b="1" dirty="0">
                <a:solidFill>
                  <a:srgbClr val="1C7293"/>
                </a:solidFill>
                <a:latin typeface="Calibri" pitchFamily="34" charset="0"/>
                <a:ea typeface="Calibri" pitchFamily="34" charset="-122"/>
                <a:cs typeface="Calibri" pitchFamily="34" charset="-120"/>
              </a:rPr>
              <a:t>8.0% → 44.0%</a:t>
            </a:r>
            <a:endParaRPr lang="en-US" sz="1200" dirty="0"/>
          </a:p>
        </p:txBody>
      </p:sp>
      <p:sp>
        <p:nvSpPr>
          <p:cNvPr id="14" name="Shape 11"/>
          <p:cNvSpPr/>
          <p:nvPr/>
        </p:nvSpPr>
        <p:spPr>
          <a:xfrm>
            <a:off x="8476488" y="4005072"/>
            <a:ext cx="3054096" cy="566928"/>
          </a:xfrm>
          <a:prstGeom prst="roundRect">
            <a:avLst>
              <a:gd name="adj" fmla="val 12903"/>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5" name="Text 12"/>
          <p:cNvSpPr/>
          <p:nvPr/>
        </p:nvSpPr>
        <p:spPr>
          <a:xfrm>
            <a:off x="8723376" y="4133088"/>
            <a:ext cx="1417320" cy="310896"/>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Task success</a:t>
            </a:r>
            <a:endParaRPr lang="en-US" sz="1200" dirty="0"/>
          </a:p>
        </p:txBody>
      </p:sp>
      <p:sp>
        <p:nvSpPr>
          <p:cNvPr id="16" name="Text 13"/>
          <p:cNvSpPr/>
          <p:nvPr/>
        </p:nvSpPr>
        <p:spPr>
          <a:xfrm>
            <a:off x="9345168" y="4133088"/>
            <a:ext cx="1938528" cy="310896"/>
          </a:xfrm>
          <a:prstGeom prst="rect">
            <a:avLst/>
          </a:prstGeom>
          <a:noFill/>
          <a:ln/>
        </p:spPr>
        <p:txBody>
          <a:bodyPr wrap="square" lIns="0" tIns="0" rIns="0" bIns="0" rtlCol="0" anchor="ctr"/>
          <a:lstStyle/>
          <a:p>
            <a:pPr marL="0" indent="0" algn="r">
              <a:buNone/>
            </a:pPr>
            <a:r>
              <a:rPr lang="en-US" sz="1200" b="1" dirty="0">
                <a:solidFill>
                  <a:srgbClr val="1C7293"/>
                </a:solidFill>
                <a:latin typeface="Calibri" pitchFamily="34" charset="0"/>
                <a:ea typeface="Calibri" pitchFamily="34" charset="-122"/>
                <a:cs typeface="Calibri" pitchFamily="34" charset="-120"/>
              </a:rPr>
              <a:t>12.0% → 64.0%</a:t>
            </a:r>
            <a:endParaRPr lang="en-US" sz="1200" dirty="0"/>
          </a:p>
        </p:txBody>
      </p:sp>
      <p:sp>
        <p:nvSpPr>
          <p:cNvPr id="17" name="Shape 14"/>
          <p:cNvSpPr/>
          <p:nvPr/>
        </p:nvSpPr>
        <p:spPr>
          <a:xfrm>
            <a:off x="8476488" y="4663440"/>
            <a:ext cx="3054096" cy="566928"/>
          </a:xfrm>
          <a:prstGeom prst="roundRect">
            <a:avLst>
              <a:gd name="adj" fmla="val 12903"/>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8" name="Text 15"/>
          <p:cNvSpPr/>
          <p:nvPr/>
        </p:nvSpPr>
        <p:spPr>
          <a:xfrm>
            <a:off x="8723376" y="4791456"/>
            <a:ext cx="1417320" cy="310896"/>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Replanning success</a:t>
            </a:r>
            <a:endParaRPr lang="en-US" sz="1200" dirty="0"/>
          </a:p>
        </p:txBody>
      </p:sp>
      <p:sp>
        <p:nvSpPr>
          <p:cNvPr id="19" name="Text 16"/>
          <p:cNvSpPr/>
          <p:nvPr/>
        </p:nvSpPr>
        <p:spPr>
          <a:xfrm>
            <a:off x="9345168" y="4791456"/>
            <a:ext cx="1938528" cy="310896"/>
          </a:xfrm>
          <a:prstGeom prst="rect">
            <a:avLst/>
          </a:prstGeom>
          <a:noFill/>
          <a:ln/>
        </p:spPr>
        <p:txBody>
          <a:bodyPr wrap="square" lIns="0" tIns="0" rIns="0" bIns="0" rtlCol="0" anchor="ctr"/>
          <a:lstStyle/>
          <a:p>
            <a:pPr marL="0" indent="0" algn="r">
              <a:buNone/>
            </a:pPr>
            <a:r>
              <a:rPr lang="en-US" sz="1200" b="1" dirty="0">
                <a:solidFill>
                  <a:srgbClr val="1C7293"/>
                </a:solidFill>
                <a:latin typeface="Calibri" pitchFamily="34" charset="0"/>
                <a:ea typeface="Calibri" pitchFamily="34" charset="-122"/>
                <a:cs typeface="Calibri" pitchFamily="34" charset="-120"/>
              </a:rPr>
              <a:t>17.0% → 73.3%</a:t>
            </a:r>
            <a:endParaRPr lang="en-US" sz="1200" dirty="0"/>
          </a:p>
        </p:txBody>
      </p:sp>
      <p:sp>
        <p:nvSpPr>
          <p:cNvPr id="20" name="Text 17"/>
          <p:cNvSpPr/>
          <p:nvPr/>
        </p:nvSpPr>
        <p:spPr>
          <a:xfrm>
            <a:off x="658368" y="5248656"/>
            <a:ext cx="10872216" cy="402336"/>
          </a:xfrm>
          <a:prstGeom prst="rect">
            <a:avLst/>
          </a:prstGeom>
          <a:noFill/>
          <a:ln/>
        </p:spPr>
        <p:txBody>
          <a:bodyPr wrap="square" lIns="0" tIns="0" rIns="0" bIns="0" rtlCol="0" anchor="ctr"/>
          <a:lstStyle/>
          <a:p>
            <a:pPr marL="0" indent="0">
              <a:buNone/>
            </a:pPr>
            <a:r>
              <a:rPr lang="en-US" sz="1200" i="1" dirty="0">
                <a:solidFill>
                  <a:srgbClr val="5A6B7A"/>
                </a:solidFill>
                <a:latin typeface="Calibri" pitchFamily="34" charset="0"/>
                <a:ea typeface="Calibri" pitchFamily="34" charset="-122"/>
                <a:cs typeface="Calibri" pitchFamily="34" charset="-120"/>
              </a:rPr>
              <a:t>Aggregate over the evaluated trial set (Table III). Planning-time gain should be read at the pipeline level: the two configurations use different output formats.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58368" y="6382512"/>
            <a:ext cx="68580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Ontology-Grounded LLM Planning  ·  IEEE RO-MAN 2026</a:t>
            </a:r>
            <a:endParaRPr lang="en-US" sz="950" dirty="0"/>
          </a:p>
        </p:txBody>
      </p:sp>
      <p:sp>
        <p:nvSpPr>
          <p:cNvPr id="3" name="Text 1"/>
          <p:cNvSpPr/>
          <p:nvPr/>
        </p:nvSpPr>
        <p:spPr>
          <a:xfrm>
            <a:off x="10433304" y="6382512"/>
            <a:ext cx="109728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13</a:t>
            </a:r>
            <a:endParaRPr lang="en-US" sz="950" dirty="0"/>
          </a:p>
        </p:txBody>
      </p:sp>
      <p:sp>
        <p:nvSpPr>
          <p:cNvPr id="4" name="Text 2"/>
          <p:cNvSpPr/>
          <p:nvPr/>
        </p:nvSpPr>
        <p:spPr>
          <a:xfrm>
            <a:off x="658368" y="384048"/>
            <a:ext cx="10872216" cy="237744"/>
          </a:xfrm>
          <a:prstGeom prst="rect">
            <a:avLst/>
          </a:prstGeom>
          <a:noFill/>
          <a:ln/>
        </p:spPr>
        <p:txBody>
          <a:bodyPr wrap="square" lIns="0" tIns="0" rIns="0" bIns="0" rtlCol="0" anchor="ctr"/>
          <a:lstStyle/>
          <a:p>
            <a:pPr marL="0" indent="0">
              <a:buNone/>
            </a:pPr>
            <a:r>
              <a:rPr lang="en-US" sz="1050" b="1" kern="0" spc="200" dirty="0">
                <a:solidFill>
                  <a:srgbClr val="F2A65A"/>
                </a:solidFill>
                <a:latin typeface="Calibri" pitchFamily="34" charset="0"/>
                <a:ea typeface="Calibri" pitchFamily="34" charset="-122"/>
                <a:cs typeface="Calibri" pitchFamily="34" charset="-120"/>
              </a:rPr>
              <a:t>RESULTS · PER SCENARIO</a:t>
            </a:r>
            <a:endParaRPr lang="en-US" sz="1050" dirty="0"/>
          </a:p>
        </p:txBody>
      </p:sp>
      <p:sp>
        <p:nvSpPr>
          <p:cNvPr id="5" name="Text 3"/>
          <p:cNvSpPr/>
          <p:nvPr/>
        </p:nvSpPr>
        <p:spPr>
          <a:xfrm>
            <a:off x="658368" y="676656"/>
            <a:ext cx="10872216" cy="566928"/>
          </a:xfrm>
          <a:prstGeom prst="rect">
            <a:avLst/>
          </a:prstGeom>
          <a:noFill/>
          <a:ln/>
        </p:spPr>
        <p:txBody>
          <a:bodyPr wrap="square" lIns="0" tIns="0" rIns="0" bIns="0" rtlCol="0" anchor="t"/>
          <a:lstStyle/>
          <a:p>
            <a:pPr marL="0" indent="0">
              <a:buNone/>
            </a:pPr>
            <a:r>
              <a:rPr lang="en-US" sz="3000" b="1" dirty="0">
                <a:solidFill>
                  <a:srgbClr val="0E1C2B"/>
                </a:solidFill>
                <a:latin typeface="Cambria" pitchFamily="34" charset="0"/>
                <a:ea typeface="Cambria" pitchFamily="34" charset="-122"/>
                <a:cs typeface="Cambria" pitchFamily="34" charset="-120"/>
              </a:rPr>
              <a:t>The gap widens exactly where the scene changes</a:t>
            </a:r>
            <a:endParaRPr lang="en-US" sz="3000" dirty="0"/>
          </a:p>
        </p:txBody>
      </p:sp>
      <p:graphicFrame>
        <p:nvGraphicFramePr>
          <p:cNvPr id="6" name="Chart 0"/>
          <p:cNvGraphicFramePr/>
          <p:nvPr/>
        </p:nvGraphicFramePr>
        <p:xfrm>
          <a:off x="566928" y="1463040"/>
          <a:ext cx="731520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8019288" y="1517904"/>
            <a:ext cx="3511296" cy="896112"/>
          </a:xfrm>
          <a:prstGeom prst="roundRect">
            <a:avLst>
              <a:gd name="adj" fmla="val 8163"/>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8" name="Text 5"/>
          <p:cNvSpPr/>
          <p:nvPr/>
        </p:nvSpPr>
        <p:spPr>
          <a:xfrm>
            <a:off x="8266176" y="1618488"/>
            <a:ext cx="2999232" cy="274320"/>
          </a:xfrm>
          <a:prstGeom prst="rect">
            <a:avLst/>
          </a:prstGeom>
          <a:noFill/>
          <a:ln/>
        </p:spPr>
        <p:txBody>
          <a:bodyPr wrap="square" lIns="0" tIns="0" rIns="0" bIns="0" rtlCol="0" anchor="ctr"/>
          <a:lstStyle/>
          <a:p>
            <a:pPr marL="0" indent="0">
              <a:buNone/>
            </a:pPr>
            <a:r>
              <a:rPr lang="en-US" sz="1350" b="1" dirty="0">
                <a:solidFill>
                  <a:srgbClr val="1C7293"/>
                </a:solidFill>
                <a:latin typeface="Calibri" pitchFamily="34" charset="0"/>
                <a:ea typeface="Calibri" pitchFamily="34" charset="-122"/>
                <a:cs typeface="Calibri" pitchFamily="34" charset="-120"/>
              </a:rPr>
              <a:t>Nominal clearing</a:t>
            </a:r>
            <a:endParaRPr lang="en-US" sz="1350" dirty="0"/>
          </a:p>
        </p:txBody>
      </p:sp>
      <p:sp>
        <p:nvSpPr>
          <p:cNvPr id="9" name="Text 6"/>
          <p:cNvSpPr/>
          <p:nvPr/>
        </p:nvSpPr>
        <p:spPr>
          <a:xfrm>
            <a:off x="8266176" y="1901952"/>
            <a:ext cx="2999232" cy="457200"/>
          </a:xfrm>
          <a:prstGeom prst="rect">
            <a:avLst/>
          </a:prstGeom>
          <a:noFill/>
          <a:ln/>
        </p:spPr>
        <p:txBody>
          <a:bodyPr wrap="square" lIns="0" tIns="0" rIns="0" bIns="0" rtlCol="0" anchor="t"/>
          <a:lstStyle/>
          <a:p>
            <a:pPr marL="0" indent="0">
              <a:lnSpc>
                <a:spcPts val="1600"/>
              </a:lnSpc>
              <a:buNone/>
            </a:pPr>
            <a:r>
              <a:rPr lang="en-US" sz="1150" dirty="0">
                <a:solidFill>
                  <a:srgbClr val="5A6B7A"/>
                </a:solidFill>
                <a:latin typeface="Calibri" pitchFamily="34" charset="0"/>
                <a:ea typeface="Calibri" pitchFamily="34" charset="-122"/>
                <a:cs typeface="Calibri" pitchFamily="34" charset="-120"/>
              </a:rPr>
              <a:t>5 / 5 trials completed by the proposed method; the text-only baseline reached 40%.</a:t>
            </a:r>
            <a:endParaRPr lang="en-US" sz="1150" dirty="0"/>
          </a:p>
        </p:txBody>
      </p:sp>
      <p:sp>
        <p:nvSpPr>
          <p:cNvPr id="10" name="Shape 7"/>
          <p:cNvSpPr/>
          <p:nvPr/>
        </p:nvSpPr>
        <p:spPr>
          <a:xfrm>
            <a:off x="8019288" y="2505456"/>
            <a:ext cx="3511296" cy="896112"/>
          </a:xfrm>
          <a:prstGeom prst="roundRect">
            <a:avLst>
              <a:gd name="adj" fmla="val 8163"/>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1" name="Text 8"/>
          <p:cNvSpPr/>
          <p:nvPr/>
        </p:nvSpPr>
        <p:spPr>
          <a:xfrm>
            <a:off x="8266176" y="2606040"/>
            <a:ext cx="2999232" cy="274320"/>
          </a:xfrm>
          <a:prstGeom prst="rect">
            <a:avLst/>
          </a:prstGeom>
          <a:noFill/>
          <a:ln/>
        </p:spPr>
        <p:txBody>
          <a:bodyPr wrap="square" lIns="0" tIns="0" rIns="0" bIns="0" rtlCol="0" anchor="ctr"/>
          <a:lstStyle/>
          <a:p>
            <a:pPr marL="0" indent="0">
              <a:buNone/>
            </a:pPr>
            <a:r>
              <a:rPr lang="en-US" sz="1350" b="1" dirty="0">
                <a:solidFill>
                  <a:srgbClr val="1C7293"/>
                </a:solidFill>
                <a:latin typeface="Calibri" pitchFamily="34" charset="0"/>
                <a:ea typeface="Calibri" pitchFamily="34" charset="-122"/>
                <a:cs typeface="Calibri" pitchFamily="34" charset="-120"/>
              </a:rPr>
              <a:t>Blocked object</a:t>
            </a:r>
            <a:endParaRPr lang="en-US" sz="1350" dirty="0"/>
          </a:p>
        </p:txBody>
      </p:sp>
      <p:sp>
        <p:nvSpPr>
          <p:cNvPr id="12" name="Text 9"/>
          <p:cNvSpPr/>
          <p:nvPr/>
        </p:nvSpPr>
        <p:spPr>
          <a:xfrm>
            <a:off x="8266176" y="2889504"/>
            <a:ext cx="2999232" cy="457200"/>
          </a:xfrm>
          <a:prstGeom prst="rect">
            <a:avLst/>
          </a:prstGeom>
          <a:noFill/>
          <a:ln/>
        </p:spPr>
        <p:txBody>
          <a:bodyPr wrap="square" lIns="0" tIns="0" rIns="0" bIns="0" rtlCol="0" anchor="t"/>
          <a:lstStyle/>
          <a:p>
            <a:pPr marL="0" indent="0">
              <a:lnSpc>
                <a:spcPts val="1600"/>
              </a:lnSpc>
              <a:buNone/>
            </a:pPr>
            <a:r>
              <a:rPr lang="en-US" sz="1150" dirty="0">
                <a:solidFill>
                  <a:srgbClr val="5A6B7A"/>
                </a:solidFill>
                <a:latin typeface="Calibri" pitchFamily="34" charset="0"/>
                <a:ea typeface="Calibri" pitchFamily="34" charset="-122"/>
                <a:cs typeface="Calibri" pitchFamily="34" charset="-120"/>
              </a:rPr>
              <a:t>Support relations tell the planner what must be removed first — 80% vs 40%.</a:t>
            </a:r>
            <a:endParaRPr lang="en-US" sz="1150" dirty="0"/>
          </a:p>
        </p:txBody>
      </p:sp>
      <p:sp>
        <p:nvSpPr>
          <p:cNvPr id="13" name="Shape 10"/>
          <p:cNvSpPr/>
          <p:nvPr/>
        </p:nvSpPr>
        <p:spPr>
          <a:xfrm>
            <a:off x="8019288" y="3493008"/>
            <a:ext cx="3511296" cy="896112"/>
          </a:xfrm>
          <a:prstGeom prst="roundRect">
            <a:avLst>
              <a:gd name="adj" fmla="val 8163"/>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4" name="Text 11"/>
          <p:cNvSpPr/>
          <p:nvPr/>
        </p:nvSpPr>
        <p:spPr>
          <a:xfrm>
            <a:off x="8266176" y="3593592"/>
            <a:ext cx="2999232" cy="274320"/>
          </a:xfrm>
          <a:prstGeom prst="rect">
            <a:avLst/>
          </a:prstGeom>
          <a:noFill/>
          <a:ln/>
        </p:spPr>
        <p:txBody>
          <a:bodyPr wrap="square" lIns="0" tIns="0" rIns="0" bIns="0" rtlCol="0" anchor="ctr"/>
          <a:lstStyle/>
          <a:p>
            <a:pPr marL="0" indent="0">
              <a:buNone/>
            </a:pPr>
            <a:r>
              <a:rPr lang="en-US" sz="1350" b="1" dirty="0">
                <a:solidFill>
                  <a:srgbClr val="1C7293"/>
                </a:solidFill>
                <a:latin typeface="Calibri" pitchFamily="34" charset="0"/>
                <a:ea typeface="Calibri" pitchFamily="34" charset="-122"/>
                <a:cs typeface="Calibri" pitchFamily="34" charset="-120"/>
              </a:rPr>
              <a:t>Grasp failure</a:t>
            </a:r>
            <a:endParaRPr lang="en-US" sz="1350" dirty="0"/>
          </a:p>
        </p:txBody>
      </p:sp>
      <p:sp>
        <p:nvSpPr>
          <p:cNvPr id="15" name="Text 12"/>
          <p:cNvSpPr/>
          <p:nvPr/>
        </p:nvSpPr>
        <p:spPr>
          <a:xfrm>
            <a:off x="8266176" y="3877056"/>
            <a:ext cx="2999232" cy="457200"/>
          </a:xfrm>
          <a:prstGeom prst="rect">
            <a:avLst/>
          </a:prstGeom>
          <a:noFill/>
          <a:ln/>
        </p:spPr>
        <p:txBody>
          <a:bodyPr wrap="square" lIns="0" tIns="0" rIns="0" bIns="0" rtlCol="0" anchor="t"/>
          <a:lstStyle/>
          <a:p>
            <a:pPr marL="0" indent="0">
              <a:lnSpc>
                <a:spcPts val="1600"/>
              </a:lnSpc>
              <a:buNone/>
            </a:pPr>
            <a:r>
              <a:rPr lang="en-US" sz="1150" dirty="0">
                <a:solidFill>
                  <a:srgbClr val="5A6B7A"/>
                </a:solidFill>
                <a:latin typeface="Calibri" pitchFamily="34" charset="0"/>
                <a:ea typeface="Calibri" pitchFamily="34" charset="-122"/>
                <a:cs typeface="Calibri" pitchFamily="34" charset="-120"/>
              </a:rPr>
              <a:t>Reconstructing the state after a failed grasp recovers the task — 80% vs 20%.</a:t>
            </a:r>
            <a:endParaRPr lang="en-US" sz="1150" dirty="0"/>
          </a:p>
        </p:txBody>
      </p:sp>
      <p:sp>
        <p:nvSpPr>
          <p:cNvPr id="16" name="Shape 13"/>
          <p:cNvSpPr/>
          <p:nvPr/>
        </p:nvSpPr>
        <p:spPr>
          <a:xfrm>
            <a:off x="8019288" y="4480560"/>
            <a:ext cx="3511296" cy="896112"/>
          </a:xfrm>
          <a:prstGeom prst="roundRect">
            <a:avLst>
              <a:gd name="adj" fmla="val 8163"/>
            </a:avLst>
          </a:prstGeom>
          <a:solidFill>
            <a:srgbClr val="FCEEDD"/>
          </a:solidFill>
          <a:ln w="12700">
            <a:solidFill>
              <a:srgbClr val="FCEEDD"/>
            </a:solidFill>
            <a:prstDash val="solid"/>
          </a:ln>
          <a:effectLst>
            <a:outerShdw blurRad="127000" dist="25400" dir="5400000" algn="bl" rotWithShape="0">
              <a:srgbClr val="0E1C2B">
                <a:alpha val="10000"/>
              </a:srgbClr>
            </a:outerShdw>
          </a:effectLst>
        </p:spPr>
      </p:sp>
      <p:sp>
        <p:nvSpPr>
          <p:cNvPr id="17" name="Text 14"/>
          <p:cNvSpPr/>
          <p:nvPr/>
        </p:nvSpPr>
        <p:spPr>
          <a:xfrm>
            <a:off x="8266176" y="4581144"/>
            <a:ext cx="2999232" cy="274320"/>
          </a:xfrm>
          <a:prstGeom prst="rect">
            <a:avLst/>
          </a:prstGeom>
          <a:noFill/>
          <a:ln/>
        </p:spPr>
        <p:txBody>
          <a:bodyPr wrap="square" lIns="0" tIns="0" rIns="0" bIns="0" rtlCol="0" anchor="ctr"/>
          <a:lstStyle/>
          <a:p>
            <a:pPr marL="0" indent="0">
              <a:buNone/>
            </a:pPr>
            <a:r>
              <a:rPr lang="en-US" sz="1350" b="1" dirty="0">
                <a:solidFill>
                  <a:srgbClr val="B26A1E"/>
                </a:solidFill>
                <a:latin typeface="Calibri" pitchFamily="34" charset="0"/>
                <a:ea typeface="Calibri" pitchFamily="34" charset="-122"/>
                <a:cs typeface="Calibri" pitchFamily="34" charset="-120"/>
              </a:rPr>
              <a:t>Object moved</a:t>
            </a:r>
            <a:endParaRPr lang="en-US" sz="1350" dirty="0"/>
          </a:p>
        </p:txBody>
      </p:sp>
      <p:sp>
        <p:nvSpPr>
          <p:cNvPr id="18" name="Text 15"/>
          <p:cNvSpPr/>
          <p:nvPr/>
        </p:nvSpPr>
        <p:spPr>
          <a:xfrm>
            <a:off x="8266176" y="4864608"/>
            <a:ext cx="2999232" cy="457200"/>
          </a:xfrm>
          <a:prstGeom prst="rect">
            <a:avLst/>
          </a:prstGeom>
          <a:noFill/>
          <a:ln/>
        </p:spPr>
        <p:txBody>
          <a:bodyPr wrap="square" lIns="0" tIns="0" rIns="0" bIns="0" rtlCol="0" anchor="t"/>
          <a:lstStyle/>
          <a:p>
            <a:pPr marL="0" indent="0">
              <a:lnSpc>
                <a:spcPts val="1600"/>
              </a:lnSpc>
              <a:buNone/>
            </a:pPr>
            <a:r>
              <a:rPr lang="en-US" sz="1150" dirty="0">
                <a:solidFill>
                  <a:srgbClr val="5A6B7A"/>
                </a:solidFill>
                <a:latin typeface="Calibri" pitchFamily="34" charset="0"/>
                <a:ea typeface="Calibri" pitchFamily="34" charset="-122"/>
                <a:cs typeface="Calibri" pitchFamily="34" charset="-120"/>
              </a:rPr>
              <a:t>Hardest case: the planner must reinterpret a scene that changed spatially — 60% vs 20%.</a:t>
            </a:r>
            <a:endParaRPr lang="en-US" sz="1150" dirty="0"/>
          </a:p>
        </p:txBody>
      </p:sp>
      <p:sp>
        <p:nvSpPr>
          <p:cNvPr id="19" name="Text 16"/>
          <p:cNvSpPr/>
          <p:nvPr/>
        </p:nvSpPr>
        <p:spPr>
          <a:xfrm>
            <a:off x="658368" y="5285232"/>
            <a:ext cx="10872216" cy="310896"/>
          </a:xfrm>
          <a:prstGeom prst="rect">
            <a:avLst/>
          </a:prstGeom>
          <a:noFill/>
          <a:ln/>
        </p:spPr>
        <p:txBody>
          <a:bodyPr wrap="square" lIns="0" tIns="0" rIns="0" bIns="0" rtlCol="0" anchor="ctr"/>
          <a:lstStyle/>
          <a:p>
            <a:pPr marL="0" indent="0">
              <a:buNone/>
            </a:pPr>
            <a:r>
              <a:rPr lang="en-US" sz="1200" i="1" dirty="0">
                <a:solidFill>
                  <a:srgbClr val="5A6B7A"/>
                </a:solidFill>
                <a:latin typeface="Calibri" pitchFamily="34" charset="0"/>
                <a:ea typeface="Calibri" pitchFamily="34" charset="-122"/>
                <a:cs typeface="Calibri" pitchFamily="34" charset="-120"/>
              </a:rPr>
              <a:t>Five trials per scenario, per method (Table IV).</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58368" y="6382512"/>
            <a:ext cx="68580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Ontology-Grounded LLM Planning  ·  IEEE RO-MAN 2026</a:t>
            </a:r>
            <a:endParaRPr lang="en-US" sz="950" dirty="0"/>
          </a:p>
        </p:txBody>
      </p:sp>
      <p:sp>
        <p:nvSpPr>
          <p:cNvPr id="3" name="Text 1"/>
          <p:cNvSpPr/>
          <p:nvPr/>
        </p:nvSpPr>
        <p:spPr>
          <a:xfrm>
            <a:off x="10433304" y="6382512"/>
            <a:ext cx="109728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14</a:t>
            </a:r>
            <a:endParaRPr lang="en-US" sz="950" dirty="0"/>
          </a:p>
        </p:txBody>
      </p:sp>
      <p:sp>
        <p:nvSpPr>
          <p:cNvPr id="4" name="Text 2"/>
          <p:cNvSpPr/>
          <p:nvPr/>
        </p:nvSpPr>
        <p:spPr>
          <a:xfrm>
            <a:off x="658368" y="384048"/>
            <a:ext cx="10872216" cy="237744"/>
          </a:xfrm>
          <a:prstGeom prst="rect">
            <a:avLst/>
          </a:prstGeom>
          <a:noFill/>
          <a:ln/>
        </p:spPr>
        <p:txBody>
          <a:bodyPr wrap="square" lIns="0" tIns="0" rIns="0" bIns="0" rtlCol="0" anchor="ctr"/>
          <a:lstStyle/>
          <a:p>
            <a:pPr marL="0" indent="0">
              <a:buNone/>
            </a:pPr>
            <a:r>
              <a:rPr lang="en-US" sz="1050" b="1" kern="0" spc="200" dirty="0">
                <a:solidFill>
                  <a:srgbClr val="F2A65A"/>
                </a:solidFill>
                <a:latin typeface="Calibri" pitchFamily="34" charset="0"/>
                <a:ea typeface="Calibri" pitchFamily="34" charset="-122"/>
                <a:cs typeface="Calibri" pitchFamily="34" charset="-120"/>
              </a:rPr>
              <a:t>DISCUSSION</a:t>
            </a:r>
            <a:endParaRPr lang="en-US" sz="1050" dirty="0"/>
          </a:p>
        </p:txBody>
      </p:sp>
      <p:sp>
        <p:nvSpPr>
          <p:cNvPr id="5" name="Text 3"/>
          <p:cNvSpPr/>
          <p:nvPr/>
        </p:nvSpPr>
        <p:spPr>
          <a:xfrm>
            <a:off x="658368" y="676656"/>
            <a:ext cx="10872216" cy="566928"/>
          </a:xfrm>
          <a:prstGeom prst="rect">
            <a:avLst/>
          </a:prstGeom>
          <a:noFill/>
          <a:ln/>
        </p:spPr>
        <p:txBody>
          <a:bodyPr wrap="square" lIns="0" tIns="0" rIns="0" bIns="0" rtlCol="0" anchor="t"/>
          <a:lstStyle/>
          <a:p>
            <a:pPr marL="0" indent="0">
              <a:buNone/>
            </a:pPr>
            <a:r>
              <a:rPr lang="en-US" sz="3000" b="1" dirty="0">
                <a:solidFill>
                  <a:srgbClr val="0E1C2B"/>
                </a:solidFill>
                <a:latin typeface="Cambria" pitchFamily="34" charset="0"/>
                <a:ea typeface="Cambria" pitchFamily="34" charset="-122"/>
                <a:cs typeface="Cambria" pitchFamily="34" charset="-120"/>
              </a:rPr>
              <a:t>What this shows — and what it does not</a:t>
            </a:r>
            <a:endParaRPr lang="en-US" sz="3000" dirty="0"/>
          </a:p>
        </p:txBody>
      </p:sp>
      <p:sp>
        <p:nvSpPr>
          <p:cNvPr id="6" name="Text 4"/>
          <p:cNvSpPr/>
          <p:nvPr/>
        </p:nvSpPr>
        <p:spPr>
          <a:xfrm>
            <a:off x="658368" y="1481328"/>
            <a:ext cx="5532120" cy="310896"/>
          </a:xfrm>
          <a:prstGeom prst="rect">
            <a:avLst/>
          </a:prstGeom>
          <a:noFill/>
          <a:ln/>
        </p:spPr>
        <p:txBody>
          <a:bodyPr wrap="square" lIns="0" tIns="0" rIns="0" bIns="0" rtlCol="0" anchor="ctr"/>
          <a:lstStyle/>
          <a:p>
            <a:pPr marL="0" indent="0">
              <a:buNone/>
            </a:pPr>
            <a:r>
              <a:rPr lang="en-US" sz="1200" b="1" kern="0" spc="130" dirty="0">
                <a:solidFill>
                  <a:srgbClr val="1C7293"/>
                </a:solidFill>
                <a:latin typeface="Calibri" pitchFamily="34" charset="0"/>
                <a:ea typeface="Calibri" pitchFamily="34" charset="-122"/>
                <a:cs typeface="Calibri" pitchFamily="34" charset="-120"/>
              </a:rPr>
              <a:t>What the results support</a:t>
            </a:r>
            <a:endParaRPr lang="en-US" sz="1200" dirty="0"/>
          </a:p>
        </p:txBody>
      </p:sp>
      <p:sp>
        <p:nvSpPr>
          <p:cNvPr id="7" name="Shape 5"/>
          <p:cNvSpPr/>
          <p:nvPr/>
        </p:nvSpPr>
        <p:spPr>
          <a:xfrm>
            <a:off x="658368" y="1847088"/>
            <a:ext cx="5532120" cy="1700784"/>
          </a:xfrm>
          <a:prstGeom prst="roundRect">
            <a:avLst>
              <a:gd name="adj" fmla="val 4301"/>
            </a:avLst>
          </a:prstGeom>
          <a:solidFill>
            <a:srgbClr val="E3EEF3"/>
          </a:solidFill>
          <a:ln w="12700">
            <a:solidFill>
              <a:srgbClr val="E3EEF3"/>
            </a:solidFill>
            <a:prstDash val="solid"/>
          </a:ln>
          <a:effectLst>
            <a:outerShdw blurRad="127000" dist="25400" dir="5400000" algn="bl" rotWithShape="0">
              <a:srgbClr val="0E1C2B">
                <a:alpha val="10000"/>
              </a:srgbClr>
            </a:outerShdw>
          </a:effectLst>
        </p:spPr>
      </p:sp>
      <p:sp>
        <p:nvSpPr>
          <p:cNvPr id="8" name="Text 6"/>
          <p:cNvSpPr/>
          <p:nvPr/>
        </p:nvSpPr>
        <p:spPr>
          <a:xfrm>
            <a:off x="950976" y="2066544"/>
            <a:ext cx="4983480" cy="329184"/>
          </a:xfrm>
          <a:prstGeom prst="rect">
            <a:avLst/>
          </a:prstGeom>
          <a:noFill/>
          <a:ln/>
        </p:spPr>
        <p:txBody>
          <a:bodyPr wrap="square" lIns="0" tIns="0" rIns="0" bIns="0" rtlCol="0" anchor="ctr"/>
          <a:lstStyle/>
          <a:p>
            <a:pPr marL="0" indent="0">
              <a:buNone/>
            </a:pPr>
            <a:r>
              <a:rPr lang="en-US" sz="1500" b="1" dirty="0">
                <a:solidFill>
                  <a:srgbClr val="0E1C2B"/>
                </a:solidFill>
                <a:latin typeface="Calibri" pitchFamily="34" charset="0"/>
                <a:ea typeface="Calibri" pitchFamily="34" charset="-122"/>
                <a:cs typeface="Calibri" pitchFamily="34" charset="-120"/>
              </a:rPr>
              <a:t>Tight coupling is what matters</a:t>
            </a:r>
            <a:endParaRPr lang="en-US" sz="1500" dirty="0"/>
          </a:p>
        </p:txBody>
      </p:sp>
      <p:sp>
        <p:nvSpPr>
          <p:cNvPr id="9" name="Text 7"/>
          <p:cNvSpPr/>
          <p:nvPr/>
        </p:nvSpPr>
        <p:spPr>
          <a:xfrm>
            <a:off x="950976" y="2468880"/>
            <a:ext cx="4983480" cy="859536"/>
          </a:xfrm>
          <a:prstGeom prst="rect">
            <a:avLst/>
          </a:prstGeom>
          <a:noFill/>
          <a:ln/>
        </p:spPr>
        <p:txBody>
          <a:bodyPr wrap="square" lIns="0" tIns="0" rIns="0" bIns="0" rtlCol="0" anchor="t"/>
          <a:lstStyle/>
          <a:p>
            <a:pPr marL="0" indent="0">
              <a:lnSpc>
                <a:spcPts val="1900"/>
              </a:lnSpc>
              <a:buNone/>
            </a:pPr>
            <a:r>
              <a:rPr lang="en-US" sz="1300" dirty="0">
                <a:solidFill>
                  <a:srgbClr val="5A6B7A"/>
                </a:solidFill>
                <a:latin typeface="Calibri" pitchFamily="34" charset="0"/>
                <a:ea typeface="Calibri" pitchFamily="34" charset="-122"/>
                <a:cs typeface="Calibri" pitchFamily="34" charset="-120"/>
              </a:rPr>
              <a:t>Keeping the planner tied to a world model that is updated during execution improves both initial plan consistency and recovery.</a:t>
            </a:r>
            <a:endParaRPr lang="en-US" sz="1300" dirty="0"/>
          </a:p>
        </p:txBody>
      </p:sp>
      <p:sp>
        <p:nvSpPr>
          <p:cNvPr id="10" name="Shape 8"/>
          <p:cNvSpPr/>
          <p:nvPr/>
        </p:nvSpPr>
        <p:spPr>
          <a:xfrm>
            <a:off x="658368" y="3730752"/>
            <a:ext cx="5532120" cy="1700784"/>
          </a:xfrm>
          <a:prstGeom prst="roundRect">
            <a:avLst>
              <a:gd name="adj" fmla="val 4301"/>
            </a:avLst>
          </a:prstGeom>
          <a:solidFill>
            <a:srgbClr val="E3EEF3"/>
          </a:solidFill>
          <a:ln w="12700">
            <a:solidFill>
              <a:srgbClr val="E3EEF3"/>
            </a:solidFill>
            <a:prstDash val="solid"/>
          </a:ln>
          <a:effectLst>
            <a:outerShdw blurRad="127000" dist="25400" dir="5400000" algn="bl" rotWithShape="0">
              <a:srgbClr val="0E1C2B">
                <a:alpha val="10000"/>
              </a:srgbClr>
            </a:outerShdw>
          </a:effectLst>
        </p:spPr>
      </p:sp>
      <p:sp>
        <p:nvSpPr>
          <p:cNvPr id="11" name="Text 9"/>
          <p:cNvSpPr/>
          <p:nvPr/>
        </p:nvSpPr>
        <p:spPr>
          <a:xfrm>
            <a:off x="950976" y="3950208"/>
            <a:ext cx="4983480" cy="329184"/>
          </a:xfrm>
          <a:prstGeom prst="rect">
            <a:avLst/>
          </a:prstGeom>
          <a:noFill/>
          <a:ln/>
        </p:spPr>
        <p:txBody>
          <a:bodyPr wrap="square" lIns="0" tIns="0" rIns="0" bIns="0" rtlCol="0" anchor="ctr"/>
          <a:lstStyle/>
          <a:p>
            <a:pPr marL="0" indent="0">
              <a:buNone/>
            </a:pPr>
            <a:r>
              <a:rPr lang="en-US" sz="1500" b="1" dirty="0">
                <a:solidFill>
                  <a:srgbClr val="0E1C2B"/>
                </a:solidFill>
                <a:latin typeface="Calibri" pitchFamily="34" charset="0"/>
                <a:ea typeface="Calibri" pitchFamily="34" charset="-122"/>
                <a:cs typeface="Calibri" pitchFamily="34" charset="-120"/>
              </a:rPr>
              <a:t>Recovery without extra prompting</a:t>
            </a:r>
            <a:endParaRPr lang="en-US" sz="1500" dirty="0"/>
          </a:p>
        </p:txBody>
      </p:sp>
      <p:sp>
        <p:nvSpPr>
          <p:cNvPr id="12" name="Text 10"/>
          <p:cNvSpPr/>
          <p:nvPr/>
        </p:nvSpPr>
        <p:spPr>
          <a:xfrm>
            <a:off x="950976" y="4352544"/>
            <a:ext cx="4983480" cy="859536"/>
          </a:xfrm>
          <a:prstGeom prst="rect">
            <a:avLst/>
          </a:prstGeom>
          <a:noFill/>
          <a:ln/>
        </p:spPr>
        <p:txBody>
          <a:bodyPr wrap="square" lIns="0" tIns="0" rIns="0" bIns="0" rtlCol="0" anchor="t"/>
          <a:lstStyle/>
          <a:p>
            <a:pPr marL="0" indent="0">
              <a:lnSpc>
                <a:spcPts val="1900"/>
              </a:lnSpc>
              <a:buNone/>
            </a:pPr>
            <a:r>
              <a:rPr lang="en-US" sz="1300" dirty="0">
                <a:solidFill>
                  <a:srgbClr val="5A6B7A"/>
                </a:solidFill>
                <a:latin typeface="Calibri" pitchFamily="34" charset="0"/>
                <a:ea typeface="Calibri" pitchFamily="34" charset="-122"/>
                <a:cs typeface="Calibri" pitchFamily="34" charset="-120"/>
              </a:rPr>
              <a:t>Replanning is driven by state reconstruction from ontology and simulator, not by telling the LLM that something went wrong.</a:t>
            </a:r>
            <a:endParaRPr lang="en-US" sz="1300" dirty="0"/>
          </a:p>
        </p:txBody>
      </p:sp>
      <p:sp>
        <p:nvSpPr>
          <p:cNvPr id="13" name="Text 11"/>
          <p:cNvSpPr/>
          <p:nvPr/>
        </p:nvSpPr>
        <p:spPr>
          <a:xfrm>
            <a:off x="6510528" y="1481328"/>
            <a:ext cx="5029200" cy="310896"/>
          </a:xfrm>
          <a:prstGeom prst="rect">
            <a:avLst/>
          </a:prstGeom>
          <a:noFill/>
          <a:ln/>
        </p:spPr>
        <p:txBody>
          <a:bodyPr wrap="square" lIns="0" tIns="0" rIns="0" bIns="0" rtlCol="0" anchor="ctr"/>
          <a:lstStyle/>
          <a:p>
            <a:pPr marL="0" indent="0">
              <a:buNone/>
            </a:pPr>
            <a:r>
              <a:rPr lang="en-US" sz="1200" b="1" kern="0" spc="130" dirty="0">
                <a:solidFill>
                  <a:srgbClr val="F2A65A"/>
                </a:solidFill>
                <a:latin typeface="Calibri" pitchFamily="34" charset="0"/>
                <a:ea typeface="Calibri" pitchFamily="34" charset="-122"/>
                <a:cs typeface="Calibri" pitchFamily="34" charset="-120"/>
              </a:rPr>
              <a:t>Limitations we state openly</a:t>
            </a:r>
            <a:endParaRPr lang="en-US" sz="1200" dirty="0"/>
          </a:p>
        </p:txBody>
      </p:sp>
      <p:sp>
        <p:nvSpPr>
          <p:cNvPr id="14" name="Shape 12"/>
          <p:cNvSpPr/>
          <p:nvPr/>
        </p:nvSpPr>
        <p:spPr>
          <a:xfrm>
            <a:off x="6510528" y="1847088"/>
            <a:ext cx="5020056" cy="1188720"/>
          </a:xfrm>
          <a:prstGeom prst="roundRect">
            <a:avLst>
              <a:gd name="adj" fmla="val 6154"/>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5" name="Text 13"/>
          <p:cNvSpPr/>
          <p:nvPr/>
        </p:nvSpPr>
        <p:spPr>
          <a:xfrm>
            <a:off x="6803136" y="2011680"/>
            <a:ext cx="4480560" cy="292608"/>
          </a:xfrm>
          <a:prstGeom prst="rect">
            <a:avLst/>
          </a:prstGeom>
          <a:noFill/>
          <a:ln/>
        </p:spPr>
        <p:txBody>
          <a:bodyPr wrap="square" lIns="0" tIns="0" rIns="0" bIns="0" rtlCol="0" anchor="ctr"/>
          <a:lstStyle/>
          <a:p>
            <a:pPr marL="0" indent="0">
              <a:buNone/>
            </a:pPr>
            <a:r>
              <a:rPr lang="en-US" sz="1450" b="1" dirty="0">
                <a:solidFill>
                  <a:srgbClr val="0E1C2B"/>
                </a:solidFill>
                <a:latin typeface="Calibri" pitchFamily="34" charset="0"/>
                <a:ea typeface="Calibri" pitchFamily="34" charset="-122"/>
                <a:cs typeface="Calibri" pitchFamily="34" charset="-120"/>
              </a:rPr>
              <a:t>Feasibility is still only 44%</a:t>
            </a:r>
            <a:endParaRPr lang="en-US" sz="1450" dirty="0"/>
          </a:p>
        </p:txBody>
      </p:sp>
      <p:sp>
        <p:nvSpPr>
          <p:cNvPr id="16" name="Text 14"/>
          <p:cNvSpPr/>
          <p:nvPr/>
        </p:nvSpPr>
        <p:spPr>
          <a:xfrm>
            <a:off x="6803136" y="2359152"/>
            <a:ext cx="4480560" cy="548640"/>
          </a:xfrm>
          <a:prstGeom prst="rect">
            <a:avLst/>
          </a:prstGeom>
          <a:noFill/>
          <a:ln/>
        </p:spPr>
        <p:txBody>
          <a:bodyPr wrap="square" lIns="0" tIns="0" rIns="0" bIns="0" rtlCol="0" anchor="t"/>
          <a:lstStyle/>
          <a:p>
            <a:pPr marL="0" indent="0">
              <a:lnSpc>
                <a:spcPts val="1800"/>
              </a:lnSpc>
              <a:buNone/>
            </a:pPr>
            <a:r>
              <a:rPr lang="en-US" sz="1250" dirty="0">
                <a:solidFill>
                  <a:srgbClr val="5A6B7A"/>
                </a:solidFill>
                <a:latin typeface="Calibri" pitchFamily="34" charset="0"/>
                <a:ea typeface="Calibri" pitchFamily="34" charset="-122"/>
                <a:cs typeface="Calibri" pitchFamily="34" charset="-120"/>
              </a:rPr>
              <a:t>The framework continues to fail in a considerable number of trials, before or during execution.</a:t>
            </a:r>
            <a:endParaRPr lang="en-US" sz="1250" dirty="0"/>
          </a:p>
        </p:txBody>
      </p:sp>
      <p:sp>
        <p:nvSpPr>
          <p:cNvPr id="17" name="Shape 15"/>
          <p:cNvSpPr/>
          <p:nvPr/>
        </p:nvSpPr>
        <p:spPr>
          <a:xfrm>
            <a:off x="6510528" y="3145536"/>
            <a:ext cx="5020056" cy="1188720"/>
          </a:xfrm>
          <a:prstGeom prst="roundRect">
            <a:avLst>
              <a:gd name="adj" fmla="val 6154"/>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18" name="Text 16"/>
          <p:cNvSpPr/>
          <p:nvPr/>
        </p:nvSpPr>
        <p:spPr>
          <a:xfrm>
            <a:off x="6803136" y="3310128"/>
            <a:ext cx="4480560" cy="292608"/>
          </a:xfrm>
          <a:prstGeom prst="rect">
            <a:avLst/>
          </a:prstGeom>
          <a:noFill/>
          <a:ln/>
        </p:spPr>
        <p:txBody>
          <a:bodyPr wrap="square" lIns="0" tIns="0" rIns="0" bIns="0" rtlCol="0" anchor="ctr"/>
          <a:lstStyle/>
          <a:p>
            <a:pPr marL="0" indent="0">
              <a:buNone/>
            </a:pPr>
            <a:r>
              <a:rPr lang="en-US" sz="1450" b="1" dirty="0">
                <a:solidFill>
                  <a:srgbClr val="0E1C2B"/>
                </a:solidFill>
                <a:latin typeface="Calibri" pitchFamily="34" charset="0"/>
                <a:ea typeface="Calibri" pitchFamily="34" charset="-122"/>
                <a:cs typeface="Calibri" pitchFamily="34" charset="-120"/>
              </a:rPr>
              <a:t>Spatial change remains hardest</a:t>
            </a:r>
            <a:endParaRPr lang="en-US" sz="1450" dirty="0"/>
          </a:p>
        </p:txBody>
      </p:sp>
      <p:sp>
        <p:nvSpPr>
          <p:cNvPr id="19" name="Text 17"/>
          <p:cNvSpPr/>
          <p:nvPr/>
        </p:nvSpPr>
        <p:spPr>
          <a:xfrm>
            <a:off x="6803136" y="3657600"/>
            <a:ext cx="4480560" cy="548640"/>
          </a:xfrm>
          <a:prstGeom prst="rect">
            <a:avLst/>
          </a:prstGeom>
          <a:noFill/>
          <a:ln/>
        </p:spPr>
        <p:txBody>
          <a:bodyPr wrap="square" lIns="0" tIns="0" rIns="0" bIns="0" rtlCol="0" anchor="t"/>
          <a:lstStyle/>
          <a:p>
            <a:pPr marL="0" indent="0">
              <a:lnSpc>
                <a:spcPts val="1800"/>
              </a:lnSpc>
              <a:buNone/>
            </a:pPr>
            <a:r>
              <a:rPr lang="en-US" sz="1250" dirty="0">
                <a:solidFill>
                  <a:srgbClr val="5A6B7A"/>
                </a:solidFill>
                <a:latin typeface="Calibri" pitchFamily="34" charset="0"/>
                <a:ea typeface="Calibri" pitchFamily="34" charset="-122"/>
                <a:cs typeface="Calibri" pitchFamily="34" charset="-120"/>
              </a:rPr>
              <a:t>Object-moved disturbances stay below blocked-object and grasp-failure recovery.</a:t>
            </a:r>
            <a:endParaRPr lang="en-US" sz="1250" dirty="0"/>
          </a:p>
        </p:txBody>
      </p:sp>
      <p:sp>
        <p:nvSpPr>
          <p:cNvPr id="20" name="Shape 18"/>
          <p:cNvSpPr/>
          <p:nvPr/>
        </p:nvSpPr>
        <p:spPr>
          <a:xfrm>
            <a:off x="6510528" y="4443984"/>
            <a:ext cx="5020056" cy="1188720"/>
          </a:xfrm>
          <a:prstGeom prst="roundRect">
            <a:avLst>
              <a:gd name="adj" fmla="val 6154"/>
            </a:avLst>
          </a:prstGeom>
          <a:solidFill>
            <a:srgbClr val="F2F5F7"/>
          </a:solidFill>
          <a:ln w="12700">
            <a:solidFill>
              <a:srgbClr val="F2F5F7"/>
            </a:solidFill>
            <a:prstDash val="solid"/>
          </a:ln>
          <a:effectLst>
            <a:outerShdw blurRad="127000" dist="25400" dir="5400000" algn="bl" rotWithShape="0">
              <a:srgbClr val="0E1C2B">
                <a:alpha val="10000"/>
              </a:srgbClr>
            </a:outerShdw>
          </a:effectLst>
        </p:spPr>
      </p:sp>
      <p:sp>
        <p:nvSpPr>
          <p:cNvPr id="21" name="Text 19"/>
          <p:cNvSpPr/>
          <p:nvPr/>
        </p:nvSpPr>
        <p:spPr>
          <a:xfrm>
            <a:off x="6803136" y="4608576"/>
            <a:ext cx="4480560" cy="292608"/>
          </a:xfrm>
          <a:prstGeom prst="rect">
            <a:avLst/>
          </a:prstGeom>
          <a:noFill/>
          <a:ln/>
        </p:spPr>
        <p:txBody>
          <a:bodyPr wrap="square" lIns="0" tIns="0" rIns="0" bIns="0" rtlCol="0" anchor="ctr"/>
          <a:lstStyle/>
          <a:p>
            <a:pPr marL="0" indent="0">
              <a:buNone/>
            </a:pPr>
            <a:r>
              <a:rPr lang="en-US" sz="1450" b="1" dirty="0">
                <a:solidFill>
                  <a:srgbClr val="0E1C2B"/>
                </a:solidFill>
                <a:latin typeface="Calibri" pitchFamily="34" charset="0"/>
                <a:ea typeface="Calibri" pitchFamily="34" charset="-122"/>
                <a:cs typeface="Calibri" pitchFamily="34" charset="-120"/>
              </a:rPr>
              <a:t>Narrow evaluation scope</a:t>
            </a:r>
            <a:endParaRPr lang="en-US" sz="1450" dirty="0"/>
          </a:p>
        </p:txBody>
      </p:sp>
      <p:sp>
        <p:nvSpPr>
          <p:cNvPr id="22" name="Text 20"/>
          <p:cNvSpPr/>
          <p:nvPr/>
        </p:nvSpPr>
        <p:spPr>
          <a:xfrm>
            <a:off x="6803136" y="4956048"/>
            <a:ext cx="4480560" cy="548640"/>
          </a:xfrm>
          <a:prstGeom prst="rect">
            <a:avLst/>
          </a:prstGeom>
          <a:noFill/>
          <a:ln/>
        </p:spPr>
        <p:txBody>
          <a:bodyPr wrap="square" lIns="0" tIns="0" rIns="0" bIns="0" rtlCol="0" anchor="t"/>
          <a:lstStyle/>
          <a:p>
            <a:pPr marL="0" indent="0">
              <a:lnSpc>
                <a:spcPts val="1800"/>
              </a:lnSpc>
              <a:buNone/>
            </a:pPr>
            <a:r>
              <a:rPr lang="en-US" sz="1250" dirty="0">
                <a:solidFill>
                  <a:srgbClr val="5A6B7A"/>
                </a:solidFill>
                <a:latin typeface="Calibri" pitchFamily="34" charset="0"/>
                <a:ea typeface="Calibri" pitchFamily="34" charset="-122"/>
                <a:cs typeface="Calibri" pitchFamily="34" charset="-120"/>
              </a:rPr>
              <a:t>One household task family; ambiguous instructions and mid-task correction are not systematically evaluated.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C2B"/>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937760" cy="4937760"/>
          </a:xfrm>
          <a:prstGeom prst="ellipse">
            <a:avLst/>
          </a:prstGeom>
          <a:solidFill>
            <a:srgbClr val="1C7293">
              <a:alpha val="20000"/>
            </a:srgbClr>
          </a:solidFill>
          <a:ln w="12700">
            <a:solidFill>
              <a:srgbClr val="1C7293">
                <a:alpha val="0"/>
              </a:srgbClr>
            </a:solidFill>
            <a:prstDash val="solid"/>
          </a:ln>
        </p:spPr>
      </p:sp>
      <p:sp>
        <p:nvSpPr>
          <p:cNvPr id="3" name="Text 1"/>
          <p:cNvSpPr/>
          <p:nvPr/>
        </p:nvSpPr>
        <p:spPr>
          <a:xfrm>
            <a:off x="658368" y="786384"/>
            <a:ext cx="10872216" cy="274320"/>
          </a:xfrm>
          <a:prstGeom prst="rect">
            <a:avLst/>
          </a:prstGeom>
          <a:noFill/>
          <a:ln/>
        </p:spPr>
        <p:txBody>
          <a:bodyPr wrap="square" lIns="0" tIns="0" rIns="0" bIns="0" rtlCol="0" anchor="ctr"/>
          <a:lstStyle/>
          <a:p>
            <a:pPr marL="0" indent="0">
              <a:buNone/>
            </a:pPr>
            <a:r>
              <a:rPr lang="en-US" sz="1150" b="1" kern="0" spc="220" dirty="0">
                <a:solidFill>
                  <a:srgbClr val="F2A65A"/>
                </a:solidFill>
                <a:latin typeface="Calibri" pitchFamily="34" charset="0"/>
                <a:ea typeface="Calibri" pitchFamily="34" charset="-122"/>
                <a:cs typeface="Calibri" pitchFamily="34" charset="-120"/>
              </a:rPr>
              <a:t>CONCLUSION</a:t>
            </a:r>
            <a:endParaRPr lang="en-US" sz="1150" dirty="0"/>
          </a:p>
        </p:txBody>
      </p:sp>
      <p:sp>
        <p:nvSpPr>
          <p:cNvPr id="4" name="Text 2"/>
          <p:cNvSpPr/>
          <p:nvPr/>
        </p:nvSpPr>
        <p:spPr>
          <a:xfrm>
            <a:off x="658368" y="1188720"/>
            <a:ext cx="9692640" cy="1371600"/>
          </a:xfrm>
          <a:prstGeom prst="rect">
            <a:avLst/>
          </a:prstGeom>
          <a:noFill/>
          <a:ln/>
        </p:spPr>
        <p:txBody>
          <a:bodyPr wrap="square" lIns="0" tIns="0" rIns="0" bIns="0" rtlCol="0" anchor="t"/>
          <a:lstStyle/>
          <a:p>
            <a:pPr marL="0" indent="0">
              <a:lnSpc>
                <a:spcPts val="3800"/>
              </a:lnSpc>
              <a:buNone/>
            </a:pPr>
            <a:r>
              <a:rPr lang="en-US" sz="2700" b="1" dirty="0">
                <a:solidFill>
                  <a:srgbClr val="FFFFFF"/>
                </a:solidFill>
                <a:latin typeface="Cambria" pitchFamily="34" charset="0"/>
                <a:ea typeface="Cambria" pitchFamily="34" charset="-122"/>
                <a:cs typeface="Cambria" pitchFamily="34" charset="-120"/>
              </a:rPr>
              <a:t>The reliability of LLM-based task planning depends on how tightly planning is connected to world-state representation and execution feedback.</a:t>
            </a:r>
            <a:endParaRPr lang="en-US" sz="2700" dirty="0"/>
          </a:p>
        </p:txBody>
      </p:sp>
      <p:sp>
        <p:nvSpPr>
          <p:cNvPr id="5" name="Shape 3"/>
          <p:cNvSpPr/>
          <p:nvPr/>
        </p:nvSpPr>
        <p:spPr>
          <a:xfrm>
            <a:off x="658368" y="2889504"/>
            <a:ext cx="3441192" cy="1481328"/>
          </a:xfrm>
          <a:prstGeom prst="roundRect">
            <a:avLst>
              <a:gd name="adj" fmla="val 4938"/>
            </a:avLst>
          </a:prstGeom>
          <a:solidFill>
            <a:srgbClr val="1B3348"/>
          </a:solidFill>
          <a:ln w="12700">
            <a:solidFill>
              <a:srgbClr val="1B3348"/>
            </a:solidFill>
            <a:prstDash val="solid"/>
          </a:ln>
        </p:spPr>
      </p:sp>
      <p:sp>
        <p:nvSpPr>
          <p:cNvPr id="6" name="Text 4"/>
          <p:cNvSpPr/>
          <p:nvPr/>
        </p:nvSpPr>
        <p:spPr>
          <a:xfrm>
            <a:off x="932688" y="3054096"/>
            <a:ext cx="2892552" cy="512064"/>
          </a:xfrm>
          <a:prstGeom prst="rect">
            <a:avLst/>
          </a:prstGeom>
          <a:noFill/>
          <a:ln/>
        </p:spPr>
        <p:txBody>
          <a:bodyPr wrap="square" lIns="0" tIns="0" rIns="0" bIns="0" rtlCol="0" anchor="t"/>
          <a:lstStyle/>
          <a:p>
            <a:pPr marL="0" indent="0">
              <a:buNone/>
            </a:pPr>
            <a:r>
              <a:rPr lang="en-US" sz="1500" b="1" dirty="0">
                <a:solidFill>
                  <a:srgbClr val="F2A65A"/>
                </a:solidFill>
                <a:latin typeface="Calibri" pitchFamily="34" charset="0"/>
                <a:ea typeface="Calibri" pitchFamily="34" charset="-122"/>
                <a:cs typeface="Calibri" pitchFamily="34" charset="-120"/>
              </a:rPr>
              <a:t>Plans from a grounded scene</a:t>
            </a:r>
            <a:endParaRPr lang="en-US" sz="1500" dirty="0"/>
          </a:p>
        </p:txBody>
      </p:sp>
      <p:sp>
        <p:nvSpPr>
          <p:cNvPr id="7" name="Text 5"/>
          <p:cNvSpPr/>
          <p:nvPr/>
        </p:nvSpPr>
        <p:spPr>
          <a:xfrm>
            <a:off x="932688" y="3566160"/>
            <a:ext cx="2892552" cy="676656"/>
          </a:xfrm>
          <a:prstGeom prst="rect">
            <a:avLst/>
          </a:prstGeom>
          <a:noFill/>
          <a:ln/>
        </p:spPr>
        <p:txBody>
          <a:bodyPr wrap="square" lIns="0" tIns="0" rIns="0" bIns="0" rtlCol="0" anchor="ctr"/>
          <a:lstStyle/>
          <a:p>
            <a:pPr marL="0" indent="0">
              <a:lnSpc>
                <a:spcPts val="1800"/>
              </a:lnSpc>
              <a:buNone/>
            </a:pPr>
            <a:r>
              <a:rPr lang="en-US" sz="1250" dirty="0">
                <a:solidFill>
                  <a:srgbClr val="CFE0E9"/>
                </a:solidFill>
                <a:latin typeface="Calibri" pitchFamily="34" charset="0"/>
                <a:ea typeface="Calibri" pitchFamily="34" charset="-122"/>
                <a:cs typeface="Calibri" pitchFamily="34" charset="-120"/>
              </a:rPr>
              <a:t>Not from free text: ontology semantics merged with simulator geometry.</a:t>
            </a:r>
            <a:endParaRPr lang="en-US" sz="1250" dirty="0"/>
          </a:p>
        </p:txBody>
      </p:sp>
      <p:sp>
        <p:nvSpPr>
          <p:cNvPr id="8" name="Shape 6"/>
          <p:cNvSpPr/>
          <p:nvPr/>
        </p:nvSpPr>
        <p:spPr>
          <a:xfrm>
            <a:off x="4373880" y="2889504"/>
            <a:ext cx="3441192" cy="1481328"/>
          </a:xfrm>
          <a:prstGeom prst="roundRect">
            <a:avLst>
              <a:gd name="adj" fmla="val 4938"/>
            </a:avLst>
          </a:prstGeom>
          <a:solidFill>
            <a:srgbClr val="1B3348"/>
          </a:solidFill>
          <a:ln w="12700">
            <a:solidFill>
              <a:srgbClr val="1B3348"/>
            </a:solidFill>
            <a:prstDash val="solid"/>
          </a:ln>
        </p:spPr>
      </p:sp>
      <p:sp>
        <p:nvSpPr>
          <p:cNvPr id="9" name="Text 7"/>
          <p:cNvSpPr/>
          <p:nvPr/>
        </p:nvSpPr>
        <p:spPr>
          <a:xfrm>
            <a:off x="4648200" y="3054096"/>
            <a:ext cx="2892552" cy="512064"/>
          </a:xfrm>
          <a:prstGeom prst="rect">
            <a:avLst/>
          </a:prstGeom>
          <a:noFill/>
          <a:ln/>
        </p:spPr>
        <p:txBody>
          <a:bodyPr wrap="square" lIns="0" tIns="0" rIns="0" bIns="0" rtlCol="0" anchor="t"/>
          <a:lstStyle/>
          <a:p>
            <a:pPr marL="0" indent="0">
              <a:buNone/>
            </a:pPr>
            <a:r>
              <a:rPr lang="en-US" sz="1500" b="1" dirty="0">
                <a:solidFill>
                  <a:srgbClr val="F2A65A"/>
                </a:solidFill>
                <a:latin typeface="Calibri" pitchFamily="34" charset="0"/>
                <a:ea typeface="Calibri" pitchFamily="34" charset="-122"/>
                <a:cs typeface="Calibri" pitchFamily="34" charset="-120"/>
              </a:rPr>
              <a:t>Validated before execution</a:t>
            </a:r>
            <a:endParaRPr lang="en-US" sz="1500" dirty="0"/>
          </a:p>
        </p:txBody>
      </p:sp>
      <p:sp>
        <p:nvSpPr>
          <p:cNvPr id="10" name="Text 8"/>
          <p:cNvSpPr/>
          <p:nvPr/>
        </p:nvSpPr>
        <p:spPr>
          <a:xfrm>
            <a:off x="4648200" y="3566160"/>
            <a:ext cx="2892552" cy="676656"/>
          </a:xfrm>
          <a:prstGeom prst="rect">
            <a:avLst/>
          </a:prstGeom>
          <a:noFill/>
          <a:ln/>
        </p:spPr>
        <p:txBody>
          <a:bodyPr wrap="square" lIns="0" tIns="0" rIns="0" bIns="0" rtlCol="0" anchor="ctr"/>
          <a:lstStyle/>
          <a:p>
            <a:pPr marL="0" indent="0">
              <a:lnSpc>
                <a:spcPts val="1800"/>
              </a:lnSpc>
              <a:buNone/>
            </a:pPr>
            <a:r>
              <a:rPr lang="en-US" sz="1250" dirty="0">
                <a:solidFill>
                  <a:srgbClr val="CFE0E9"/>
                </a:solidFill>
                <a:latin typeface="Calibri" pitchFamily="34" charset="0"/>
                <a:ea typeface="Calibri" pitchFamily="34" charset="-122"/>
                <a:cs typeface="Calibri" pitchFamily="34" charset="-120"/>
              </a:rPr>
              <a:t>Symbolic checks and bounded repair keep infeasible plans off the robot.</a:t>
            </a:r>
            <a:endParaRPr lang="en-US" sz="1250" dirty="0"/>
          </a:p>
        </p:txBody>
      </p:sp>
      <p:sp>
        <p:nvSpPr>
          <p:cNvPr id="11" name="Shape 9"/>
          <p:cNvSpPr/>
          <p:nvPr/>
        </p:nvSpPr>
        <p:spPr>
          <a:xfrm>
            <a:off x="8089392" y="2889504"/>
            <a:ext cx="3441192" cy="1481328"/>
          </a:xfrm>
          <a:prstGeom prst="roundRect">
            <a:avLst>
              <a:gd name="adj" fmla="val 4938"/>
            </a:avLst>
          </a:prstGeom>
          <a:solidFill>
            <a:srgbClr val="1B3348"/>
          </a:solidFill>
          <a:ln w="12700">
            <a:solidFill>
              <a:srgbClr val="1B3348"/>
            </a:solidFill>
            <a:prstDash val="solid"/>
          </a:ln>
        </p:spPr>
      </p:sp>
      <p:sp>
        <p:nvSpPr>
          <p:cNvPr id="12" name="Text 10"/>
          <p:cNvSpPr/>
          <p:nvPr/>
        </p:nvSpPr>
        <p:spPr>
          <a:xfrm>
            <a:off x="8363712" y="3054096"/>
            <a:ext cx="2892552" cy="512064"/>
          </a:xfrm>
          <a:prstGeom prst="rect">
            <a:avLst/>
          </a:prstGeom>
          <a:noFill/>
          <a:ln/>
        </p:spPr>
        <p:txBody>
          <a:bodyPr wrap="square" lIns="0" tIns="0" rIns="0" bIns="0" rtlCol="0" anchor="t"/>
          <a:lstStyle/>
          <a:p>
            <a:pPr marL="0" indent="0">
              <a:buNone/>
            </a:pPr>
            <a:r>
              <a:rPr lang="en-US" sz="1500" b="1" dirty="0">
                <a:solidFill>
                  <a:srgbClr val="F2A65A"/>
                </a:solidFill>
                <a:latin typeface="Calibri" pitchFamily="34" charset="0"/>
                <a:ea typeface="Calibri" pitchFamily="34" charset="-122"/>
                <a:cs typeface="Calibri" pitchFamily="34" charset="-120"/>
              </a:rPr>
              <a:t>Revised during execution</a:t>
            </a:r>
            <a:endParaRPr lang="en-US" sz="1500" dirty="0"/>
          </a:p>
        </p:txBody>
      </p:sp>
      <p:sp>
        <p:nvSpPr>
          <p:cNvPr id="13" name="Text 11"/>
          <p:cNvSpPr/>
          <p:nvPr/>
        </p:nvSpPr>
        <p:spPr>
          <a:xfrm>
            <a:off x="8363712" y="3566160"/>
            <a:ext cx="2892552" cy="676656"/>
          </a:xfrm>
          <a:prstGeom prst="rect">
            <a:avLst/>
          </a:prstGeom>
          <a:noFill/>
          <a:ln/>
        </p:spPr>
        <p:txBody>
          <a:bodyPr wrap="square" lIns="0" tIns="0" rIns="0" bIns="0" rtlCol="0" anchor="ctr"/>
          <a:lstStyle/>
          <a:p>
            <a:pPr marL="0" indent="0">
              <a:lnSpc>
                <a:spcPts val="1800"/>
              </a:lnSpc>
              <a:buNone/>
            </a:pPr>
            <a:r>
              <a:rPr lang="en-US" sz="1250" dirty="0">
                <a:solidFill>
                  <a:srgbClr val="CFE0E9"/>
                </a:solidFill>
                <a:latin typeface="Calibri" pitchFamily="34" charset="0"/>
                <a:ea typeface="Calibri" pitchFamily="34" charset="-122"/>
                <a:cs typeface="Calibri" pitchFamily="34" charset="-120"/>
              </a:rPr>
              <a:t>State reconstruction and replanning turn a failed skill into a recoverable step.</a:t>
            </a:r>
            <a:endParaRPr lang="en-US" sz="1250" dirty="0"/>
          </a:p>
        </p:txBody>
      </p:sp>
      <p:sp>
        <p:nvSpPr>
          <p:cNvPr id="14" name="Text 12"/>
          <p:cNvSpPr/>
          <p:nvPr/>
        </p:nvSpPr>
        <p:spPr>
          <a:xfrm>
            <a:off x="658368" y="4700016"/>
            <a:ext cx="1097280" cy="310896"/>
          </a:xfrm>
          <a:prstGeom prst="rect">
            <a:avLst/>
          </a:prstGeom>
          <a:noFill/>
          <a:ln/>
        </p:spPr>
        <p:txBody>
          <a:bodyPr wrap="square" lIns="0" tIns="0" rIns="0" bIns="0" rtlCol="0" anchor="ctr"/>
          <a:lstStyle/>
          <a:p>
            <a:pPr marL="0" indent="0">
              <a:buNone/>
            </a:pPr>
            <a:r>
              <a:rPr lang="en-US" sz="1300" b="1" dirty="0">
                <a:solidFill>
                  <a:srgbClr val="F2A65A"/>
                </a:solidFill>
                <a:latin typeface="Calibri" pitchFamily="34" charset="0"/>
                <a:ea typeface="Calibri" pitchFamily="34" charset="-122"/>
                <a:cs typeface="Calibri" pitchFamily="34" charset="-120"/>
              </a:rPr>
              <a:t>Next  →</a:t>
            </a:r>
            <a:endParaRPr lang="en-US" sz="1300" dirty="0"/>
          </a:p>
        </p:txBody>
      </p:sp>
      <p:sp>
        <p:nvSpPr>
          <p:cNvPr id="15" name="Text 13"/>
          <p:cNvSpPr/>
          <p:nvPr/>
        </p:nvSpPr>
        <p:spPr>
          <a:xfrm>
            <a:off x="1709928" y="4700016"/>
            <a:ext cx="9820656" cy="548640"/>
          </a:xfrm>
          <a:prstGeom prst="rect">
            <a:avLst/>
          </a:prstGeom>
          <a:noFill/>
          <a:ln/>
        </p:spPr>
        <p:txBody>
          <a:bodyPr wrap="square" lIns="0" tIns="0" rIns="0" bIns="0" rtlCol="0" anchor="ctr"/>
          <a:lstStyle/>
          <a:p>
            <a:pPr marL="0" indent="0">
              <a:lnSpc>
                <a:spcPts val="2000"/>
              </a:lnSpc>
              <a:buNone/>
            </a:pPr>
            <a:r>
              <a:rPr lang="en-US" sz="1350" dirty="0">
                <a:solidFill>
                  <a:srgbClr val="FFFFFF"/>
                </a:solidFill>
                <a:latin typeface="Calibri" pitchFamily="34" charset="0"/>
                <a:ea typeface="Calibri" pitchFamily="34" charset="-122"/>
                <a:cs typeface="Calibri" pitchFamily="34" charset="-120"/>
              </a:rPr>
              <a:t>Richer interaction settings and more diverse household manipulation tasks · a systematic comparison between VLM-based grounding and the symbolic ontology grounding used here.</a:t>
            </a:r>
            <a:endParaRPr lang="en-US" sz="1350" dirty="0"/>
          </a:p>
        </p:txBody>
      </p:sp>
      <p:sp>
        <p:nvSpPr>
          <p:cNvPr id="16" name="Text 14"/>
          <p:cNvSpPr/>
          <p:nvPr/>
        </p:nvSpPr>
        <p:spPr>
          <a:xfrm>
            <a:off x="10433304" y="6382512"/>
            <a:ext cx="1097280" cy="274320"/>
          </a:xfrm>
          <a:prstGeom prst="rect">
            <a:avLst/>
          </a:prstGeom>
          <a:noFill/>
          <a:ln/>
        </p:spPr>
        <p:txBody>
          <a:bodyPr wrap="square" lIns="0" tIns="0" rIns="0" bIns="0" rtlCol="0" anchor="ctr"/>
          <a:lstStyle/>
          <a:p>
            <a:pPr marL="0" indent="0" algn="r">
              <a:buNone/>
            </a:pPr>
            <a:r>
              <a:rPr lang="en-US" sz="950" dirty="0">
                <a:solidFill>
                  <a:srgbClr val="6E8296"/>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C2B"/>
        </a:solidFill>
        <a:effectLst/>
      </p:bgPr>
    </p:bg>
    <p:spTree>
      <p:nvGrpSpPr>
        <p:cNvPr id="1" name=""/>
        <p:cNvGrpSpPr/>
        <p:nvPr/>
      </p:nvGrpSpPr>
      <p:grpSpPr>
        <a:xfrm>
          <a:off x="0" y="0"/>
          <a:ext cx="0" cy="0"/>
          <a:chOff x="0" y="0"/>
          <a:chExt cx="0" cy="0"/>
        </a:xfrm>
      </p:grpSpPr>
      <p:sp>
        <p:nvSpPr>
          <p:cNvPr id="2" name="Shape 0"/>
          <p:cNvSpPr/>
          <p:nvPr/>
        </p:nvSpPr>
        <p:spPr>
          <a:xfrm>
            <a:off x="-1645920" y="3566160"/>
            <a:ext cx="4754880" cy="4754880"/>
          </a:xfrm>
          <a:prstGeom prst="ellipse">
            <a:avLst/>
          </a:prstGeom>
          <a:solidFill>
            <a:srgbClr val="1C7293">
              <a:alpha val="18000"/>
            </a:srgbClr>
          </a:solidFill>
          <a:ln w="12700">
            <a:solidFill>
              <a:srgbClr val="1C7293">
                <a:alpha val="0"/>
              </a:srgbClr>
            </a:solidFill>
            <a:prstDash val="solid"/>
          </a:ln>
        </p:spPr>
      </p:sp>
      <p:sp>
        <p:nvSpPr>
          <p:cNvPr id="3" name="Text 1"/>
          <p:cNvSpPr/>
          <p:nvPr/>
        </p:nvSpPr>
        <p:spPr>
          <a:xfrm>
            <a:off x="658368" y="1828800"/>
            <a:ext cx="7680960"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4" name="Text 2"/>
          <p:cNvSpPr/>
          <p:nvPr/>
        </p:nvSpPr>
        <p:spPr>
          <a:xfrm>
            <a:off x="658368" y="2761488"/>
            <a:ext cx="7680960" cy="365760"/>
          </a:xfrm>
          <a:prstGeom prst="rect">
            <a:avLst/>
          </a:prstGeom>
          <a:noFill/>
          <a:ln/>
        </p:spPr>
        <p:txBody>
          <a:bodyPr wrap="square" lIns="0" tIns="0" rIns="0" bIns="0" rtlCol="0" anchor="ctr"/>
          <a:lstStyle/>
          <a:p>
            <a:pPr marL="0" indent="0">
              <a:buNone/>
            </a:pPr>
            <a:r>
              <a:rPr lang="en-US" sz="1700" i="1" dirty="0">
                <a:solidFill>
                  <a:srgbClr val="F2A65A"/>
                </a:solidFill>
                <a:latin typeface="Calibri" pitchFamily="34" charset="0"/>
                <a:ea typeface="Calibri" pitchFamily="34" charset="-122"/>
                <a:cs typeface="Calibri" pitchFamily="34" charset="-120"/>
              </a:rPr>
              <a:t>Questions are welcome.</a:t>
            </a:r>
            <a:endParaRPr lang="en-US" sz="1700" dirty="0"/>
          </a:p>
        </p:txBody>
      </p:sp>
      <p:sp>
        <p:nvSpPr>
          <p:cNvPr id="5" name="Text 3"/>
          <p:cNvSpPr/>
          <p:nvPr/>
        </p:nvSpPr>
        <p:spPr>
          <a:xfrm>
            <a:off x="658368" y="3401568"/>
            <a:ext cx="8412480" cy="822960"/>
          </a:xfrm>
          <a:prstGeom prst="rect">
            <a:avLst/>
          </a:prstGeom>
          <a:noFill/>
          <a:ln/>
        </p:spPr>
        <p:txBody>
          <a:bodyPr wrap="square" lIns="0" tIns="0" rIns="0" bIns="0" rtlCol="0" anchor="ctr"/>
          <a:lstStyle/>
          <a:p>
            <a:pPr marL="0" indent="0">
              <a:lnSpc>
                <a:spcPts val="2100"/>
              </a:lnSpc>
              <a:buNone/>
            </a:pPr>
            <a:r>
              <a:rPr lang="en-US" sz="1350" dirty="0">
                <a:solidFill>
                  <a:srgbClr val="9FB3C2"/>
                </a:solidFill>
                <a:latin typeface="Calibri" pitchFamily="34" charset="0"/>
                <a:ea typeface="Calibri" pitchFamily="34" charset="-122"/>
                <a:cs typeface="Calibri" pitchFamily="34" charset="-120"/>
              </a:rPr>
              <a:t>Ontology-Grounded LLM Planning for Robust Table-Clearing Robot Manipulation</a:t>
            </a:r>
            <a:endParaRPr lang="en-US" sz="1350" dirty="0"/>
          </a:p>
          <a:p>
            <a:pPr marL="0" indent="0">
              <a:lnSpc>
                <a:spcPts val="2100"/>
              </a:lnSpc>
              <a:buNone/>
            </a:pPr>
            <a:r>
              <a:rPr lang="en-US" sz="1350" dirty="0">
                <a:solidFill>
                  <a:srgbClr val="9FB3C2"/>
                </a:solidFill>
                <a:latin typeface="Calibri" pitchFamily="34" charset="0"/>
                <a:ea typeface="Calibri" pitchFamily="34" charset="-122"/>
                <a:cs typeface="Calibri" pitchFamily="34" charset="-120"/>
              </a:rPr>
              <a:t>Satuk Buğrahan ÖZTÜRK · Ahmet COŞKUNÇAY · Erhan ÖZTOP · Barış ÖZYER</a:t>
            </a:r>
            <a:endParaRPr lang="en-US" sz="1350" dirty="0"/>
          </a:p>
        </p:txBody>
      </p:sp>
      <p:sp>
        <p:nvSpPr>
          <p:cNvPr id="6" name="Shape 4"/>
          <p:cNvSpPr/>
          <p:nvPr/>
        </p:nvSpPr>
        <p:spPr>
          <a:xfrm>
            <a:off x="658368" y="4443984"/>
            <a:ext cx="10872216" cy="786384"/>
          </a:xfrm>
          <a:prstGeom prst="roundRect">
            <a:avLst>
              <a:gd name="adj" fmla="val 9302"/>
            </a:avLst>
          </a:prstGeom>
          <a:solidFill>
            <a:srgbClr val="1B3348"/>
          </a:solidFill>
          <a:ln w="12700">
            <a:solidFill>
              <a:srgbClr val="1B3348"/>
            </a:solidFill>
            <a:prstDash val="solid"/>
          </a:ln>
        </p:spPr>
      </p:sp>
      <p:sp>
        <p:nvSpPr>
          <p:cNvPr id="7" name="Text 5"/>
          <p:cNvSpPr/>
          <p:nvPr/>
        </p:nvSpPr>
        <p:spPr>
          <a:xfrm>
            <a:off x="969264" y="4553712"/>
            <a:ext cx="10250424" cy="566928"/>
          </a:xfrm>
          <a:prstGeom prst="rect">
            <a:avLst/>
          </a:prstGeom>
          <a:noFill/>
          <a:ln/>
        </p:spPr>
        <p:txBody>
          <a:bodyPr wrap="square" lIns="0" tIns="0" rIns="0" bIns="0" rtlCol="0" anchor="ctr"/>
          <a:lstStyle/>
          <a:p>
            <a:pPr marL="0" indent="0">
              <a:buNone/>
            </a:pPr>
            <a:r>
              <a:rPr lang="en-US" sz="1250" dirty="0">
                <a:solidFill>
                  <a:srgbClr val="CFE0E9"/>
                </a:solidFill>
                <a:latin typeface="Calibri" pitchFamily="34" charset="0"/>
                <a:ea typeface="Calibri" pitchFamily="34" charset="-122"/>
                <a:cs typeface="Calibri" pitchFamily="34" charset="-120"/>
              </a:rPr>
              <a:t>Supported by the Atatürk University Scientific Research Projects Coordination Unit (BAP), reference number FDK-2024-14650.</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1439</TotalTime>
  <Words>4498</Words>
  <Application>Microsoft Macintosh PowerPoint</Application>
  <PresentationFormat>Widescreen</PresentationFormat>
  <Paragraphs>322</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Ontology-Grounded LLM Planning for Robust Table-Clearing Robot Manipulation</dc:title>
  <dc:subject>PptxGenJS Presentation</dc:subject>
  <dc:creator>Satuk Bugrahan OZTURK et al.</dc:creator>
  <cp:lastModifiedBy>Satuk Buğrahan ÖZTÜRK</cp:lastModifiedBy>
  <cp:revision>2</cp:revision>
  <dcterms:created xsi:type="dcterms:W3CDTF">2026-08-07T13:29:57Z</dcterms:created>
  <dcterms:modified xsi:type="dcterms:W3CDTF">2026-08-20T12:06:01Z</dcterms:modified>
</cp:coreProperties>
</file>